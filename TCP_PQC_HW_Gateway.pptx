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12188952" cy="54864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97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B4D8"/>
                </a:solidFill>
              </a:rPr>
              <a:t>기존 소프트웨어 무수정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TCP 통신 구간 하드웨어 PQC 적용 방안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6D6A0"/>
                </a:solidFill>
              </a:rPr>
              <a:t>Xiphera xQlave FPGA 기반  |  1 : N (N ≈ 100) 환경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3566160"/>
            <a:ext cx="7616952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DDEE"/>
                </a:solidFill>
              </a:rPr>
              <a:t>양자내성암호(PQC) 적용 아키텍처 및 구현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612648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2026. 07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배경 및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Why PQC on Hardware?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394960" cy="274320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📌 문제 인식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38528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양자 컴퓨터의 실용화로 RSA/ECC 기반 암호체계 붕괴 위협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67712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      • Shor 알고리즘: 2048-bit RSA를 다항 시간에 해독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96896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      • NIST PQC 표준화 완료 (ML-KEM, ML-DSA, SLH-DSA, 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926079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기존 TCP 통신 장비·소프트웨어 교체 없이 보안 강화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255263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      • 임베디드/산업용 장치: 펌웨어 업데이트 제약 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584447"/>
            <a:ext cx="5257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DEE"/>
                </a:solidFill>
              </a:rPr>
              <a:t>      • 운영 중단 없이 점진적 보안 업그레이드 요구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17320"/>
            <a:ext cx="5943600" cy="274320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554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🎯 프로젝트 목표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1938528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기존 PC ↔ 디바이스 소프트웨어/코드 무수정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267712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TCP 통신 구간에 투명하게 PQC 암호화 삽입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596896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FPGA 하드웨어 가속으로 성능 저하 최소화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926079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1 PC : 최대 100대 디바이스 동시 운용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255263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Xiphera xQlave IP 코어 활용으로 검증된 PQC 구현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343400"/>
            <a:ext cx="1143000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434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핵심 원칙: 기존 시스템은 일체 손대지 않고, 통신 경로 중간에 PQC 하드웨어 게이트웨이를 삽입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핵심 개념: 투명 PQC 게이트웨이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Transparent In-line PQC Hardware Gateway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1828800" cy="11887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🖥️ PC
(기존 SW
무수정)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TCP 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1031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</a:rPr>
              <a:t>────────►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1417320"/>
            <a:ext cx="2103120" cy="1463040"/>
          </a:xfrm>
          <a:prstGeom prst="rect">
            <a:avLst/>
          </a:prstGeom>
          <a:solidFill>
            <a:srgbClr val="08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80" y="1417320"/>
            <a:ext cx="2103120" cy="1463040"/>
          </a:xfrm>
          <a:prstGeom prst="rect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1417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PQC Gateway
(Host Side)
FPGA + xQlave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</a:rPr>
              <a:t>PQC Encrypted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D6A0"/>
                </a:solidFill>
              </a:rPr>
              <a:t>══════════►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554480"/>
            <a:ext cx="1463040" cy="118872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554480"/>
            <a:ext cx="1463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DDEE"/>
                </a:solidFill>
              </a:rPr>
              <a:t>🌐
IP Network
(TCP)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D6A0"/>
                </a:solidFill>
              </a:rPr>
              <a:t>PQC Encrypted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6D6A0"/>
                </a:solidFill>
              </a:rPr>
              <a:t>══════════►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20" y="1417320"/>
            <a:ext cx="2103120" cy="1463040"/>
          </a:xfrm>
          <a:prstGeom prst="rect">
            <a:avLst/>
          </a:prstGeom>
          <a:solidFill>
            <a:srgbClr val="08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646920" y="1417320"/>
            <a:ext cx="2103120" cy="1463040"/>
          </a:xfrm>
          <a:prstGeom prst="rect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6920" y="1417320"/>
            <a:ext cx="2103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PQC Gateway
(Device Side)
FPGA + xQlave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95760" y="1828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</a:rPr>
              <a:t>TCP Plain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20" y="3246120"/>
            <a:ext cx="2103120" cy="68580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32461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Device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290779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46920" y="4114800"/>
            <a:ext cx="2103120" cy="68580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411480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Device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377647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46920" y="4983479"/>
            <a:ext cx="2103120" cy="68580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6920" y="4983479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Device 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464515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</a:rPr>
              <a:t>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55778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DDEE"/>
                </a:solidFill>
              </a:rPr>
              <a:t>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703320"/>
            <a:ext cx="8961120" cy="201168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384048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동작 원리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4224528"/>
            <a:ext cx="8823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PC와 디바이스는 기존과 동일한 일반 TCP 소켓 사용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553712"/>
            <a:ext cx="8823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게이트웨이가 패킷을 가로채어 PQC 암호화/복호화 수행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4882896"/>
            <a:ext cx="8823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ML-KEM (Kyber) 키 캡슐화 + AES-256-GCM 데이터 암호화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" y="5212080"/>
            <a:ext cx="8823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게이트웨이 쌍(Host/Device)이 독립적으로 세션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Xiphera xQlave™ FPGA IP 코어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www.xiphera.com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577840" cy="228600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🏢 Xiphera 社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38528"/>
            <a:ext cx="5440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NIST 표준 PQC 알고리즘 하드웨어 IP 코어 전문 벤더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67712"/>
            <a:ext cx="5440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FIPS 203 (ML-KEM/Kyber), FIPS 204 (ML-DSA/Dilithium) 지원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96896"/>
            <a:ext cx="5440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Xilinx/AMD · Intel/Altera FPGA 플랫폼 호환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926079"/>
            <a:ext cx="5440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DO-254 / IEC 62443 등 산업 인증 기반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417320"/>
            <a:ext cx="5943600" cy="228600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5544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⚙️ xQlave IP 핵심 스펙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938528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xQlave-KEM: ML-KEM-768/1024 키 캡슐화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267712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xQlave-DSA: ML-DSA-65/87 디지털 서명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596896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xQlave-HASH: SHA-3 / SHAKE 해시 패밀리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926079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AXI4-Stream 인터페이스 – SoC 연동 용이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255263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타이밍 공격 / 전력 분석(SCA) 대응 내장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584447"/>
            <a:ext cx="5806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레이턴시: ML-KEM-768 Encap &lt; 10 μs (100 MHz)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40480"/>
            <a:ext cx="11612880" cy="1828800"/>
          </a:xfrm>
          <a:prstGeom prst="rect">
            <a:avLst/>
          </a:prstGeom>
          <a:solidFill>
            <a:srgbClr val="0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9776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📊 경쟁 우위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361688"/>
            <a:ext cx="11475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소프트웨어 PQC (OpenSSL/liboqs) 대비 10~50× 처리량 향상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690872"/>
            <a:ext cx="11475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단일 FPGA에서 다중 PQC 채널 병렬 처리 가능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5020056"/>
            <a:ext cx="11475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전력 소모: 소프트웨어 대비 1/5 수준 (임베디드 적합)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5349240"/>
            <a:ext cx="11475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◆  라이선스: IP 코어 + RTL 소스 공급 (NRE 방식)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1:N 시스템 아키텍처 (N ≈ 100)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Host Gateway ↔ Device Gateways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3657600" cy="5120640"/>
          </a:xfrm>
          <a:prstGeom prst="rect">
            <a:avLst/>
          </a:prstGeom>
          <a:solidFill>
            <a:srgbClr val="06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3657600" cy="5120640"/>
          </a:xfrm>
          <a:prstGeom prst="rect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4630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B4D8"/>
                </a:solidFill>
              </a:rPr>
              <a:t>HOST GATEWAY (FPGA)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011680"/>
            <a:ext cx="3291840" cy="5943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01168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TCP Proxy / Intercept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788920"/>
            <a:ext cx="3291840" cy="594360"/>
          </a:xfrm>
          <a:prstGeom prst="rect">
            <a:avLst/>
          </a:prstGeom>
          <a:solidFill>
            <a:srgbClr val="08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78892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ML-KEM Key Manager
(Session Pool × 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566160"/>
            <a:ext cx="3291840" cy="594360"/>
          </a:xfrm>
          <a:prstGeom prst="rect">
            <a:avLst/>
          </a:prstGeom>
          <a:solidFill>
            <a:srgbClr val="08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5661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xQlave KEM IP Core
(Hardware Accelerator)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343400"/>
            <a:ext cx="3291840" cy="594360"/>
          </a:xfrm>
          <a:prstGeom prst="rect">
            <a:avLst/>
          </a:prstGeom>
          <a:solidFill>
            <a:srgbClr val="08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34340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D6A0"/>
                </a:solidFill>
              </a:rPr>
              <a:t>AES-256-GCM Engine
(Bulk Encryption)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120640"/>
            <a:ext cx="3291840" cy="5943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1206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GbE PHY  |  PCIe / USB (PC 연결)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4688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6D6A0"/>
                </a:solidFill>
              </a:rPr>
              <a:t>Encrypted
TCP Sessions
(×N)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291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6D6A0"/>
                </a:solidFill>
              </a:rPr>
              <a:t>══►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926080"/>
            <a:ext cx="1371600" cy="1188720"/>
          </a:xfrm>
          <a:prstGeom prst="rect">
            <a:avLst/>
          </a:prstGeom>
          <a:solidFill>
            <a:srgbClr val="22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2926080"/>
            <a:ext cx="1371600" cy="1188720"/>
          </a:xfrm>
          <a:prstGeom prst="rect">
            <a:avLst/>
          </a:prstGeom>
          <a:noFill/>
          <a:ln w="12700">
            <a:solidFill>
              <a:srgbClr val="CC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92608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DDEE"/>
                </a:solidFill>
              </a:rPr>
              <a:t>🌐
IP 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291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6D6A0"/>
                </a:solidFill>
              </a:rPr>
              <a:t>══►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1417320"/>
            <a:ext cx="2560320" cy="1188720"/>
          </a:xfrm>
          <a:prstGeom prst="rect">
            <a:avLst/>
          </a:prstGeom>
          <a:solidFill>
            <a:srgbClr val="06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600" y="1417320"/>
            <a:ext cx="2560320" cy="1188720"/>
          </a:xfrm>
          <a:prstGeom prst="rect">
            <a:avLst/>
          </a:prstGeom>
          <a:noFill/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86600" y="1417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Device GW #1
(FPGA)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1874519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xQlave + AES-GCM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17373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► Device #1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1417320"/>
            <a:ext cx="2194560" cy="11887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141732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📟 Device #1
(기존 무수정)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2834640"/>
            <a:ext cx="2560320" cy="1188720"/>
          </a:xfrm>
          <a:prstGeom prst="rect">
            <a:avLst/>
          </a:prstGeom>
          <a:solidFill>
            <a:srgbClr val="06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86600" y="2834640"/>
            <a:ext cx="2560320" cy="1188720"/>
          </a:xfrm>
          <a:prstGeom prst="rect">
            <a:avLst/>
          </a:prstGeom>
          <a:noFill/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8660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Device GW #2
(FPGA)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xQlave + AES-GCM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1546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► Device #2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2834640"/>
            <a:ext cx="2194560" cy="11887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2640" y="283464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📟 Device #2
(기존 무수정)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6600" y="5029200"/>
            <a:ext cx="2560320" cy="1188720"/>
          </a:xfrm>
          <a:prstGeom prst="rect">
            <a:avLst/>
          </a:prstGeom>
          <a:solidFill>
            <a:srgbClr val="06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86600" y="5029200"/>
            <a:ext cx="2560320" cy="1188720"/>
          </a:xfrm>
          <a:prstGeom prst="rect">
            <a:avLst/>
          </a:prstGeom>
          <a:noFill/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6600" y="5029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Device GW #N
(FPGA)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86600" y="5486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6D6A0"/>
                </a:solidFill>
              </a:rPr>
              <a:t>xQlave + AES-GCM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5349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► Device #N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92640" y="5029200"/>
            <a:ext cx="2194560" cy="11887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0" y="5029200"/>
            <a:ext cx="2194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📟 Device #N
(기존 무수정)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4160520"/>
            <a:ext cx="1005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</a:rPr>
              <a:t>⋮
(×100)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98480" y="41605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EE"/>
                </a:solidFill>
              </a:rPr>
              <a:t>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Host Gateway – 하드웨어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PC 연결 측 FPGA 게이트웨이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669280" cy="47548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🔧 Host GW 하드웨어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38528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AMD/Xilinx Alveo U250 또는 동급 PCIe FPGA 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6771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PCIe Gen3 ×16 인터페이스로 PC 직결 (드라이버 무수정 가능)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96896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4× QSFP28 100GbE → 여러 디바이스 동시 연결 지원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926079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FPGA 내부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255263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xQlave KEM IP × 4 슬라이스 (병렬 핸드셰이크)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584447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AES-256-GCM 엔진 × N 채널 (100개 세션 동시 처리)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913631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세션 테이블 BRAM: 세션 ID · 세션 키 · 시퀀스 번호 저장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242816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Soft CPU (MicroBlaze/RISC-V) – 키 관리·로깅 보조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852160" cy="47548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554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🔄 동작 흐름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1938528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PC ↔ GW: 루프백 TCP (127.0.0.1) 또는 PCIe DMA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2267712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PC 소프트웨어는 기존 IP:Port 그대로 사용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2596896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GW가 해당 포트 바인딩 → 패킷 투명 중계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2926079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GW 내부 처리 파이프라인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255263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① 패킷 수신 → TCP 세션 식별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3584447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② KEM 핸드셰이크 시 xQlave Encap 호출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3913631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③ 데이터 패킷: AES-GCM 암호화 → 전송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4242816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④ 수신 방향: 복호화 → PC 소켓에 평문 전달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457200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지연 시간 목표: 추가 레이턴시 &lt; 100 μs/패킷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Device Gateway – 하드웨어 설계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디바이스 측 FPGA 게이트웨이 (소형)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669280" cy="43891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🔧 Device GW 하드웨어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38528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소형 FPGA 모듈: Xilinx Artix-7 / Zynq-7000 계열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6771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낮은 전력 소모 (&lt; 5W) – 산업 현장 적합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96896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GbE PHY 1포트: 네트워크 연결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926079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UART / SPI / Ethernet: 디바이스 연결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255263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xQlave IP 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584447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KEM Decap 1 슬라이스 (단일 세션 처리)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913631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AES-256-GCM 복호화/암호화 엔진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242816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총 FPGA 자원: LUT ~15k, FF ~18k (Artix-7 기준)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417320"/>
            <a:ext cx="5852160" cy="43891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79" y="1554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📦 폼 팩터 옵션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1938528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폼 팩터 옵션 A: SFP+ 트랜시버 대체 모듈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2267712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기존 RJ45 포트에 직렬 삽입 (케이블 교체만으로 적용)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2596896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폼 팩터 옵션 B: DIN-rail 산업용 소형 박스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2926079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독립 전원 / IP30 케이스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3255263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폼 팩터 옵션 C: PCB 인라인 어댑터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3584447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디바이스 PCB에 직접 장착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3913631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전원: PoE (옵션 A/B) 또는 5V DC (옵션 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59436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✅ 디바이스 펌웨어·소프트웨어 일체 무수정 – 물리적 케이블/포트만 교체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PQC 핸드셰이크 프로토콜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ML-KEM 기반 세션 키 교환 절차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5760720" cy="10972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5760720" cy="1097280"/>
          </a:xfrm>
          <a:prstGeom prst="rect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① TCP 연결 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87452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Host GW가 PC의 TCP SYN 패킷 감지 → Device GW와 별도 제어 채널 수립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760720" cy="10972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760720" cy="1097280"/>
          </a:xfrm>
          <a:prstGeom prst="rect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50876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② KEM 공개키 전송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87452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Device GW: ML-KEM-768 키 쌍 생성 → 공개키를 Host GW로 전송 (서명 포함)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97480"/>
            <a:ext cx="5760720" cy="10972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697480"/>
            <a:ext cx="5760720" cy="1097280"/>
          </a:xfrm>
          <a:prstGeom prst="rect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7432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③ Encapsulation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310896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Host GW: xQlave Encap(공개키) → Ciphertext + SharedSecret(256-bit)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697480"/>
            <a:ext cx="5760720" cy="10972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2697480"/>
            <a:ext cx="5760720" cy="1097280"/>
          </a:xfrm>
          <a:prstGeom prst="rect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7432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④ Ciphertext 전송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310896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Host GW → Device GW: Ciphertext 전달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931920"/>
            <a:ext cx="5760720" cy="10972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931920"/>
            <a:ext cx="5760720" cy="1097280"/>
          </a:xfrm>
          <a:prstGeom prst="rect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977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⑤ Decapsulation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434340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Device GW: xQlave Decap(개인키, Ciphertext) → 동일 SharedSecret 복원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760720" cy="10972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760720" cy="1097280"/>
          </a:xfrm>
          <a:prstGeom prst="rect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3977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⑥ 세션 키 유도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34340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양측: HKDF-SHA3-256(SharedSecret) → AES-256-GCM 세션 키 + IV 생성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166360"/>
            <a:ext cx="5760720" cy="10972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5166360"/>
            <a:ext cx="5760720" cy="1097280"/>
          </a:xfrm>
          <a:prstGeom prst="rect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" y="52120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⑦ 데이터 암호화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557784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이후 모든 TCP 페이로드: AES-256-GCM 암호화 (각 패킷 고유 nonce)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166360"/>
            <a:ext cx="5760720" cy="10972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5166360"/>
            <a:ext cx="5760720" cy="1097280"/>
          </a:xfrm>
          <a:prstGeom prst="rect">
            <a:avLst/>
          </a:prstGeom>
          <a:noFill/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36792" y="52120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⑧ 세션 갱신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557784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일정 시간/패킷 수 초과 시 자동 재핸드셰이크 (Perfect Forward Secrecy)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4008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전체 핸드셰이크 소요 시간: &lt; 2 ms (FPGA 가속 기준) | 이후 데이터 레이턴시: &lt; 100 μs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1:N 세션 관리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Host Gateway 100개 세션 동시 운용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669280" cy="47548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📋 세션 테이블 관리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38528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세션 테이블 구조 (BRAM 저장)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6771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Session_ID (16-bit) | Device_IP:Port | AES 세션 키 | 순서 번호 | TTL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96896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100개 세션 × 128 bytes = 12.8 KB (BRAM 여유 충분)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926079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신규 세션 수립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255263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TCP SYN 감지 → 세션 ID 할당 → KEM 핸드셰이크 비동기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584447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핸드셰이크 완료 전: 패킷 버퍼링 (최대 4 KB/세션)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913631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세션 만료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242816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TCP FIN/RST 감지 → 세션 테이블 즉시 삭제 + 키 제로화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57200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유휴 타임아웃: 설정 가능 (기본 5분)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1417320"/>
            <a:ext cx="5852160" cy="47548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79" y="1554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⚡ 성능 확장성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59" y="1938528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KEM 병렬 처리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2267712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4× xQlave KEM 슬라이스 → 동시 핸드셰이크 4건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2596896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나머지 세션: 큐 대기 (평균 대기 &lt; 10 ms @ 100 세션)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2926079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AES-GCM 처리량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3255263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단일 AES-GCM 엔진: 10 Gbps @ 100 MHz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3584447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100개 세션 × 1 Gbps = 100 Gbps 이론 최대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3913631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실제 운용 기준: 세션당 최대 1 Gbps 보장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4242816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부하 분산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57200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세션 ID 기반 라운드로빈 AES 엔진 할당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4901184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QoS 큐: 제어/데이터 패킷 우선순위 분리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소프트웨어 무수정 투명성 보장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기존 시스템 완전 호환성 유지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3749039" cy="420624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3749039" cy="4206240"/>
          </a:xfrm>
          <a:prstGeom prst="rect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방법 A
물리 인라인 삽입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33172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◆  네트워크 케이블 중간에 GW 하드웨어 삽입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90087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◆  기존 IP/Port 라우팅 그대로 유지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48456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◆  MAC/IP 주소 투명 프록시(ARP 스푸핑 불필요)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06824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◆  권장: 가장 투명하고 범용적인 방법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463040"/>
            <a:ext cx="3749039" cy="420624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1463040"/>
            <a:ext cx="3749039" cy="4206240"/>
          </a:xfrm>
          <a:prstGeom prst="rect">
            <a:avLst/>
          </a:prstGeom>
          <a:noFill/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15087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D6A0"/>
                </a:solidFill>
              </a:rPr>
              <a:t>방법 B
PCIe NIC 가상화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33172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◆  Host GW를 PC의 PCIe NIC으로 인식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399" y="2990087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◆  OS에는 일반 이더넷으로 노출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399" y="3648456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◆  드라이버 표준 NDIS/virtio 지원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4306824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◆  PC 내장 → 케이스 불필요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463040"/>
            <a:ext cx="3749039" cy="420624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463040"/>
            <a:ext cx="3749039" cy="4206240"/>
          </a:xfrm>
          <a:prstGeom prst="rect">
            <a:avLst/>
          </a:prstGeom>
          <a:noFill/>
          <a:ln w="25400">
            <a:solidFill>
              <a:srgbClr val="FF8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5087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8733"/>
                </a:solidFill>
              </a:rPr>
              <a:t>방법 C
USB-이더넷 어댑터형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331720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◆  Host GW = USB 3.0 이더넷 어댑터 외형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2990087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◆  OS 드라이버: CDC-ECM 표준 (자동 인식)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3648456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◆  SW 설치 불필요 – Plug &amp; Play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306824"/>
            <a:ext cx="3520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◆  저비용, 단 처리량 USB3 대역 제한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806440"/>
            <a:ext cx="11612880" cy="685800"/>
          </a:xfrm>
          <a:prstGeom prst="rect">
            <a:avLst/>
          </a:prstGeom>
          <a:solidFill>
            <a:srgbClr val="0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85216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</a:rPr>
              <a:t>공통 원칙: Host GW는 기존 TCP 포트를 그대로 Listen하여 패킷을 중계 — PC 응용 프로그램 코드·설정 변경 없음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구현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Phase별 개발 계획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743200" cy="48463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743200" cy="4846320"/>
          </a:xfrm>
          <a:prstGeom prst="rect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74320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9047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Phase 1
(1~2개월)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8600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xQlave IP 라이선스 취득 및 평가 보드 셋업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324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Vivado/Quartus 프로젝트 구성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4048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ML-KEM-768 핸드셰이크 PoC (1:1 검증)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61772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기본 TCP 프록시 펌웨어 구현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18688" y="1463040"/>
            <a:ext cx="2743200" cy="48463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18688" y="1463040"/>
            <a:ext cx="2743200" cy="4846320"/>
          </a:xfrm>
          <a:prstGeom prst="rect">
            <a:avLst/>
          </a:prstGeom>
          <a:noFill/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18688" y="1463040"/>
            <a:ext cx="2743200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4408" y="149047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Phase 2
(3~4개월)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0128" y="228600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1:N (10대) 세션 관리 구현 및 테스트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306324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AES-256-GCM 다중 채널 엔진 통합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84048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Host GW ↔ Device GW 프로토콜 확정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461772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성능 벤치마크 (처리량·레이턴시)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3056" y="1463040"/>
            <a:ext cx="2743200" cy="48463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63056" y="1463040"/>
            <a:ext cx="2743200" cy="4846320"/>
          </a:xfrm>
          <a:prstGeom prst="rect">
            <a:avLst/>
          </a:prstGeom>
          <a:noFill/>
          <a:ln w="25400">
            <a:solidFill>
              <a:srgbClr val="FF8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6" y="1463040"/>
            <a:ext cx="2743200" cy="685800"/>
          </a:xfrm>
          <a:prstGeom prst="rect">
            <a:avLst/>
          </a:prstGeom>
          <a:solidFill>
            <a:srgbClr val="FF8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08776" y="149047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Phase 3
(5~6개월)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28600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N=100 스케일 검증 및 스트레스 테스트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6" y="306324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소형 Device GW PCB 설계 (Artix-7)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384048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기존 실제 시스템 통합 테스트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4496" y="461772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보안 검토 및 인증 준비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07424" y="1463040"/>
            <a:ext cx="2743200" cy="48463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07424" y="1463040"/>
            <a:ext cx="2743200" cy="4846320"/>
          </a:xfrm>
          <a:prstGeom prst="rect">
            <a:avLst/>
          </a:prstGeom>
          <a:noFill/>
          <a:ln w="25400">
            <a:solidFill>
              <a:srgbClr val="E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07424" y="1463040"/>
            <a:ext cx="2743200" cy="685800"/>
          </a:xfrm>
          <a:prstGeom prst="rect">
            <a:avLst/>
          </a:prstGeom>
          <a:solidFill>
            <a:srgbClr val="EE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53144" y="1490472"/>
            <a:ext cx="2651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Phase 4
(7~8개월)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8864" y="228600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양산 PCB 설계 완료 / 제조 발주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98864" y="306324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현장 파일럿 배포 (N=20 → 50 → 100)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98864" y="384048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운용 매뉴얼 및 모니터링 도구 완성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98864" y="4617720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공식 운용 전환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446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D6A0"/>
                </a:solidFill>
              </a:rPr>
              <a:t>총 기간: 약 8개월  |  병렬 진행 가능 항목 다수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예상 비용 및 핵심 BOM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개략 견적 (참고용)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669280" cy="48463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💰 비용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38528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Xiphera xQlave IP 라이선스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6771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KEM + DSA + HASH 번들: 문의 필요 (통상 $20k~$80k NRE)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96896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RTL 소스 포함 시 별도 협의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926079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Host Gateway FPGA (AMD Alveo U250급)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255263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약 $3,000~$5,000 / 대 (수량 할인 가능)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584447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Device Gateway FPGA 모듈 (Artix-7 기반)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913631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BOM 부품: FPGA $30~$60 + PHY $5 + 기타 $10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242816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PCB 설계 + 제조 + 조립: 약 $50~$100 / 대 (100대 기준)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57200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개발 공수 (8개월)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01184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FPGA 엔지니어 2명 + 펌웨어 1명 + 테스트 1명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417320"/>
            <a:ext cx="5852160" cy="48463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1554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📦 핵심 부품 목록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1938528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Host Gateway (1대)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2267712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AMD/Xilinx Alveo U250 FPGA 보드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2596896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xQlave IP 코어 (KEM/DSA/HASH)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2926079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QSFP28 트랜시버 ×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3255263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냉각 솔루션 (히트싱크/팬)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3584447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Device Gateway (×100대)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3913631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Artix-7 FPGA 칩 (XC7A100T 등)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4242816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GbE PHY 칩 (Marvell 88E1111 등)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457200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인터페이스 커넥터 (RJ45 ×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4901184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32MB Flash (펌웨어 저장)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5230368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소형 PCB (50×80mm 예상)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보안 고려사항 및 위협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Security Considerations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669280" cy="48463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🛡️ 위협 및 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38528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통신 구간 도청 (Man-in-the-Middle)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67712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ML-KEM 키 교환: 양자 컴퓨터로도 해독 불가 (NIST 표준)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596896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AES-256-GCM: 무결성 + 기밀성 동시 보장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926079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재전송 공격 (Replay Attack)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255263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각 패킷에 단조 증가 시퀀스 번호 + GCM 인증 태그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584447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게이트웨이 물리적 탈취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913631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FPGA Bitstream 암호화 (AES-256 device key)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242816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세션 키: BRAM 비휘발성 저장 금지, 전원 차단 시 자동 소거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572000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키 관리 위험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901184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PFS(Perfect Forward Secrecy): 세션마다 신규 KEM 수행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5230368"/>
            <a:ext cx="5532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정기 재핸드셰이크 (1시간 또는 1GB 데이터마다)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417320"/>
            <a:ext cx="5852160" cy="48463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79" y="15544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✅ 보안 표준 준수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59" y="1938528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NIST FIPS 203 (ML-KEM) 준수 구현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59" y="2267712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xQlave IP: CAVP 테스트 벡터 통과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59" y="2596896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부채널 공격(SCA) 방어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59" y="2926079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xQlave: 타이밍 불변(constant-time) 설계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59" y="3255263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전력 분석 대응 마스킹 옵션 제공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59" y="3584447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펌웨어 보안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59" y="3913631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FPGA 비트스트림 서명 검증 (안전한 부팅)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4242816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원격 업데이트: TLS 1.3 + ML-DSA 서명 필수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59" y="4572000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◆  물리 보안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59" y="4901184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Anti-tamper 감지 핀 → 트리거 시 키 자동 소거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59" y="5230368"/>
            <a:ext cx="5715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      • 케이스 개봉 감지 스위치 옵션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기대 효과 및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Summary &amp; Benefits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63040"/>
            <a:ext cx="2743200" cy="29260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743200" cy="2926080"/>
          </a:xfrm>
          <a:prstGeom prst="rect">
            <a:avLst/>
          </a:prstGeom>
          <a:noFill/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508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🔒 양자내성 보안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9456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ML-KEM 기반 PQC 적용으로
미래 양자 컴퓨터 위협
완전 대응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1463040"/>
            <a:ext cx="2743200" cy="29260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18688" y="1463040"/>
            <a:ext cx="2743200" cy="2926080"/>
          </a:xfrm>
          <a:prstGeom prst="rect">
            <a:avLst/>
          </a:prstGeom>
          <a:noFill/>
          <a:ln w="2540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508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D6A0"/>
                </a:solidFill>
              </a:rPr>
              <a:t>⚡ 고성능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19456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FPGA 하드웨어 가속:
레이턴시 &lt; 100 μs
처리량 10 Gbps+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463040"/>
            <a:ext cx="2743200" cy="29260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463040"/>
            <a:ext cx="2743200" cy="2926080"/>
          </a:xfrm>
          <a:prstGeom prst="rect">
            <a:avLst/>
          </a:prstGeom>
          <a:noFill/>
          <a:ln w="25400">
            <a:solidFill>
              <a:srgbClr val="FF87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1508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8733"/>
                </a:solidFill>
              </a:rPr>
              <a:t>🔧 무수정 호환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19456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기존 PC/디바이스
SW·FW·코드 일체
수정 불필요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07424" y="1463040"/>
            <a:ext cx="2743200" cy="292608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07424" y="1463040"/>
            <a:ext cx="2743200" cy="2926080"/>
          </a:xfrm>
          <a:prstGeom prst="rect">
            <a:avLst/>
          </a:prstGeom>
          <a:noFill/>
          <a:ln w="25400">
            <a:solidFill>
              <a:srgbClr val="EE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53144" y="150876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E66FF"/>
                </a:solidFill>
              </a:rPr>
              <a:t>📈 확장성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219456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1:100 동시 운용
추가 GW 증설로
무한 확장 가능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572000"/>
            <a:ext cx="11612880" cy="1920240"/>
          </a:xfrm>
          <a:prstGeom prst="rect">
            <a:avLst/>
          </a:prstGeom>
          <a:solidFill>
            <a:srgbClr val="06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572000"/>
            <a:ext cx="11612880" cy="1920240"/>
          </a:xfrm>
          <a:prstGeom prst="rect">
            <a:avLst/>
          </a:prstGeom>
          <a:noFill/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6177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📋 결론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74920"/>
            <a:ext cx="11338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Xiphera xQlave FPGA IP를 활용한 투명 PQC 게이트웨이는 기존 TCP 통신 시스템을 일체 수정하지 않고도 NIST 표준 양자내성암호를 적용할 수 있는 가장 현실적인 방법입니다. Host 측 고성능 FPGA와 Device 측 소형 FPGA 조합으로 1:100 환경을 효율적으로 지원하며, 하드웨어 가속을 통해 성능 저하 없이 엔터프라이즈급 보안을 제공합니다.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474720"/>
            <a:ext cx="5120640" cy="25603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📚 참고 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NIST FIPS 203 (ML-KEM) – 2024.08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Xiphera xQlave 제품 페이지: xiphera.com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CRYSTALS-Kyber 논문 (Bos et al., 2018)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303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AMD/Xilinx Alveo U250 데이터시트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715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liboqs – Open Quantum Safe 프로젝트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3474720"/>
            <a:ext cx="5120640" cy="2560320"/>
          </a:xfrm>
          <a:prstGeom prst="rect">
            <a:avLst/>
          </a:prstGeom>
          <a:solidFill>
            <a:srgbClr val="1B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3520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</a:rPr>
              <a:t>📞 다음 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069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▶ Xiphera 영업 문의 및 IP 데모 요청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4805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▶ FPGA 평가 보드 선정 및 발주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892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▶ PoC 환경 구성 (1:1 프로토타입)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5303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▶ 내부 보안 요구사항 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715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▶ Phase 1 킥오프 일정 협의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