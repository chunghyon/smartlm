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4" r:id="rId5"/>
    <p:sldId id="272" r:id="rId6"/>
    <p:sldId id="275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0" y="3063240"/>
            <a:ext cx="7616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6126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2026. 07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AE8D1-D06A-5972-CD1B-3504E3F2CC1E}"/>
              </a:ext>
            </a:extLst>
          </p:cNvPr>
          <p:cNvSpPr txBox="1"/>
          <p:nvPr/>
        </p:nvSpPr>
        <p:spPr>
          <a:xfrm>
            <a:off x="2286000" y="2595352"/>
            <a:ext cx="78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무선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Wifi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BT)</a:t>
            </a:r>
            <a:r>
              <a:rPr lang="ko-KR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환경에서 </a:t>
            </a:r>
            <a:r>
              <a:rPr lang="ko-KR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PQC를</a:t>
            </a:r>
            <a:r>
              <a:rPr lang="ko-KR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적용하는 방식과 그 한계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72705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400" b="1" i="0" dirty="0">
                <a:solidFill>
                  <a:srgbClr val="1E3A5F"/>
                </a:solidFill>
              </a:rPr>
              <a:t>1. BLE </a:t>
            </a:r>
            <a:r>
              <a:rPr lang="ko-KR" altLang="en-US" sz="2400" b="1" i="0" dirty="0">
                <a:solidFill>
                  <a:srgbClr val="1E3A5F"/>
                </a:solidFill>
              </a:rPr>
              <a:t>통신에 하드웨어 </a:t>
            </a:r>
            <a:r>
              <a:rPr lang="en-US" altLang="ko-KR" sz="2400" b="1" i="0" dirty="0" err="1">
                <a:solidFill>
                  <a:srgbClr val="1E3A5F"/>
                </a:solidFill>
              </a:rPr>
              <a:t>PQC</a:t>
            </a:r>
            <a:r>
              <a:rPr lang="en-US" altLang="ko-KR" sz="2400" b="1" i="0" dirty="0">
                <a:solidFill>
                  <a:srgbClr val="1E3A5F"/>
                </a:solidFill>
              </a:rPr>
              <a:t> </a:t>
            </a:r>
            <a:r>
              <a:rPr lang="ko-KR" altLang="en-US" sz="2400" b="1" i="0" dirty="0">
                <a:solidFill>
                  <a:srgbClr val="1E3A5F"/>
                </a:solidFill>
              </a:rPr>
              <a:t>적용 방법 </a:t>
            </a:r>
            <a:r>
              <a:rPr lang="en-US" altLang="ko-KR" sz="2400" b="1" i="0" dirty="0">
                <a:solidFill>
                  <a:srgbClr val="1E3A5F"/>
                </a:solidFill>
              </a:rPr>
              <a:t>2</a:t>
            </a:r>
            <a:r>
              <a:rPr lang="ko-KR" altLang="en-US" sz="2400" b="1" i="0" dirty="0">
                <a:solidFill>
                  <a:srgbClr val="1E3A5F"/>
                </a:solidFill>
              </a:rPr>
              <a:t>가지</a:t>
            </a:r>
            <a:endParaRPr sz="2400" b="1" i="0" dirty="0">
              <a:solidFill>
                <a:srgbClr val="1E3A5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055914"/>
            <a:ext cx="5394960" cy="3603172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①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가속기(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Crypto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Accelerator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) 내장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SoC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사용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블루투스 통신 기능(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RF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)과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MCU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기능이 합쳐진 단일 칩(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SoC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 내부에,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NIST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표준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알고리즘(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ML-KEM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ML-DSA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등)을 물리적으로 빠르게 연산해 주는 하드웨어 가속 회로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를 탑재하는 방식.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장점: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소프트웨어 연산 대비 속도가 압도적으로 빠르고, 전력 소모가 극도로 적어 배터리 기반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BLE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기기에 최적.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현황: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현재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NXP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STMicroelectronics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인피니온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Infineon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 등 글로벌 반도체 기업들이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가속기를 내장한 차세대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IoT용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MCU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및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BLE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칩셋을 개발 및 출시하기 시작했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음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0" y="1055914"/>
            <a:ext cx="5943600" cy="3603172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② 외장형 보안 칩(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Secure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Element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) 추가 장착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기존에 사용하던 일반 블루투스 칩셋 옆에, 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 연산 및 키 저장을 전담하는 독립된 보안 칩(</a:t>
            </a:r>
            <a:r>
              <a:rPr lang="ko-KR" altLang="ko-KR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</a:t>
            </a: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을 보드로 연결(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I2C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또는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SPI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통신)하는 방식.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장점: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이미 검증된 기존 블루투스 칩을 그대로 쓸 수 있고, 키 탈취 공격(물리적 복제 방지 기술 등)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에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가장 안전.</a:t>
            </a:r>
          </a:p>
          <a:p>
            <a:pPr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ko-KR" sz="1200" b="1" dirty="0">
                <a:solidFill>
                  <a:schemeClr val="tx1"/>
                </a:solidFill>
                <a:latin typeface="Arial" panose="020B0604020202020204" pitchFamily="34" charset="0"/>
              </a:rPr>
              <a:t>현황: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하드웨어 보안 모듈(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HSM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 및 스마트카드 칩 제조사들이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PQC를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지원하는 외장형 </a:t>
            </a:r>
            <a:r>
              <a:rPr lang="ko-KR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SE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칩셋 라인업을 강화하고 있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음</a:t>
            </a:r>
            <a:r>
              <a:rPr lang="ko-KR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70F7-FEC9-1BE3-C51B-1B5A75D5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96451D-8C2C-E8E4-015B-1627B374C48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E41F2-546D-9EE7-0C26-3F70B1F19377}"/>
              </a:ext>
            </a:extLst>
          </p:cNvPr>
          <p:cNvSpPr/>
          <p:nvPr/>
        </p:nvSpPr>
        <p:spPr>
          <a:xfrm>
            <a:off x="0" y="73152"/>
            <a:ext cx="12188952" cy="72705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62334-B17F-6359-23A2-7872B3A99693}"/>
              </a:ext>
            </a:extLst>
          </p:cNvPr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400" b="1" i="0" dirty="0">
                <a:solidFill>
                  <a:srgbClr val="1E3A5F"/>
                </a:solidFill>
              </a:rPr>
              <a:t>2. BLE</a:t>
            </a:r>
            <a:r>
              <a:rPr lang="ko-KR" altLang="en-US" sz="2400" b="1" i="0" dirty="0">
                <a:solidFill>
                  <a:srgbClr val="1E3A5F"/>
                </a:solidFill>
              </a:rPr>
              <a:t>통신에 하드웨어 </a:t>
            </a:r>
            <a:r>
              <a:rPr lang="en-US" altLang="ko-KR" sz="2400" b="1" i="0" dirty="0" err="1">
                <a:solidFill>
                  <a:srgbClr val="1E3A5F"/>
                </a:solidFill>
              </a:rPr>
              <a:t>PQC</a:t>
            </a:r>
            <a:r>
              <a:rPr lang="en-US" altLang="ko-KR" sz="2400" b="1" i="0" dirty="0">
                <a:solidFill>
                  <a:srgbClr val="1E3A5F"/>
                </a:solidFill>
              </a:rPr>
              <a:t> </a:t>
            </a:r>
            <a:r>
              <a:rPr lang="ko-KR" altLang="en-US" sz="2400" b="1" i="0" dirty="0">
                <a:solidFill>
                  <a:srgbClr val="1E3A5F"/>
                </a:solidFill>
              </a:rPr>
              <a:t>적용의 현실적장인 벽</a:t>
            </a:r>
            <a:endParaRPr sz="2400" b="1" i="0" dirty="0">
              <a:solidFill>
                <a:srgbClr val="1E3A5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3E3B62-0252-A3B2-BBEB-EA87361264E2}"/>
              </a:ext>
            </a:extLst>
          </p:cNvPr>
          <p:cNvSpPr/>
          <p:nvPr/>
        </p:nvSpPr>
        <p:spPr>
          <a:xfrm>
            <a:off x="274319" y="918374"/>
            <a:ext cx="9653451" cy="1598403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블루투스 패킷 크기</a:t>
            </a: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MTU</a:t>
            </a: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와의 미스매치 </a:t>
            </a: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가장 큰 문제</a:t>
            </a:r>
            <a:r>
              <a:rPr lang="en-US" altLang="ko-KR" sz="16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하드웨어가 아무리 빛의 속도로 </a:t>
            </a:r>
            <a:r>
              <a:rPr lang="en-US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암호 키를 만들어내도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 NIST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표준 </a:t>
            </a:r>
            <a:r>
              <a:rPr lang="en-US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예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: ML-KEM-512)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의 공개키 크기는 약 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800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바이트에 달함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b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기존 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BLE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의 기본 패킷 크기는 대개 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23~247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바이트 수준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결국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하드웨어로 처리한 결과물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키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을 상대방에게 보낼 때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블루투스 링크 레이어에서 수많은 패킷으로 쪼개서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(Fragmentation)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보내야 하므로 이 과정에서 병목 현상과 무선 연결 지연이 발생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BE7BF-DBB8-B212-72DF-D95584AEC9DA}"/>
              </a:ext>
            </a:extLst>
          </p:cNvPr>
          <p:cNvSpPr txBox="1"/>
          <p:nvPr/>
        </p:nvSpPr>
        <p:spPr>
          <a:xfrm>
            <a:off x="393064" y="581548"/>
            <a:ext cx="74446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b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물리적으로 가능함에도 불구하고, 현시점에서 "하드웨어 </a:t>
            </a:r>
            <a:r>
              <a:rPr lang="ko-KR" altLang="ko-KR" sz="1050" b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PQC</a:t>
            </a:r>
            <a:r>
              <a:rPr lang="ko-KR" altLang="ko-KR" sz="1050" b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블루투스 </a:t>
            </a:r>
            <a:r>
              <a:rPr lang="ko-KR" altLang="ko-KR" sz="1050" b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기기"를</a:t>
            </a:r>
            <a:r>
              <a:rPr lang="ko-KR" altLang="ko-KR" sz="1050" b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바로 양산하기 어려운 이유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2523A7B-8B31-A6BF-12B3-FD7AC6482DFC}"/>
              </a:ext>
            </a:extLst>
          </p:cNvPr>
          <p:cNvSpPr/>
          <p:nvPr/>
        </p:nvSpPr>
        <p:spPr>
          <a:xfrm>
            <a:off x="274318" y="2742822"/>
            <a:ext cx="9653451" cy="897362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하드웨어 단가 및 부품 크기 증가</a:t>
            </a: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외장형 보안 칩을 추가하면 회로 기판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(PCB)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이 커지고 제조 단가가 상승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소형 웨어러블이나 저가형 센서에는 치명적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2E128A9-BAC4-F078-7508-7C29185C7DD8}"/>
              </a:ext>
            </a:extLst>
          </p:cNvPr>
          <p:cNvSpPr/>
          <p:nvPr/>
        </p:nvSpPr>
        <p:spPr>
          <a:xfrm>
            <a:off x="274317" y="3892954"/>
            <a:ext cx="9653451" cy="1598403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표준화와의 시차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블루투스 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SIG(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표준 협회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"</a:t>
            </a:r>
            <a:r>
              <a:rPr lang="en-US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키는 블루투스 패킷의 어느 위치에 담아서 주고받자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"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라는 프로토콜 표준 규격이 확정되지 않았음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b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따라서 하드웨어 </a:t>
            </a:r>
            <a:r>
              <a:rPr lang="en-US" altLang="ko-KR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PQC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칩을 쓰더라도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데이터를 전송할 때는 결국 규격 외 방식으로 쪼개 보내야 하므로 </a:t>
            </a:r>
            <a:r>
              <a:rPr lang="ko-KR" altLang="en-US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소프트웨어적인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핸들링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드라이버 및 미들웨어 수정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이 여전히 대거 필요</a:t>
            </a: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688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2730-3F64-E170-05F2-93E46478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668F2A-3BF6-32F0-74D2-62F661F921DF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3DE33-F4E1-745F-8AA3-9F1D9CCC5833}"/>
              </a:ext>
            </a:extLst>
          </p:cNvPr>
          <p:cNvSpPr/>
          <p:nvPr/>
        </p:nvSpPr>
        <p:spPr>
          <a:xfrm>
            <a:off x="0" y="73152"/>
            <a:ext cx="12188952" cy="72705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55226-B0E2-1E28-676C-6BC388352850}"/>
              </a:ext>
            </a:extLst>
          </p:cNvPr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b="1" dirty="0" err="1"/>
              <a:t>Nordic</a:t>
            </a:r>
            <a:r>
              <a:rPr lang="ko-KR" altLang="ko-KR" sz="2400" b="1" dirty="0"/>
              <a:t> 칩셋에서 </a:t>
            </a:r>
            <a:r>
              <a:rPr lang="ko-KR" altLang="ko-KR" sz="2400" b="1" dirty="0" err="1"/>
              <a:t>PQC</a:t>
            </a:r>
            <a:r>
              <a:rPr lang="ko-KR" altLang="ko-KR" sz="2400" b="1" dirty="0"/>
              <a:t> 소프트웨어 구현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7D59A-EC2C-E1FE-E383-F963B49DD255}"/>
              </a:ext>
            </a:extLst>
          </p:cNvPr>
          <p:cNvSpPr txBox="1"/>
          <p:nvPr/>
        </p:nvSpPr>
        <p:spPr>
          <a:xfrm>
            <a:off x="0" y="738776"/>
            <a:ext cx="12188952" cy="557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CryptoCell</a:t>
            </a:r>
            <a:r>
              <a:rPr lang="ko-KR" altLang="ko-KR" sz="1200" b="1" dirty="0">
                <a:effectLst/>
              </a:rPr>
              <a:t> 활용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nRF52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nRF91</a:t>
            </a:r>
            <a:r>
              <a:rPr lang="ko-KR" altLang="ko-KR" sz="1200" dirty="0">
                <a:effectLst/>
              </a:rPr>
              <a:t> 시리즈 칩셋에는 </a:t>
            </a:r>
            <a:r>
              <a:rPr lang="ko-KR" altLang="ko-KR" sz="1200" dirty="0" err="1">
                <a:effectLst/>
              </a:rPr>
              <a:t>Arm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CryptoCell</a:t>
            </a:r>
            <a:r>
              <a:rPr lang="ko-KR" altLang="ko-KR" sz="1200" dirty="0">
                <a:effectLst/>
              </a:rPr>
              <a:t>™ 보안 엔진이 내장되어 있음.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effectLst/>
              </a:rPr>
              <a:t>기존 AES, </a:t>
            </a:r>
            <a:r>
              <a:rPr lang="ko-KR" altLang="ko-KR" sz="1200" dirty="0" err="1">
                <a:effectLst/>
              </a:rPr>
              <a:t>SHA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ECC</a:t>
            </a:r>
            <a:r>
              <a:rPr lang="ko-KR" altLang="ko-KR" sz="1200" dirty="0">
                <a:effectLst/>
              </a:rPr>
              <a:t> 연산을 지원하지만,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연산은 소프트웨어로 구현해야 함.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CryptoCell의</a:t>
            </a:r>
            <a:r>
              <a:rPr lang="ko-KR" altLang="ko-KR" sz="1200" dirty="0">
                <a:effectLst/>
              </a:rPr>
              <a:t> 난수 </a:t>
            </a:r>
            <a:r>
              <a:rPr lang="ko-KR" altLang="ko-KR" sz="1200" dirty="0" err="1">
                <a:effectLst/>
              </a:rPr>
              <a:t>생성기</a:t>
            </a:r>
            <a:r>
              <a:rPr lang="ko-KR" altLang="ko-KR" sz="1200" dirty="0">
                <a:effectLst/>
              </a:rPr>
              <a:t>(</a:t>
            </a:r>
            <a:r>
              <a:rPr lang="ko-KR" altLang="ko-KR" sz="1200" dirty="0" err="1">
                <a:effectLst/>
              </a:rPr>
              <a:t>TRNG</a:t>
            </a:r>
            <a:r>
              <a:rPr lang="ko-KR" altLang="ko-KR" sz="1200" dirty="0">
                <a:effectLst/>
              </a:rPr>
              <a:t>)와 키 관리 기능을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라이브러리와 결합해 보안성 강화.</a:t>
            </a:r>
            <a:endParaRPr lang="ko-KR" altLang="ko-KR" sz="12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Kyber</a:t>
            </a:r>
            <a:r>
              <a:rPr lang="ko-KR" altLang="ko-KR" sz="1200" b="1" dirty="0">
                <a:effectLst/>
              </a:rPr>
              <a:t> 키 교환 구현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Kyber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KEM을</a:t>
            </a:r>
            <a:r>
              <a:rPr lang="ko-KR" altLang="ko-KR" sz="1200" dirty="0">
                <a:effectLst/>
              </a:rPr>
              <a:t> C 언어 기반 라이브러리로 포팅 → </a:t>
            </a:r>
            <a:r>
              <a:rPr lang="ko-KR" altLang="ko-KR" sz="1200" dirty="0" err="1">
                <a:effectLst/>
              </a:rPr>
              <a:t>Cortex-M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MCU에서</a:t>
            </a:r>
            <a:r>
              <a:rPr lang="ko-KR" altLang="ko-KR" sz="1200" dirty="0">
                <a:effectLst/>
              </a:rPr>
              <a:t> 실행.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effectLst/>
              </a:rPr>
              <a:t>세션 키 교환 시 기존 </a:t>
            </a:r>
            <a:r>
              <a:rPr lang="ko-KR" altLang="ko-KR" sz="1200" dirty="0" err="1">
                <a:effectLst/>
              </a:rPr>
              <a:t>ECDHE와</a:t>
            </a:r>
            <a:r>
              <a:rPr lang="ko-KR" altLang="ko-KR" sz="1200" dirty="0">
                <a:effectLst/>
              </a:rPr>
              <a:t> 병행해 하이브리드 구조 형성.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IoT</a:t>
            </a:r>
            <a:r>
              <a:rPr lang="ko-KR" altLang="ko-KR" sz="1200" dirty="0">
                <a:effectLst/>
              </a:rPr>
              <a:t> 기기 ↔ 서버 간 </a:t>
            </a:r>
            <a:r>
              <a:rPr lang="ko-KR" altLang="ko-KR" sz="1200" dirty="0" err="1">
                <a:effectLst/>
              </a:rPr>
              <a:t>TLS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핸드셰이크에</a:t>
            </a:r>
            <a:r>
              <a:rPr lang="ko-KR" altLang="ko-KR" sz="1200" dirty="0">
                <a:effectLst/>
              </a:rPr>
              <a:t> 적용 가능.</a:t>
            </a:r>
            <a:endParaRPr lang="ko-KR" altLang="ko-KR" sz="12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Dilithium</a:t>
            </a:r>
            <a:r>
              <a:rPr lang="ko-KR" altLang="ko-KR" sz="1200" b="1" dirty="0">
                <a:effectLst/>
              </a:rPr>
              <a:t>/</a:t>
            </a:r>
            <a:r>
              <a:rPr lang="ko-KR" altLang="ko-KR" sz="1200" b="1" dirty="0" err="1">
                <a:effectLst/>
              </a:rPr>
              <a:t>FALCON</a:t>
            </a:r>
            <a:r>
              <a:rPr lang="ko-KR" altLang="ko-KR" sz="1200" b="1" dirty="0">
                <a:effectLst/>
              </a:rPr>
              <a:t> 서명 구현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effectLst/>
              </a:rPr>
              <a:t>펌웨어 업데이트 검증, 디바이스 인증서 발급에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서명 알고리즘 적용.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Dilithium은</a:t>
            </a:r>
            <a:r>
              <a:rPr lang="ko-KR" altLang="ko-KR" sz="1200" dirty="0">
                <a:effectLst/>
              </a:rPr>
              <a:t> 구조 단순 → 임베디드 환경 적합.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FALCON은</a:t>
            </a:r>
            <a:r>
              <a:rPr lang="ko-KR" altLang="ko-KR" sz="1200" dirty="0">
                <a:effectLst/>
              </a:rPr>
              <a:t> 서명 크기가 작아 무선 전송 효율성 ↑, 하지만 구현 난이도 ↑.</a:t>
            </a:r>
            <a:endParaRPr lang="ko-KR" altLang="ko-KR" sz="12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펌웨어 업데이트 방식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알고리즘은 표준화가 진행 중이므로, 펌웨어 업데이트로 교체 가능해야 함.</a:t>
            </a:r>
            <a:endParaRPr lang="ko-KR" altLang="ko-KR" sz="1200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Crypto-Agility</a:t>
            </a:r>
            <a:r>
              <a:rPr lang="ko-KR" altLang="ko-KR" sz="1200" dirty="0">
                <a:effectLst/>
              </a:rPr>
              <a:t>(암호 민첩성) 확보 → 새로운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알고리즘 등장 시 교체 가능.</a:t>
            </a: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53012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4FD6-A215-B561-8D53-E07E906B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654C01-EF5C-6D21-5112-F954B2B18E40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B3B265-4D87-ECC9-95D0-5A68FBA477AA}"/>
              </a:ext>
            </a:extLst>
          </p:cNvPr>
          <p:cNvSpPr/>
          <p:nvPr/>
        </p:nvSpPr>
        <p:spPr>
          <a:xfrm>
            <a:off x="0" y="73152"/>
            <a:ext cx="12188952" cy="72705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A5BA1-2EAB-DFF2-5319-686694DF2E64}"/>
              </a:ext>
            </a:extLst>
          </p:cNvPr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b="1" dirty="0" err="1"/>
              <a:t>Wi-Fi</a:t>
            </a:r>
            <a:r>
              <a:rPr lang="ko-KR" altLang="en-US" sz="2400" b="1" dirty="0" err="1"/>
              <a:t>에</a:t>
            </a:r>
            <a:r>
              <a:rPr lang="ko-KR" altLang="en-US" sz="2400" b="1" dirty="0"/>
              <a:t> </a:t>
            </a:r>
            <a:r>
              <a:rPr lang="ko-KR" altLang="ko-KR" sz="2400" b="1" dirty="0" err="1"/>
              <a:t>PQC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적용</a:t>
            </a:r>
            <a:endParaRPr lang="ko-KR" altLang="ko-KR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23205-7C41-CBAE-8023-E6E2AC6967EB}"/>
              </a:ext>
            </a:extLst>
          </p:cNvPr>
          <p:cNvSpPr txBox="1"/>
          <p:nvPr/>
        </p:nvSpPr>
        <p:spPr>
          <a:xfrm>
            <a:off x="365760" y="900212"/>
            <a:ext cx="115911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/>
              <a:t>기존 </a:t>
            </a:r>
            <a:r>
              <a:rPr lang="ko-KR" altLang="ko-KR" sz="1600" dirty="0" err="1"/>
              <a:t>WPA3</a:t>
            </a:r>
            <a:r>
              <a:rPr lang="ko-KR" altLang="ko-KR" sz="1600" dirty="0"/>
              <a:t> 같은 보안 프레임워크에 양자 내성 키 교환 및 인증 알고리즘을 통합해야 하며, 성능 저하를 최소화하기 위해 하이브리드 방식(</a:t>
            </a:r>
            <a:r>
              <a:rPr lang="ko-KR" altLang="ko-KR" sz="1600" dirty="0" err="1"/>
              <a:t>PQC</a:t>
            </a:r>
            <a:r>
              <a:rPr lang="ko-KR" altLang="ko-KR" sz="1600" dirty="0"/>
              <a:t> + AES 등)을 사용하는 것이 현실적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9AE18-D8FB-AB54-788E-670D6653EBC4}"/>
              </a:ext>
            </a:extLst>
          </p:cNvPr>
          <p:cNvSpPr txBox="1"/>
          <p:nvPr/>
        </p:nvSpPr>
        <p:spPr>
          <a:xfrm>
            <a:off x="422365" y="1485615"/>
            <a:ext cx="11344094" cy="2965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effectLst/>
              </a:rPr>
              <a:t> </a:t>
            </a:r>
            <a:r>
              <a:rPr lang="ko-KR" altLang="ko-KR" sz="1400" b="1" dirty="0" err="1">
                <a:effectLst/>
              </a:rPr>
              <a:t>PQC</a:t>
            </a:r>
            <a:r>
              <a:rPr lang="ko-KR" altLang="ko-KR" sz="1400" b="1" dirty="0">
                <a:effectLst/>
              </a:rPr>
              <a:t> 알고리즘 통합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>
                <a:effectLst/>
              </a:rPr>
              <a:t>NIST가</a:t>
            </a:r>
            <a:r>
              <a:rPr lang="ko-KR" altLang="ko-KR" sz="1400" dirty="0">
                <a:effectLst/>
              </a:rPr>
              <a:t> 표준화 중인 </a:t>
            </a:r>
            <a:r>
              <a:rPr lang="ko-KR" altLang="ko-KR" sz="1400" b="1" dirty="0" err="1">
                <a:effectLst/>
              </a:rPr>
              <a:t>Kyber</a:t>
            </a:r>
            <a:r>
              <a:rPr lang="ko-KR" altLang="ko-KR" sz="1400" b="1" dirty="0">
                <a:effectLst/>
              </a:rPr>
              <a:t>(키 교환)</a:t>
            </a:r>
            <a:r>
              <a:rPr lang="ko-KR" altLang="ko-KR" sz="1400" dirty="0">
                <a:effectLst/>
              </a:rPr>
              <a:t>, </a:t>
            </a:r>
            <a:r>
              <a:rPr lang="ko-KR" altLang="ko-KR" sz="1400" b="1" dirty="0" err="1">
                <a:effectLst/>
              </a:rPr>
              <a:t>Dilithium</a:t>
            </a:r>
            <a:r>
              <a:rPr lang="ko-KR" altLang="ko-KR" sz="1400" b="1" dirty="0">
                <a:effectLst/>
              </a:rPr>
              <a:t>(디지털 서명)</a:t>
            </a:r>
            <a:r>
              <a:rPr lang="ko-KR" altLang="ko-KR" sz="1400" dirty="0">
                <a:effectLst/>
              </a:rPr>
              <a:t> 같은 알고리즘을 </a:t>
            </a:r>
            <a:r>
              <a:rPr lang="ko-KR" altLang="ko-KR" sz="1400" dirty="0" err="1">
                <a:effectLst/>
              </a:rPr>
              <a:t>Wi-Fi</a:t>
            </a:r>
            <a:r>
              <a:rPr lang="ko-KR" altLang="ko-KR" sz="1400" dirty="0">
                <a:effectLst/>
              </a:rPr>
              <a:t> 인증 및 키 교환 과정에 적용.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>
                <a:effectLst/>
              </a:rPr>
              <a:t>WPA3의</a:t>
            </a:r>
            <a:r>
              <a:rPr lang="ko-KR" altLang="ko-KR" sz="1400" dirty="0">
                <a:effectLst/>
              </a:rPr>
              <a:t> </a:t>
            </a:r>
            <a:r>
              <a:rPr lang="ko-KR" altLang="ko-KR" sz="1400" dirty="0" err="1">
                <a:effectLst/>
              </a:rPr>
              <a:t>SAE</a:t>
            </a:r>
            <a:r>
              <a:rPr lang="ko-KR" altLang="ko-KR" sz="1400" dirty="0">
                <a:effectLst/>
              </a:rPr>
              <a:t>(</a:t>
            </a:r>
            <a:r>
              <a:rPr lang="ko-KR" altLang="ko-KR" sz="1400" dirty="0" err="1">
                <a:effectLst/>
              </a:rPr>
              <a:t>Simultaneous</a:t>
            </a:r>
            <a:r>
              <a:rPr lang="ko-KR" altLang="ko-KR" sz="1400" dirty="0">
                <a:effectLst/>
              </a:rPr>
              <a:t> </a:t>
            </a:r>
            <a:r>
              <a:rPr lang="ko-KR" altLang="ko-KR" sz="1400" dirty="0" err="1">
                <a:effectLst/>
              </a:rPr>
              <a:t>Authentication</a:t>
            </a:r>
            <a:r>
              <a:rPr lang="ko-KR" altLang="ko-KR" sz="1400" dirty="0">
                <a:effectLst/>
              </a:rPr>
              <a:t> of </a:t>
            </a:r>
            <a:r>
              <a:rPr lang="ko-KR" altLang="ko-KR" sz="1400" dirty="0" err="1">
                <a:effectLst/>
              </a:rPr>
              <a:t>Equals</a:t>
            </a:r>
            <a:r>
              <a:rPr lang="ko-KR" altLang="ko-KR" sz="1400" dirty="0">
                <a:effectLst/>
              </a:rPr>
              <a:t>) 또는 </a:t>
            </a:r>
            <a:r>
              <a:rPr lang="ko-KR" altLang="ko-KR" sz="1400" dirty="0" err="1">
                <a:effectLst/>
              </a:rPr>
              <a:t>EAP-TLS</a:t>
            </a:r>
            <a:r>
              <a:rPr lang="ko-KR" altLang="ko-KR" sz="1400" dirty="0">
                <a:effectLst/>
              </a:rPr>
              <a:t> 같은 인증 절차에 </a:t>
            </a:r>
            <a:r>
              <a:rPr lang="ko-KR" altLang="ko-KR" sz="1400" dirty="0" err="1">
                <a:effectLst/>
              </a:rPr>
              <a:t>PQC</a:t>
            </a:r>
            <a:r>
              <a:rPr lang="ko-KR" altLang="ko-KR" sz="1400" dirty="0">
                <a:effectLst/>
              </a:rPr>
              <a:t> 기반 키 교환을 삽입.</a:t>
            </a:r>
            <a:endParaRPr lang="ko-KR" altLang="ko-KR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effectLst/>
              </a:rPr>
              <a:t> </a:t>
            </a:r>
            <a:r>
              <a:rPr lang="ko-KR" altLang="ko-KR" sz="1400" b="1" dirty="0">
                <a:effectLst/>
              </a:rPr>
              <a:t>하이브리드 암호화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>
                <a:effectLst/>
              </a:rPr>
              <a:t>PQC</a:t>
            </a:r>
            <a:r>
              <a:rPr lang="ko-KR" altLang="ko-KR" sz="1400" dirty="0">
                <a:effectLst/>
              </a:rPr>
              <a:t> 단독 사용 시 </a:t>
            </a:r>
            <a:r>
              <a:rPr lang="ko-KR" altLang="ko-KR" sz="1400" dirty="0" err="1">
                <a:effectLst/>
              </a:rPr>
              <a:t>연산량이</a:t>
            </a:r>
            <a:r>
              <a:rPr lang="ko-KR" altLang="ko-KR" sz="1400" dirty="0">
                <a:effectLst/>
              </a:rPr>
              <a:t> 많아 지연(</a:t>
            </a:r>
            <a:r>
              <a:rPr lang="ko-KR" altLang="ko-KR" sz="1400" dirty="0" err="1">
                <a:effectLst/>
              </a:rPr>
              <a:t>latency</a:t>
            </a:r>
            <a:r>
              <a:rPr lang="ko-KR" altLang="ko-KR" sz="1400" dirty="0">
                <a:effectLst/>
              </a:rPr>
              <a:t>)이 커질 수 있음.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effectLst/>
              </a:rPr>
              <a:t>따라서 </a:t>
            </a:r>
            <a:r>
              <a:rPr lang="ko-KR" altLang="ko-KR" sz="1400" dirty="0" err="1">
                <a:effectLst/>
              </a:rPr>
              <a:t>PQC로</a:t>
            </a:r>
            <a:r>
              <a:rPr lang="ko-KR" altLang="ko-KR" sz="1400" dirty="0">
                <a:effectLst/>
              </a:rPr>
              <a:t> 세션 키를 교환하고, 실제 데이터 암호화는 AES-256 같은 기존 </a:t>
            </a:r>
            <a:r>
              <a:rPr lang="ko-KR" altLang="ko-KR" sz="1400" dirty="0" err="1">
                <a:effectLst/>
              </a:rPr>
              <a:t>대칭키</a:t>
            </a:r>
            <a:r>
              <a:rPr lang="ko-KR" altLang="ko-KR" sz="1400" dirty="0">
                <a:effectLst/>
              </a:rPr>
              <a:t> 암호로 처리하는 방식이 효율적.</a:t>
            </a:r>
            <a:endParaRPr lang="ko-KR" altLang="ko-KR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effectLst/>
              </a:rPr>
              <a:t> </a:t>
            </a:r>
            <a:r>
              <a:rPr lang="ko-KR" altLang="ko-KR" sz="1400" b="1" dirty="0">
                <a:effectLst/>
              </a:rPr>
              <a:t>성능 최적화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>
                <a:effectLst/>
              </a:rPr>
              <a:t>FPGA</a:t>
            </a:r>
            <a:r>
              <a:rPr lang="ko-KR" altLang="ko-KR" sz="1400" dirty="0">
                <a:effectLst/>
              </a:rPr>
              <a:t>/</a:t>
            </a:r>
            <a:r>
              <a:rPr lang="ko-KR" altLang="ko-KR" sz="1400" dirty="0" err="1">
                <a:effectLst/>
              </a:rPr>
              <a:t>ASIC</a:t>
            </a:r>
            <a:r>
              <a:rPr lang="ko-KR" altLang="ko-KR" sz="1400" dirty="0">
                <a:effectLst/>
              </a:rPr>
              <a:t> 기반 하드웨어 가속을 활용해 </a:t>
            </a:r>
            <a:r>
              <a:rPr lang="ko-KR" altLang="ko-KR" sz="1400" dirty="0" err="1">
                <a:effectLst/>
              </a:rPr>
              <a:t>PQC</a:t>
            </a:r>
            <a:r>
              <a:rPr lang="ko-KR" altLang="ko-KR" sz="1400" dirty="0">
                <a:effectLst/>
              </a:rPr>
              <a:t> 연산 속도를 개선.</a:t>
            </a:r>
            <a:endParaRPr lang="ko-KR" altLang="ko-KR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>
                <a:effectLst/>
              </a:rPr>
              <a:t>패킷 크기와 세션 테이블 구조를 최적화해 </a:t>
            </a:r>
            <a:r>
              <a:rPr lang="ko-KR" altLang="ko-KR" sz="1400" dirty="0" err="1">
                <a:effectLst/>
              </a:rPr>
              <a:t>QoS</a:t>
            </a:r>
            <a:r>
              <a:rPr lang="ko-KR" altLang="ko-KR" sz="1400" dirty="0">
                <a:effectLst/>
              </a:rPr>
              <a:t> 저하를 최소화.</a:t>
            </a:r>
            <a:endParaRPr lang="ko-KR" altLang="ko-KR" sz="16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BB4090E-61DC-F30C-D011-5AECC00E8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64326"/>
              </p:ext>
            </p:extLst>
          </p:nvPr>
        </p:nvGraphicFramePr>
        <p:xfrm>
          <a:off x="526868" y="4616471"/>
          <a:ext cx="6997338" cy="18288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1925744">
                  <a:extLst>
                    <a:ext uri="{9D8B030D-6E8A-4147-A177-3AD203B41FA5}">
                      <a16:colId xmlns:a16="http://schemas.microsoft.com/office/drawing/2014/main" val="1084173534"/>
                    </a:ext>
                  </a:extLst>
                </a:gridCol>
                <a:gridCol w="2049719">
                  <a:extLst>
                    <a:ext uri="{9D8B030D-6E8A-4147-A177-3AD203B41FA5}">
                      <a16:colId xmlns:a16="http://schemas.microsoft.com/office/drawing/2014/main" val="2918886209"/>
                    </a:ext>
                  </a:extLst>
                </a:gridCol>
                <a:gridCol w="3021875">
                  <a:extLst>
                    <a:ext uri="{9D8B030D-6E8A-4147-A177-3AD203B41FA5}">
                      <a16:colId xmlns:a16="http://schemas.microsoft.com/office/drawing/2014/main" val="3114941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항목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 dirty="0"/>
                        <a:t>기존 </a:t>
                      </a:r>
                      <a:r>
                        <a:rPr lang="ko-KR" sz="1400" b="1" dirty="0" err="1"/>
                        <a:t>WPA3</a:t>
                      </a:r>
                      <a:endParaRPr 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PQC 적용 Wi-Fi</a:t>
                      </a:r>
                      <a:endParaRPr lang="ko-K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143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키 교환</a:t>
                      </a:r>
                      <a:endParaRPr 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ECC</a:t>
                      </a:r>
                      <a:r>
                        <a:rPr lang="ko-KR" sz="1400" dirty="0"/>
                        <a:t>/</a:t>
                      </a:r>
                      <a:r>
                        <a:rPr lang="ko-KR" sz="1400" dirty="0" err="1"/>
                        <a:t>SAE</a:t>
                      </a:r>
                      <a:r>
                        <a:rPr lang="ko-KR" sz="1400" dirty="0"/>
                        <a:t> 기반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Kyber</a:t>
                      </a:r>
                      <a:r>
                        <a:rPr lang="ko-KR" sz="1400" dirty="0"/>
                        <a:t> 등 </a:t>
                      </a:r>
                      <a:r>
                        <a:rPr lang="ko-KR" sz="1400" dirty="0" err="1"/>
                        <a:t>PQC</a:t>
                      </a:r>
                      <a:r>
                        <a:rPr lang="ko-KR" sz="1400" dirty="0"/>
                        <a:t> 기반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28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데이터 암호화</a:t>
                      </a:r>
                      <a:endParaRPr 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AES-256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AES-256 (</a:t>
                      </a:r>
                      <a:r>
                        <a:rPr lang="ko-KR" sz="1400" dirty="0" err="1"/>
                        <a:t>PQC</a:t>
                      </a:r>
                      <a:r>
                        <a:rPr lang="ko-KR" sz="1400" dirty="0"/>
                        <a:t> 하이브리드)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566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보안 수준</a:t>
                      </a:r>
                      <a:endParaRPr 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양자 공격에 취약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양자 공격에도 안전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24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성능</a:t>
                      </a:r>
                      <a:endParaRPr 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낮은 지연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 err="1"/>
                        <a:t>연산량</a:t>
                      </a:r>
                      <a:r>
                        <a:rPr lang="ko-KR" sz="1400" dirty="0"/>
                        <a:t> 증가, 하드웨어 최적화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478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b="1"/>
                        <a:t>호환성</a:t>
                      </a:r>
                      <a:endParaRPr lang="ko-K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/>
                        <a:t>대부분 기기 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400" dirty="0"/>
                        <a:t>신규 </a:t>
                      </a:r>
                      <a:r>
                        <a:rPr lang="ko-KR" sz="1400" dirty="0" err="1"/>
                        <a:t>기기·펌웨어</a:t>
                      </a:r>
                      <a:r>
                        <a:rPr lang="ko-KR" sz="1400" dirty="0"/>
                        <a:t> 업데이트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04322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F826F67-F2C7-6461-8B1C-573D69CE9B91}"/>
              </a:ext>
            </a:extLst>
          </p:cNvPr>
          <p:cNvSpPr txBox="1"/>
          <p:nvPr/>
        </p:nvSpPr>
        <p:spPr>
          <a:xfrm>
            <a:off x="7794761" y="4616471"/>
            <a:ext cx="4284028" cy="199618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400" b="1" dirty="0"/>
              <a:t>잠재적 리스크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effectLst/>
              </a:rPr>
              <a:t>성능 저하</a:t>
            </a:r>
            <a:r>
              <a:rPr lang="ko-KR" altLang="ko-KR" sz="1400" dirty="0">
                <a:effectLst/>
              </a:rPr>
              <a:t>: </a:t>
            </a:r>
            <a:r>
              <a:rPr lang="ko-KR" altLang="ko-KR" sz="1400" dirty="0" err="1">
                <a:effectLst/>
              </a:rPr>
              <a:t>저사양</a:t>
            </a:r>
            <a:r>
              <a:rPr lang="ko-KR" altLang="ko-KR" sz="1400" dirty="0">
                <a:effectLst/>
              </a:rPr>
              <a:t> </a:t>
            </a:r>
            <a:r>
              <a:rPr lang="ko-KR" altLang="ko-KR" sz="1400" dirty="0" err="1">
                <a:effectLst/>
              </a:rPr>
              <a:t>IoT</a:t>
            </a:r>
            <a:r>
              <a:rPr lang="ko-KR" altLang="ko-KR" sz="1400" dirty="0">
                <a:effectLst/>
              </a:rPr>
              <a:t> 기기에서 연결 지연 발생 가능.</a:t>
            </a:r>
            <a:endParaRPr lang="ko-KR" altLang="ko-KR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effectLst/>
              </a:rPr>
              <a:t>표준화 지연</a:t>
            </a:r>
            <a:r>
              <a:rPr lang="ko-KR" altLang="ko-KR" sz="1400" dirty="0">
                <a:effectLst/>
              </a:rPr>
              <a:t>: </a:t>
            </a:r>
            <a:r>
              <a:rPr lang="ko-KR" altLang="ko-KR" sz="1400" dirty="0" err="1">
                <a:effectLst/>
              </a:rPr>
              <a:t>Wi-Fi</a:t>
            </a:r>
            <a:r>
              <a:rPr lang="ko-KR" altLang="ko-KR" sz="1400" dirty="0">
                <a:effectLst/>
              </a:rPr>
              <a:t> </a:t>
            </a:r>
            <a:r>
              <a:rPr lang="ko-KR" altLang="ko-KR" sz="1400" dirty="0" err="1">
                <a:effectLst/>
              </a:rPr>
              <a:t>Alliance가</a:t>
            </a:r>
            <a:r>
              <a:rPr lang="ko-KR" altLang="ko-KR" sz="1400" dirty="0">
                <a:effectLst/>
              </a:rPr>
              <a:t> </a:t>
            </a:r>
            <a:r>
              <a:rPr lang="ko-KR" altLang="ko-KR" sz="1400" dirty="0" err="1">
                <a:effectLst/>
              </a:rPr>
              <a:t>PQC를</a:t>
            </a:r>
            <a:r>
              <a:rPr lang="ko-KR" altLang="ko-KR" sz="1400" dirty="0">
                <a:effectLst/>
              </a:rPr>
              <a:t> 공식 규격에 반영하기까지 시간이 걸릴 수 있음.</a:t>
            </a:r>
            <a:endParaRPr lang="ko-KR" altLang="ko-KR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b="1" dirty="0">
                <a:effectLst/>
              </a:rPr>
              <a:t>운영 복잡성</a:t>
            </a:r>
            <a:r>
              <a:rPr lang="ko-KR" altLang="ko-KR" sz="1400" dirty="0">
                <a:effectLst/>
              </a:rPr>
              <a:t>: 네트워크 관리자가 기존 장비와 </a:t>
            </a:r>
            <a:r>
              <a:rPr lang="ko-KR" altLang="ko-KR" sz="1400" dirty="0" err="1">
                <a:effectLst/>
              </a:rPr>
              <a:t>PQC</a:t>
            </a:r>
            <a:r>
              <a:rPr lang="ko-KR" altLang="ko-KR" sz="1400" dirty="0">
                <a:effectLst/>
              </a:rPr>
              <a:t> 장비를 혼용할 경우 설정 복잡성 증가.</a:t>
            </a:r>
            <a:endParaRPr lang="ko-KR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4160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D893-D70F-1F63-FD27-B69A9DF8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25C7ED-0704-2948-B3EB-E30EE59462AF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08E8D-7E33-35F1-4578-835F571449A9}"/>
              </a:ext>
            </a:extLst>
          </p:cNvPr>
          <p:cNvSpPr/>
          <p:nvPr/>
        </p:nvSpPr>
        <p:spPr>
          <a:xfrm>
            <a:off x="0" y="73152"/>
            <a:ext cx="12188952" cy="727055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4C982-1FB8-CEEF-2FA5-67BA14843788}"/>
              </a:ext>
            </a:extLst>
          </p:cNvPr>
          <p:cNvSpPr txBox="1"/>
          <p:nvPr/>
        </p:nvSpPr>
        <p:spPr>
          <a:xfrm>
            <a:off x="365760" y="13716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 err="1"/>
              <a:t>ESP32</a:t>
            </a:r>
            <a:r>
              <a:rPr lang="ko-KR" altLang="en-US" sz="2400" b="1" dirty="0"/>
              <a:t>에서의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PQC</a:t>
            </a:r>
            <a:endParaRPr lang="ko-KR" altLang="ko-K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9DD90-5E0E-8E26-3FFD-0C42C528F56C}"/>
              </a:ext>
            </a:extLst>
          </p:cNvPr>
          <p:cNvSpPr txBox="1"/>
          <p:nvPr/>
        </p:nvSpPr>
        <p:spPr>
          <a:xfrm>
            <a:off x="130628" y="800601"/>
            <a:ext cx="11730446" cy="2001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200" b="1" dirty="0" err="1"/>
              <a:t>ESP32에서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PQC</a:t>
            </a:r>
            <a:r>
              <a:rPr lang="ko-KR" altLang="ko-KR" sz="1200" b="1" dirty="0"/>
              <a:t> 적용 현황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ESP32-C3</a:t>
            </a:r>
            <a:r>
              <a:rPr lang="ko-KR" altLang="ko-KR" sz="1200" b="1" dirty="0">
                <a:effectLst/>
              </a:rPr>
              <a:t> 벤치마크</a:t>
            </a:r>
            <a:r>
              <a:rPr lang="ko-KR" altLang="ko-KR" sz="1200" dirty="0">
                <a:effectLst/>
              </a:rPr>
              <a:t>: GitHub 프로젝트에서 </a:t>
            </a:r>
            <a:r>
              <a:rPr lang="ko-KR" altLang="ko-KR" sz="1200" dirty="0" err="1">
                <a:effectLst/>
              </a:rPr>
              <a:t>liboqs</a:t>
            </a:r>
            <a:r>
              <a:rPr lang="ko-KR" altLang="ko-KR" sz="1200" dirty="0">
                <a:effectLst/>
              </a:rPr>
              <a:t> + </a:t>
            </a:r>
            <a:r>
              <a:rPr lang="ko-KR" altLang="ko-KR" sz="1200" dirty="0" err="1">
                <a:effectLst/>
              </a:rPr>
              <a:t>WolfSSL을</a:t>
            </a:r>
            <a:r>
              <a:rPr lang="ko-KR" altLang="ko-KR" sz="1200" dirty="0">
                <a:effectLst/>
              </a:rPr>
              <a:t> 이용해 </a:t>
            </a:r>
            <a:r>
              <a:rPr lang="ko-KR" altLang="ko-KR" sz="1200" dirty="0" err="1">
                <a:effectLst/>
              </a:rPr>
              <a:t>Kyber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Falcon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ML-DSA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SPHINCS</a:t>
            </a:r>
            <a:r>
              <a:rPr lang="ko-KR" altLang="ko-KR" sz="1200" dirty="0">
                <a:effectLst/>
              </a:rPr>
              <a:t> 등을 실행.</a:t>
            </a:r>
            <a:endParaRPr lang="ko-KR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Kyber512</a:t>
            </a:r>
            <a:r>
              <a:rPr lang="ko-KR" altLang="ko-KR" sz="1200" dirty="0">
                <a:effectLst/>
              </a:rPr>
              <a:t> 키 생성 평균 </a:t>
            </a:r>
            <a:r>
              <a:rPr lang="ko-KR" altLang="ko-KR" sz="1200" b="1" dirty="0" err="1">
                <a:effectLst/>
              </a:rPr>
              <a:t>106ms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Encapsulation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133ms</a:t>
            </a:r>
            <a:r>
              <a:rPr lang="ko-KR" altLang="ko-KR" sz="1200" dirty="0">
                <a:effectLst/>
              </a:rPr>
              <a:t>, </a:t>
            </a:r>
            <a:r>
              <a:rPr lang="ko-KR" altLang="ko-KR" sz="1200" dirty="0" err="1">
                <a:effectLst/>
              </a:rPr>
              <a:t>Decapsulation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108ms</a:t>
            </a:r>
            <a:r>
              <a:rPr lang="ko-KR" altLang="ko-KR" sz="1200" dirty="0">
                <a:effectLst/>
              </a:rPr>
              <a:t> 수준.</a:t>
            </a:r>
            <a:endParaRPr lang="ko-KR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ESP32-C3</a:t>
            </a:r>
            <a:r>
              <a:rPr lang="ko-KR" altLang="ko-KR" sz="1200" dirty="0">
                <a:effectLst/>
              </a:rPr>
              <a:t>(</a:t>
            </a:r>
            <a:r>
              <a:rPr lang="ko-KR" altLang="ko-KR" sz="1200" dirty="0" err="1">
                <a:effectLst/>
              </a:rPr>
              <a:t>160MHz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RISC-V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MCU</a:t>
            </a:r>
            <a:r>
              <a:rPr lang="ko-KR" altLang="ko-KR" sz="1200" dirty="0">
                <a:effectLst/>
              </a:rPr>
              <a:t>)에서도 실용적으로 동작 가능함.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 err="1">
                <a:effectLst/>
              </a:rPr>
              <a:t>ESP32</a:t>
            </a:r>
            <a:r>
              <a:rPr lang="ko-KR" altLang="ko-KR" sz="1200" b="1" dirty="0">
                <a:effectLst/>
              </a:rPr>
              <a:t> 듀얼코어 최적화</a:t>
            </a:r>
            <a:r>
              <a:rPr lang="ko-KR" altLang="ko-KR" sz="1200" dirty="0">
                <a:effectLst/>
              </a:rPr>
              <a:t>: 연구 결과 </a:t>
            </a:r>
            <a:r>
              <a:rPr lang="ko-KR" altLang="ko-KR" sz="1200" dirty="0" err="1">
                <a:effectLst/>
              </a:rPr>
              <a:t>Kyber</a:t>
            </a:r>
            <a:r>
              <a:rPr lang="ko-KR" altLang="ko-KR" sz="1200" dirty="0">
                <a:effectLst/>
              </a:rPr>
              <a:t> 알고리즘을 듀얼코어로 분할 실행하면 </a:t>
            </a:r>
            <a:r>
              <a:rPr lang="ko-KR" altLang="ko-KR" sz="1200" b="1" dirty="0" err="1">
                <a:effectLst/>
              </a:rPr>
              <a:t>1.2배</a:t>
            </a:r>
            <a:r>
              <a:rPr lang="ko-KR" altLang="ko-KR" sz="1200" b="1" dirty="0">
                <a:effectLst/>
              </a:rPr>
              <a:t> 이상 속도 향상</a:t>
            </a:r>
            <a:r>
              <a:rPr lang="ko-KR" altLang="ko-KR" sz="1200" dirty="0">
                <a:effectLst/>
              </a:rPr>
              <a:t>.</a:t>
            </a:r>
            <a:endParaRPr lang="ko-KR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 err="1">
                <a:effectLst/>
              </a:rPr>
              <a:t>SHA</a:t>
            </a:r>
            <a:r>
              <a:rPr lang="ko-KR" altLang="ko-KR" sz="1200" dirty="0">
                <a:effectLst/>
              </a:rPr>
              <a:t>/AES 코프로세서를 활용하면 최대 </a:t>
            </a:r>
            <a:r>
              <a:rPr lang="ko-KR" altLang="ko-KR" sz="1200" b="1" dirty="0" err="1">
                <a:effectLst/>
              </a:rPr>
              <a:t>1.8배</a:t>
            </a:r>
            <a:r>
              <a:rPr lang="ko-KR" altLang="ko-KR" sz="1200" b="1" dirty="0">
                <a:effectLst/>
              </a:rPr>
              <a:t> 성능 개선</a:t>
            </a:r>
            <a:r>
              <a:rPr lang="ko-KR" altLang="ko-KR" sz="1200" dirty="0">
                <a:effectLst/>
              </a:rPr>
              <a:t>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메모리 요구사항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Kyber</a:t>
            </a:r>
            <a:r>
              <a:rPr lang="ko-KR" altLang="ko-KR" sz="1200" dirty="0">
                <a:effectLst/>
              </a:rPr>
              <a:t> 및 </a:t>
            </a:r>
            <a:r>
              <a:rPr lang="ko-KR" altLang="ko-KR" sz="1200" dirty="0" err="1">
                <a:effectLst/>
              </a:rPr>
              <a:t>SPHINCS</a:t>
            </a:r>
            <a:r>
              <a:rPr lang="ko-KR" altLang="ko-KR" sz="1200" dirty="0">
                <a:effectLst/>
              </a:rPr>
              <a:t> 같은 알고리즘은 바이너리 크기가 </a:t>
            </a:r>
            <a:r>
              <a:rPr lang="ko-KR" altLang="ko-KR" sz="1200" dirty="0" err="1">
                <a:effectLst/>
              </a:rPr>
              <a:t>1MB</a:t>
            </a:r>
            <a:r>
              <a:rPr lang="ko-KR" altLang="ko-KR" sz="1200" dirty="0">
                <a:effectLst/>
              </a:rPr>
              <a:t> 이상으로 커질 수 있어, </a:t>
            </a:r>
            <a:r>
              <a:rPr lang="ko-KR" altLang="ko-KR" sz="1200" dirty="0" err="1">
                <a:effectLst/>
              </a:rPr>
              <a:t>ESP32의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플래시·RAM</a:t>
            </a:r>
            <a:r>
              <a:rPr lang="ko-KR" altLang="ko-KR" sz="1200" dirty="0">
                <a:effectLst/>
              </a:rPr>
              <a:t> 용량을 고려해야 함.</a:t>
            </a:r>
            <a:endParaRPr lang="ko-KR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28F11-4536-459C-2AA5-AB62D156F941}"/>
              </a:ext>
            </a:extLst>
          </p:cNvPr>
          <p:cNvSpPr txBox="1"/>
          <p:nvPr/>
        </p:nvSpPr>
        <p:spPr>
          <a:xfrm>
            <a:off x="130628" y="3079879"/>
            <a:ext cx="12058324" cy="144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200" b="1" dirty="0"/>
              <a:t>적용 시 고려사항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성능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ESP32는</a:t>
            </a:r>
            <a:r>
              <a:rPr lang="ko-KR" altLang="ko-KR" sz="1200" dirty="0">
                <a:effectLst/>
              </a:rPr>
              <a:t> 저전력 </a:t>
            </a:r>
            <a:r>
              <a:rPr lang="ko-KR" altLang="ko-KR" sz="1200" dirty="0" err="1">
                <a:effectLst/>
              </a:rPr>
              <a:t>IoT용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MCU라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연산 시 지연(</a:t>
            </a:r>
            <a:r>
              <a:rPr lang="ko-KR" altLang="ko-KR" sz="1200" dirty="0" err="1">
                <a:effectLst/>
              </a:rPr>
              <a:t>latency</a:t>
            </a:r>
            <a:r>
              <a:rPr lang="ko-KR" altLang="ko-KR" sz="1200" dirty="0">
                <a:effectLst/>
              </a:rPr>
              <a:t>)이 발생할 수 있음.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하드웨어 가속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ESP32의</a:t>
            </a:r>
            <a:r>
              <a:rPr lang="ko-KR" altLang="ko-KR" sz="1200" dirty="0">
                <a:effectLst/>
              </a:rPr>
              <a:t> AES/</a:t>
            </a:r>
            <a:r>
              <a:rPr lang="ko-KR" altLang="ko-KR" sz="1200" dirty="0" err="1">
                <a:effectLst/>
              </a:rPr>
              <a:t>SHA</a:t>
            </a:r>
            <a:r>
              <a:rPr lang="ko-KR" altLang="ko-KR" sz="1200" dirty="0">
                <a:effectLst/>
              </a:rPr>
              <a:t> 코프로세서를 활용하면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연산 속도를 크게 개선 가능.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메모리 제약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알고리즘은 키 크기가 크고 코드 사이즈가 커서, </a:t>
            </a:r>
            <a:r>
              <a:rPr lang="ko-KR" altLang="ko-KR" sz="1200" dirty="0" err="1">
                <a:effectLst/>
              </a:rPr>
              <a:t>ESP32의</a:t>
            </a:r>
            <a:r>
              <a:rPr lang="ko-KR" altLang="ko-KR" sz="1200" dirty="0">
                <a:effectLst/>
              </a:rPr>
              <a:t> 플래시와 </a:t>
            </a:r>
            <a:r>
              <a:rPr lang="ko-KR" altLang="ko-KR" sz="1200" dirty="0" err="1">
                <a:effectLst/>
              </a:rPr>
              <a:t>RAM을</a:t>
            </a:r>
            <a:r>
              <a:rPr lang="ko-KR" altLang="ko-KR" sz="1200" dirty="0">
                <a:effectLst/>
              </a:rPr>
              <a:t> 최적화해야 함.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실용성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IoT</a:t>
            </a:r>
            <a:r>
              <a:rPr lang="ko-KR" altLang="ko-KR" sz="1200" dirty="0">
                <a:effectLst/>
              </a:rPr>
              <a:t> 환경에서 </a:t>
            </a:r>
            <a:r>
              <a:rPr lang="ko-KR" altLang="ko-KR" sz="1200" dirty="0" err="1">
                <a:effectLst/>
              </a:rPr>
              <a:t>PQC를</a:t>
            </a:r>
            <a:r>
              <a:rPr lang="ko-KR" altLang="ko-KR" sz="1200" dirty="0">
                <a:effectLst/>
              </a:rPr>
              <a:t> 직접 적용하기보다는 </a:t>
            </a:r>
            <a:r>
              <a:rPr lang="ko-KR" altLang="ko-KR" sz="1200" b="1" dirty="0">
                <a:effectLst/>
              </a:rPr>
              <a:t>하이브리드 방식</a:t>
            </a:r>
            <a:r>
              <a:rPr lang="ko-KR" altLang="ko-KR" sz="1200" dirty="0">
                <a:effectLst/>
              </a:rPr>
              <a:t>(</a:t>
            </a:r>
            <a:r>
              <a:rPr lang="ko-KR" altLang="ko-KR" sz="1200" dirty="0" err="1">
                <a:effectLst/>
              </a:rPr>
              <a:t>PQC로</a:t>
            </a:r>
            <a:r>
              <a:rPr lang="ko-KR" altLang="ko-KR" sz="1200" dirty="0">
                <a:effectLst/>
              </a:rPr>
              <a:t> 키 교환, 데이터 암호화는 AES 등 기존 </a:t>
            </a:r>
            <a:r>
              <a:rPr lang="ko-KR" altLang="ko-KR" sz="1200" dirty="0" err="1">
                <a:effectLst/>
              </a:rPr>
              <a:t>대칭키</a:t>
            </a:r>
            <a:r>
              <a:rPr lang="ko-KR" altLang="ko-KR" sz="1200" dirty="0">
                <a:effectLst/>
              </a:rPr>
              <a:t>)으로 사용하는 것이 현실적.</a:t>
            </a:r>
            <a:endParaRPr lang="ko-KR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DEB07-7AEB-2FBB-EA40-58AD08921A1C}"/>
              </a:ext>
            </a:extLst>
          </p:cNvPr>
          <p:cNvSpPr txBox="1"/>
          <p:nvPr/>
        </p:nvSpPr>
        <p:spPr>
          <a:xfrm>
            <a:off x="130628" y="5163553"/>
            <a:ext cx="6426926" cy="11701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200" b="1" dirty="0"/>
              <a:t>잠재적 리스크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지연 문제</a:t>
            </a:r>
            <a:r>
              <a:rPr lang="ko-KR" altLang="ko-KR" sz="1200" dirty="0">
                <a:effectLst/>
              </a:rPr>
              <a:t>: 실시간 </a:t>
            </a:r>
            <a:r>
              <a:rPr lang="ko-KR" altLang="ko-KR" sz="1200" dirty="0" err="1">
                <a:effectLst/>
              </a:rPr>
              <a:t>IoT</a:t>
            </a:r>
            <a:r>
              <a:rPr lang="ko-KR" altLang="ko-KR" sz="1200" dirty="0">
                <a:effectLst/>
              </a:rPr>
              <a:t> 통신에서는 수백 </a:t>
            </a:r>
            <a:r>
              <a:rPr lang="ko-KR" altLang="ko-KR" sz="1200" dirty="0" err="1">
                <a:effectLst/>
              </a:rPr>
              <a:t>ms</a:t>
            </a:r>
            <a:r>
              <a:rPr lang="ko-KR" altLang="ko-KR" sz="1200" dirty="0">
                <a:effectLst/>
              </a:rPr>
              <a:t> 지연이 문제 될 수 있음.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메모리 부족</a:t>
            </a:r>
            <a:r>
              <a:rPr lang="ko-KR" altLang="ko-KR" sz="1200" dirty="0">
                <a:effectLst/>
              </a:rPr>
              <a:t>: 대형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알고리즘은 </a:t>
            </a:r>
            <a:r>
              <a:rPr lang="ko-KR" altLang="ko-KR" sz="1200" dirty="0" err="1">
                <a:effectLst/>
              </a:rPr>
              <a:t>ESP32의</a:t>
            </a:r>
            <a:r>
              <a:rPr lang="ko-KR" altLang="ko-KR" sz="1200" dirty="0">
                <a:effectLst/>
              </a:rPr>
              <a:t> 플래시/</a:t>
            </a:r>
            <a:r>
              <a:rPr lang="ko-KR" altLang="ko-KR" sz="1200" dirty="0" err="1">
                <a:effectLst/>
              </a:rPr>
              <a:t>RAM</a:t>
            </a:r>
            <a:r>
              <a:rPr lang="ko-KR" altLang="ko-KR" sz="1200" dirty="0">
                <a:effectLst/>
              </a:rPr>
              <a:t> 한계를 초과할 수 있음.</a:t>
            </a:r>
            <a:endParaRPr lang="ko-KR" altLang="ko-KR" sz="12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effectLst/>
              </a:rPr>
              <a:t> </a:t>
            </a:r>
            <a:r>
              <a:rPr lang="ko-KR" altLang="ko-KR" sz="1200" b="1" dirty="0">
                <a:effectLst/>
              </a:rPr>
              <a:t>표준화 진행</a:t>
            </a:r>
            <a:r>
              <a:rPr lang="ko-KR" altLang="ko-KR" sz="1200" dirty="0">
                <a:effectLst/>
              </a:rPr>
              <a:t>: </a:t>
            </a:r>
            <a:r>
              <a:rPr lang="ko-KR" altLang="ko-KR" sz="1200" dirty="0" err="1">
                <a:effectLst/>
              </a:rPr>
              <a:t>NIST</a:t>
            </a:r>
            <a:r>
              <a:rPr lang="ko-KR" altLang="ko-KR" sz="1200" dirty="0">
                <a:effectLst/>
              </a:rPr>
              <a:t> </a:t>
            </a:r>
            <a:r>
              <a:rPr lang="ko-KR" altLang="ko-KR" sz="1200" dirty="0" err="1">
                <a:effectLst/>
              </a:rPr>
              <a:t>PQC</a:t>
            </a:r>
            <a:r>
              <a:rPr lang="ko-KR" altLang="ko-KR" sz="1200" dirty="0">
                <a:effectLst/>
              </a:rPr>
              <a:t> 표준이 완전히 확정되기 전까지는 적용 알고리즘 변경 가능성 존재.</a:t>
            </a: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02900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1062</Words>
  <Application>Microsoft Office PowerPoint</Application>
  <PresentationFormat>사용자 지정</PresentationFormat>
  <Paragraphs>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Charlie Choi</cp:lastModifiedBy>
  <cp:revision>7</cp:revision>
  <dcterms:created xsi:type="dcterms:W3CDTF">2013-01-27T09:14:16Z</dcterms:created>
  <dcterms:modified xsi:type="dcterms:W3CDTF">2026-07-01T23:34:40Z</dcterms:modified>
  <cp:category/>
</cp:coreProperties>
</file>