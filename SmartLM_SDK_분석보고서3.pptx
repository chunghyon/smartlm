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64592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ahoma"/>
              </a:rPr>
              <a:t>SmartLM SDK 분석보고서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0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  <a:latin typeface="Tahoma"/>
              </a:rPr>
              <a:t>SmackBio 생체인식 디바이스 SDK – Repository 구조 및 S/W 개발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SDK 20250611  ·  WebSocketSDK 20250611  ·  BOWE_PC  ·  Communication Protocols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5303520"/>
            <a:ext cx="2743200" cy="1005840"/>
          </a:xfrm>
          <a:prstGeom prst="rect">
            <a:avLst/>
          </a:prstGeom>
          <a:solidFill>
            <a:srgbClr val="2A5C9A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303520"/>
            <a:ext cx="2743200" cy="10058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  <a:latin typeface="Tahoma"/>
              </a:rPr>
              <a:t>📁 Repository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ahoma"/>
              </a:rPr>
              <a:t>5개 주요 폴더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2112" y="5303520"/>
            <a:ext cx="2743200" cy="1005840"/>
          </a:xfrm>
          <a:prstGeom prst="rect">
            <a:avLst/>
          </a:prstGeom>
          <a:solidFill>
            <a:srgbClr val="2A5C9A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5303520"/>
            <a:ext cx="2743200" cy="10058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  <a:latin typeface="Tahoma"/>
              </a:rPr>
              <a:t>🔑 SDK 유형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ahoma"/>
              </a:rPr>
              <a:t>Traditional · WebSocket · HTTP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4184" y="5303520"/>
            <a:ext cx="2743200" cy="1005840"/>
          </a:xfrm>
          <a:prstGeom prst="rect">
            <a:avLst/>
          </a:prstGeom>
          <a:solidFill>
            <a:srgbClr val="2A5C9A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4184" y="5303520"/>
            <a:ext cx="2743200" cy="10058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  <a:latin typeface="Tahoma"/>
              </a:rPr>
              <a:t>📡 통신 프로토콜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ahoma"/>
              </a:rPr>
              <a:t>Serial / TCP-IP / WebSocket / 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6256" y="5303520"/>
            <a:ext cx="2743200" cy="1005840"/>
          </a:xfrm>
          <a:prstGeom prst="rect">
            <a:avLst/>
          </a:prstGeom>
          <a:solidFill>
            <a:srgbClr val="2A5C9A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6" y="5303520"/>
            <a:ext cx="2743200" cy="10058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  <a:latin typeface="Tahoma"/>
              </a:rPr>
              <a:t>🖥️ 지원 언어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ahoma"/>
              </a:rPr>
              <a:t>C# · Java · PHP · Python · VB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9E8F5"/>
                </a:solidFill>
                <a:latin typeface="Tahoma"/>
              </a:rPr>
              <a:t>© SmackBio  |  BOWE  |  Chunghyon/SmartLM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목차 (Table of Contents)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SmartLM SDK 분석보고서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0" cy="475488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143000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01  Repository 구조 개요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전체 디렉토리 구성 및 SDK 유형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5486400" cy="475488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143000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02  SDK 20250611 구조 분석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SBXPC ActiveX / SBXPCDLL Native DLL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55064"/>
            <a:ext cx="5486400" cy="475488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655064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03  WebSocket SDK 구조 분석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C# ASP.NET / PHP Workerman / Python Django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55064"/>
            <a:ext cx="5486400" cy="475488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655064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04  지원 디바이스 모델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A30, A50, M30, M50, S100, S300/SB3600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67128"/>
            <a:ext cx="5486400" cy="475488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167128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05  핵심 API 분류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연결·등록·로그·제어 API 카탈로그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167128"/>
            <a:ext cx="5486400" cy="475488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2167128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06  통신 프로토콜 구조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XML 메시지 포맷 및 WebSocket 이벤트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79192"/>
            <a:ext cx="5486400" cy="475488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679192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07  아키텍처 다이어그램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Traditional SDK vs WebSocket SDK 흐름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679192"/>
            <a:ext cx="5486400" cy="475488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2679192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08  S/W 개발 흐름 – Traditional SDK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단계별 개발 가이드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91256"/>
            <a:ext cx="5486400" cy="475488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191256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09  S/W 개발 흐름 – WebSocket SDK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C# / PHP / Python 서버 구축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191256"/>
            <a:ext cx="5486400" cy="475488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3191256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10  빠른 시작 체크리스트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플랫폼별 필수 준비 항목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03320"/>
            <a:ext cx="5486400" cy="475488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703320"/>
            <a:ext cx="5394960" cy="47548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11  결론 및 권장 사항</a:t>
            </a:r>
          </a:p>
          <a:p>
            <a:pPr algn="l"/>
            <a:r>
              <a:rPr sz="1000" b="0" i="0">
                <a:solidFill>
                  <a:srgbClr val="0070C0"/>
                </a:solidFill>
                <a:latin typeface="Tahoma"/>
              </a:rPr>
              <a:t>    SDK 선택 가이드라인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01  Repository 구조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SmartLM | SmackBio 생체인식 디바이스 통합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486400" cy="5303520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5349240" cy="5212080"/>
          </a:xfrm>
          <a:prstGeom prst="rect">
            <a:avLst/>
          </a:prstGeom>
          <a:noFill/>
        </p:spPr>
        <p:txBody>
          <a:bodyPr wrap="square" lIns="109728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📁  Repository 디렉토리 구조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SmartLM/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├─ SDK 20250611/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├─ SBXPC/          ← ActiveX OCX 소스 (COM 컴포넌트)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├─ bin/             ← 컴파일된 DLL / OCX / LIB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│    ├─ SBXPCDLL.dll / SBXPCDLL64.dll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│    ├─ SBXPC.ocx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│    ├─ SBPCCOMM.dll / SBPCCOMM64.dll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│    └─ GEN_FONT.dll / GEN_FONT64.dll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├─ doc/             ← SBXPC Reference Manual.docx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└─ samples/         ← 다국어 샘플 프로젝트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     ├─ Sample_A30 / Sample_A50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     ├─ Sample_M30 / Sample_M50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     ├─ Sample_S100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     ├─ Sample_S300_SB3600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     └─ Sample_S300_SB3600_12digitsID_36AlphabetID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├─ WebSocketSDK 20250611/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├─ WebSocketSDK/    ← C# ASP.NET (SmackBio.WebSocketSDK)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├─ WebSocketSDK_7/  ← 레거시 .NET 7 버전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├─ WebSocketSDK_PHP/← PHP Workerman 서버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└─ WebSocketSDK_Python/ ← Python Django 서버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├─ BOWE_PC/              ← A3-8190 사용자 매뉴얼 및 PC 클라이언트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├─ Communication Protocols/ ← HTTP / MQTT / WebSocket 프로토콜 문서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├─ .NET / 2.JAVA    ← 언어별 샘플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│    └─ *.pdf / *.md / *.html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└─ SmartLM_SDK_분석보고서*.pptx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5943600" cy="2103120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097280"/>
            <a:ext cx="5806440" cy="21031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🔑  핵심 특징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제품 목적   SmackBio 브랜드 생체인식(지문·얼굴) 기기를 소프트웨어로 제어하기 위한 통합 SDK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SDK 유형    ① Traditional (Serial / TCP-IP / P2P)
              ② WebSocket 기반 (클라우드·원격 서버)
              ③ HTTP Push (BOWE A3-8190 얼굴인식 단말)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지원 언어   C#, VB.NET, Java, Delphi, VB6, PHP (Workerman), Python (Django)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통신 방식   XML 기반 메시지 프로토콜 (직렬 / TCP-IP / WebSocket / HTTP Push)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플랫폼      Windows (Traditional) + 크로스플랫폼 (WebSocket / HTTP Push)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최신 버전   SDK 20250611  /  WebSocketSDK 20250611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337560"/>
            <a:ext cx="5943600" cy="1325880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337560"/>
            <a:ext cx="5806440" cy="1325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📦  SDK 유형별 주요 파일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Traditional SDK  →  SBXPCDLL.dll / SBXPCDLL64.dll, SBXPC.ocx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WebSocket SDK   →  SmackBio.WebSocketSDK.dll (C#), Workerman (PHP), Django (Python)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HTTP Push SDK   →  A3HttpListener.cs (C# HttpListener 기반 자체 서버)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800600"/>
            <a:ext cx="5943600" cy="1600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800600"/>
            <a:ext cx="5806440" cy="16002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Tahoma"/>
              </a:rPr>
              <a:t>💡  SDK 선택 기준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Tahoma"/>
              </a:rPr>
              <a:t>로컬 Windows 환경, 직렬·TCP-IP 직접 제어  →  Traditional SDK (SBXPCDLL / SBXPC.ocx)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Tahoma"/>
              </a:rPr>
              <a:t>클라우드·웹 서버, 원격 실시간 모니터링     →  WebSocket SDK (C# / PHP / Python)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Tahoma"/>
              </a:rPr>
              <a:t>BOWE A3-8190 얼굴인식 단말 연동           →  HTTP Push SDK (A3HttpListener)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02  SDK 20250611 구조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전통적인 Windows DLL / ActiveX 기반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03320" cy="393192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703320" cy="3931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SBXPC  (ActiveX / COM OCX)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COM/ActiveX 컴포넌트 형태의 컨트롤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VB6, Delphi 등 레거시 언어 지원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COM 이벤트로 디바이스 이벤트 수신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OnReceiveEventXML 이벤트 처리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SBXPC.ocx 등록 후 사용 (regsvr32)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주요 파일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SBXPC.ocx  ─  ActiveX 컨트롤 바이너리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SBXPC.h    ─  클래스 헤더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SBXPCCtrl.cpp  ─  컨트롤 구현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SBXPC.idl  ─  COM 인터페이스 정의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dispids.h  ─  Dispatch ID 상수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703320" cy="393192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143000"/>
            <a:ext cx="3703320" cy="3931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SBXPCDLL  (Native Win32 DLL)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C/C++ 네이티브 DLL API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C#, Java, Delphi 등 직접 호출 가능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32비트(SBXPCDLL.dll) / 64비트(SBXPCDLL64.dll)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콜백(Callback) 기반 비동기 이벤트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SBPCCOMM.dll, GEN_FONT.dll 의존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주요 파일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SBXPCDLL.dll / SBXPCDLL64.dll  ─  DLL 바이너리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SBXPCDLL_API.h  ─  C/C++ 헤더 (함수 선언)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SBPCCOMM.dll / SBPCCOMM64.dll  ─  통신 모듈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GEN_FONT.dll / GEN_FONT64.dll  ─  폰트 모듈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datEnrollDat.mdb  ─  등록 데이터 예시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143000"/>
            <a:ext cx="3703320" cy="393192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143000"/>
            <a:ext cx="3703320" cy="3931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samples/  (다국어 샘플 프로젝트)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Sample_A30 / A50  ─  소형/고급 지문인식기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Sample_M30 / M50  ─  멀티모달 인증기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Sample_S100       ─  스마트 출입 단말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Sample_S300_SB3600 ─ 엔터프라이즈 단말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Sample_S300_SB3600_12digitsID_36AlphabetID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                 ─ BigUser ID 변형 샘플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각 Sample 폴더 내 언어별 하위 폴더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C#_SBXPCDLL_Sample  ─  C# DllImport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C#_SBXPCSample      ─  C# ActiveX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VB.NET_SBXBPCSample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VB6_SBXPCSample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Java_SBXPCSample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Delphi_SBXPCDLL_Sample / Delphi_SBXPCSample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193792"/>
            <a:ext cx="1161288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빌드: Visual Studio 솔루션 열기 → 플랫폼(x86/x64) 선택 → Ctrl+Shift+B  │  OCX 등록: regsvr32 SBXPC.ocx  │  참고 문서: doc/SBXPC Reference Manual.docx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03  WebSocket SDK 구조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클라우드·웹 환경에서 디바이스를 연결하는 현대적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03320" cy="393192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703320" cy="3931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C# / ASP.NET  (WebSocketSDK)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Microsoft.Web.WebSockets 기반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SmackBio.WebSocketSDK 라이브러리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IDeviceLoginManager 인터페이스 구현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SBWebSocketHandler – 핵심 핸들러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SessionRegistry – 세션 관리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ASP.NET Web Application 배포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주요 파일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SBWebSocketHandler.cs  ─  핸들러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IDeviceLoginManager.cs ─  인터페이스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SessionRegistry.cs     ─  세션 관리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Cmd/*.cs               ─  명령 클래스 (30+)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DB/                    ─  DB 레이어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WebSocketSDK.sln       ─  솔루션 파일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703320" cy="393192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143000"/>
            <a:ext cx="3703320" cy="3931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PHP  (WebSocketSDK_PHP / Workerman)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Workerman WebSocket 서버 프레임워크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ws_server.php     ─  서버 구동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ws_connection.php ─  연결·세션 관리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ws_dev_event.php  ─  이벤트 처리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PHP 웹 프론트엔드 포함 (wwwroot/)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실행 순서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① 0.download_workerman.bat 실행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   (composer install)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② config.inc.php 에서 DB/포트/CloudID 설정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③ 1.run_ws_server.bat → WebSocket 서버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④ 2.run_web_server.bat → 웹 서버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⑤ wwwroot/ 내 PHP 페이지 커스터마이징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143000"/>
            <a:ext cx="3703320" cy="393192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143000"/>
            <a:ext cx="3703320" cy="3931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Python / Django  (WebSocketSDK_Python)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Django 웹 프레임워크 기반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Django Channels – WebSocket 지원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sdkdemoapp/     ─  앱 모듈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sdkdemoapp/biz/ ─  비즈니스 로직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manage.py       ─  Django 관리 스크립트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2.run_web_app.bat ─ 실행 스크립트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• REST API + WebSocket 혼용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주요 문서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Getting Started with Python Web SDK.docx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WebSocket SDK Protocol.docx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WebSocketSDK Sample for Win7.docx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Tahoma"/>
              </a:rPr>
              <a:t>  WebSocketSDK Sample for Win8,10.docx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193792"/>
            <a:ext cx="1161288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공통 프로토콜: 디바이스 → WebSocket Server (XML 메시지)  │  이벤트 유형: Register · Login · TimeLog · AdminLog · KeepAlive · 명령 응답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04  지원 디바이스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SmackBio 디바이스 라인업 및 SDK 지원 범위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828800" cy="21945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A30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소형 지문인식기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지문 1:N 인증
• 직렬 / TCP-IP 통신
• 경량 임베디드 타입
• Sample_A30 참고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3432" y="1143000"/>
            <a:ext cx="1828800" cy="21945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143000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A50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고급 지문인식기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A30 기능 포함
• 향상된 인증 속도
• 더 큰 등록 용량
• Sample_A50 참고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1143000"/>
            <a:ext cx="1828800" cy="21945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143000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M30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멀티모달 인증기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지문 + PIN 인증
• 도어 제어 기능
• Bell 타이머 지원
• Sample_M30 참고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143000"/>
            <a:ext cx="1828800" cy="21945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143000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M50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멀티모달 고급형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M30 기능 포함
• BigUser ID 지원
• GPS 로그 지원
• Sample_M50 참고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93608" y="1143000"/>
            <a:ext cx="1828800" cy="21945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143000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S100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스마트 출입 단말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스마트 카드 지원
• 얼굴인식 옵션
• 고용량 사용자 DB
• Sample_S100 참고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7000" y="1143000"/>
            <a:ext cx="1828800" cy="21945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1143000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S300 / SB3600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엔터프라이즈 단말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최대 사용자 등록
• 36자 알파벳 ID 지원
• 12자리 숫자 ID 지원
• Sample_S300_SB3600 참고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56432"/>
            <a:ext cx="11612880" cy="1965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5021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00"/>
                </a:solidFill>
                <a:latin typeface="Tahoma"/>
              </a:rPr>
              <a:t>📷  BOWE A3-8190  –  얼굴인식 출입 단말  (HTTP Push 프로토콜)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913632"/>
            <a:ext cx="5303520" cy="1463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00" b="1" i="0">
                <a:solidFill>
                  <a:srgbClr val="FFC000"/>
                </a:solidFill>
                <a:latin typeface="Tahoma"/>
              </a:rPr>
              <a:t>주요 기능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• 얼굴인식 기반 출입 통제
• HTTP Push 프로토콜로 서버에 이벤트 전송
• Keepalive 응답으로 인원 추가/원격 제어
• 출입 기록, 인원 관리, 원격 명령 지원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913632"/>
            <a:ext cx="5806440" cy="1463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00" b="1" i="0">
                <a:solidFill>
                  <a:srgbClr val="FFC000"/>
                </a:solidFill>
                <a:latin typeface="Tahoma"/>
              </a:rPr>
              <a:t>관련 파일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BOWE_PC/A3-8190 User Manual.pdf
BOWE_PC/PC Client software Operation Instruction.pdf
Communication Protocols/HTTP V2 Docking protocol…pdf
samples/Sample_A3-8190/C#_A3-8190_HTTPServer/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05  핵심 API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SBXPC / SBXPCDLL 주요 함수 그룹 (SBXPCDLL_API.h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233172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486400" cy="23317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🔌  연결 관리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_SetMachineType(num, type)  ─  대상 모델 설정
_ConnectSerial(num, comPort, baudRate)  ─  직렬 연결
_ConnectTcpip(num, ip, port, pw)  ─  TCP/IP 연결
_ConnectP2p(id, serverIP, port, pw, &amp;err)  ─  P2P 연결
_Disconnect(num) / _DisconnectAll()
_GetLastError(num, &amp;code)  ─  오류 코드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43000"/>
            <a:ext cx="5486400" cy="233172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143000"/>
            <a:ext cx="5486400" cy="23317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👤  사용자 등록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_GetEnrollData(num, enroll, eMachine, backup, &amp;priv, &amp;data, &amp;pw)
_SetEnrollData(num, enroll, eMachine, backup, priv, &amp;data, pw)
_DeleteEnrollData(num, enroll, eMachine, backup)
_ReadAllUserID(num) / _GetAllUserID(num, ...)
_EnableUser(num, enroll, eMachine, backup, flag)
_ModifyPrivilege(num, enroll, eMachine, backup, priv)
_GetUserName1() / _SetUserName1()  ─  사용자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5486400" cy="233172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5486400" cy="23317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📋  로그 조회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_ReadGeneralLogData(num, bReadMark)  ─  일반 출입 로그
_GetGeneralLogData(num, &amp;tMachine, &amp;enroll, ...)  ─  로그 데이터
_ReadSuperLogData(num, bReadMark)  ─  관리자 로그
_GetSuperLogData(num, ...)  ─  관리자 로그 데이터
_ReadGLogWithPos(num, startPos, endPos)  ─  위치 기반
_ReadGeneralLogData_GPS(num, bReadMark)  ─  GPS 로그
_GetGeneralLogData_GPS(num, ..., &amp;lat, &amp;lng)  ─  GPS 좌표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657600"/>
            <a:ext cx="5486400" cy="233172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657600"/>
            <a:ext cx="5486400" cy="23317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⚙️  디바이스 제어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_GetDeviceInfo(num, info, &amp;value) / _SetDeviceInfo(num, info, value)
_GetDeviceTime(num, ...) / _SetDeviceTime(num)
_EnableDevice(num, flag)  ─  디바이스 활성/비활성
_GetSerialNumber(num, &amp;sn) / _GetProductCode(num, &amp;code)
_GetDeviceModel(num, &amp;isBig, &amp;companyType, &amp;machType, &amp;ver)
_GeneralOperationXML(num, &amp;reqNRespXML)  ─  XML 범용 명령
_EmptyEnrollData(num) / _EmptyGeneralLogData(num)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943600"/>
            <a:ext cx="1161288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  <a:latin typeface="Tahoma"/>
              </a:rPr>
              <a:t>WebSocket SDK 주요 명령 클래스 (Cmd/ 폴더)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>CmdLogin · CmdRegister · CmdGetTime · CmdSetTime · CmdEnableDevice · CmdGetAutoAttendance · CmdSetAutoAttendance · CmdGetEthernetSetting · CmdSetEthernet · CmdGetWiFiSetting · CmdSetWiFi · CmdGetVideoStreamSetting · CmdSetVideoStreamSetting · CmdGetUserBalanceTime · CmdSetUserBalanceTime · CmdRestart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06  통신 프로토콜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XML 메시지 포맷 · WebSocket 이벤트 · HTTP Push 프로토콜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521208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212080" cy="5212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XML 메시지 포맷 예시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/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▶  등록 메시지 (디바이스 → 서버)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&lt;?xml version="1.0"?&gt;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&lt;Message&gt;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  &lt;Register&gt;S300&lt;/Register&gt;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  &lt;SerialNo&gt;SB12345678&lt;/SerialNo&gt;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  &lt;CloudId&gt;your-cloud-id&lt;/CloudId&gt;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&lt;/Message&gt;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/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▶  로그인 메시지 (디바이스 → 서버)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&lt;?xml version="1.0"?&gt;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&lt;Message&gt;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  &lt;Login&gt;S300&lt;/Login&gt;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  &lt;SerialNo&gt;SB12345678&lt;/SerialNo&gt;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  &lt;Token&gt;auth-token&lt;/Token&gt;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&lt;/Message&gt;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/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▶  출입 이벤트 (디바이스 → 서버)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&lt;?xml version="1.0"?&gt;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&lt;Message&gt;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  &lt;Event&gt;TimeLog&lt;/Event&gt;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  &lt;UserID&gt;00001&lt;/UserID&gt;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  &lt;DateTime&gt;20250101120000&lt;/DateTime&gt;</a:t>
            </a:r>
          </a:p>
          <a:p>
            <a:pPr algn="l"/>
            <a:r>
              <a:rPr sz="900" b="0" i="0">
                <a:solidFill>
                  <a:srgbClr val="2A5C2A"/>
                </a:solidFill>
                <a:latin typeface="Tahoma"/>
              </a:rPr>
              <a:t>&lt;/Message&gt;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143000"/>
            <a:ext cx="6355080" cy="260604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143000"/>
            <a:ext cx="6355080" cy="2606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WebSocket 이벤트 유형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Register        ─  디바이스 초기 등록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Login           ─  디바이스 인증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TimeLog         ─  출입 기록 이벤트 (v1 / v2)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AdminLog        ─  관리자 조작 이벤트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KeepAlive       ─  세션 유지 하트비트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GetTime/SetTime ─  시간 동기화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EnableDevice    ─  디바이스 활성/비활성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GetUserBalance  ─  잔여 시간 조회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SetEthernet / SetWiFi  ─  네트워크 설정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SetVideoStream  ─  영상 스트림 설정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Restart         ─  디바이스 재시작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3840480"/>
            <a:ext cx="6355080" cy="2514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3840480"/>
            <a:ext cx="6355080" cy="2514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Tahoma"/>
              </a:rPr>
              <a:t>HTTP Push 프로토콜 (BOWE A3-8190)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POST /Device/Keepalive             ─  Keepalive (15초 주기)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POST /People/DownloadPeopleList    ─  인원 목록 다운로드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POST /People/PushPeople            ─  디바이스→서버 인원 업로드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POST /Record/UploadIdentifyRecord  ─  출입 기록 수신 (multipart)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POST /Record/UploadSystemRecord    ─  시스템 기록 수신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POST /Device/RemoteCommand         ─  원격 제어 (문열기·재시작)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POST /DevicePass/SelectDeleteInfo  ─  삭제할 인원 목록 반환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POST /Device/UploadWorkParameter   ─  디바이스 파라미터 업로드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POST /Device/DownloadWorkSetting   ─  파라미터 다운로드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07  아키텍처 다이어그램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Traditional SDK / WebSocket SDK / HTTP Push SDK 통합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29184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Traditional SDK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29184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097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WebSocket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097280"/>
            <a:ext cx="329184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097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HTTP Push SDK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00200"/>
            <a:ext cx="3291840" cy="502920"/>
          </a:xfrm>
          <a:prstGeom prst="rect">
            <a:avLst/>
          </a:prstGeom>
          <a:solidFill>
            <a:srgbClr val="F2F7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응용 프로그램
(C# / VB.NET / Java / Delphi)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0552" y="2103120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395728"/>
            <a:ext cx="3291840" cy="502920"/>
          </a:xfrm>
          <a:prstGeom prst="rect">
            <a:avLst/>
          </a:prstGeom>
          <a:solidFill>
            <a:srgbClr val="D9E8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395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SBXPCDLL.dll 또는 SBXPC.ocx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0552" y="2898648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191256"/>
            <a:ext cx="3291840" cy="502920"/>
          </a:xfrm>
          <a:prstGeom prst="rect">
            <a:avLst/>
          </a:prstGeom>
          <a:solidFill>
            <a:srgbClr val="F2F7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9125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통신 계층
(Serial / TCP-IP / P2P)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0552" y="3694176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86784"/>
            <a:ext cx="3291840" cy="502920"/>
          </a:xfrm>
          <a:prstGeom prst="rect">
            <a:avLst/>
          </a:prstGeom>
          <a:solidFill>
            <a:srgbClr val="1F497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8678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SmackBio 디바이스
(A30 / A50 / M30 / M50 / S300)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600200"/>
            <a:ext cx="3291840" cy="502920"/>
          </a:xfrm>
          <a:prstGeom prst="rect">
            <a:avLst/>
          </a:prstGeom>
          <a:solidFill>
            <a:srgbClr val="F2F7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600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웹 브라우저 / 클라이언트
(ASP.NET / PHP / Python)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9592" y="2103120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2395728"/>
            <a:ext cx="3291840" cy="502920"/>
          </a:xfrm>
          <a:prstGeom prst="rect">
            <a:avLst/>
          </a:prstGeom>
          <a:solidFill>
            <a:srgbClr val="0070C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2395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WebSocket Server
(SBWebSocketHandler)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79592" y="2898648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191256"/>
            <a:ext cx="3291840" cy="502920"/>
          </a:xfrm>
          <a:prstGeom prst="rect">
            <a:avLst/>
          </a:prstGeom>
          <a:solidFill>
            <a:srgbClr val="D9E8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319125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인증 레이어
(IDeviceLoginManager)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9592" y="3694176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3986784"/>
            <a:ext cx="3291840" cy="502920"/>
          </a:xfrm>
          <a:prstGeom prst="rect">
            <a:avLst/>
          </a:prstGeom>
          <a:solidFill>
            <a:srgbClr val="1F497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398678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SmackBio 디바이스
(WebSocket 클라이언트)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1600200"/>
            <a:ext cx="3291840" cy="502920"/>
          </a:xfrm>
          <a:prstGeom prst="rect">
            <a:avLst/>
          </a:prstGeom>
          <a:solidFill>
            <a:srgbClr val="F2F7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1600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C# WinForms 앱
(HttpListener 서버)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28632" y="2103120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01000" y="2395728"/>
            <a:ext cx="3291840" cy="502920"/>
          </a:xfrm>
          <a:prstGeom prst="rect">
            <a:avLst/>
          </a:prstGeom>
          <a:solidFill>
            <a:srgbClr val="007A8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2395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A3HttpListener
(HTTP Push 엔드포인트)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8632" y="2898648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01000" y="3191256"/>
            <a:ext cx="3291840" cy="502920"/>
          </a:xfrm>
          <a:prstGeom prst="rect">
            <a:avLst/>
          </a:prstGeom>
          <a:solidFill>
            <a:srgbClr val="D9E8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319125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이벤트 처리
(OnLog / OnKeepalive / OnRecord)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28632" y="3694176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01000" y="3986784"/>
            <a:ext cx="3291840" cy="502920"/>
          </a:xfrm>
          <a:prstGeom prst="rect">
            <a:avLst/>
          </a:prstGeom>
          <a:solidFill>
            <a:srgbClr val="1F497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398678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BOWE A3-8190
(HTTP Push 클라이언트)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394960"/>
            <a:ext cx="11612880" cy="1051560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394960"/>
            <a:ext cx="11430000" cy="1051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Tahoma"/>
              </a:rPr>
              <a:t>흐름 요약 비교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Traditional SDK : 앱 → DLL/OCX → 직렬·TCP-IP → 디바이스  (동기 + 콜백, Windows 전용, 저지연 로컬 제어)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WebSocket SDK  : 클라이언트 → WebSocket 서버 → 인증 → 디바이스  (비동기, 크로스플랫폼, 클라우드·원격)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HTTP Push SDK  : A3-8190 → HTTP POST → HttpListener 서버  (15초 Keepalive, 인원 전송·원격 제어 응답 포함)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08  S/W 개발 흐름  ①  Traditional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SBXPCDLL / SBXPC.ocx 를 사용하는 Windows 네이티브 애플리케이션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237744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486400" cy="23774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Step 1  –  개발 환경 준비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Visual Studio (C# / VB.NET) 또는 선호 IDE 설치
• SDK bin/ 디렉토리에서 필요한 파일 복사
  x86: SBXPCDLL.dll, SBXPC.ocx, SBPCCOMM.dll, GEN_FONT.dll
  x64: SBXPCDLL64.dll, SBPCCOMM64.dll, GEN_FONT64.dll
• 대상 플랫폼(x86 / x64)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143000"/>
            <a:ext cx="5486400" cy="237744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143000"/>
            <a:ext cx="5486400" cy="23774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Step 2  –  프로젝트 생성 및 DLL 참조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새 Windows Forms / Console 프로젝트 생성
• [DLL 방식] DllImport 또는 P/Invoke로 SBXPCDLL(_64).dll 참조
  — SBXPCDLL_API.h 헤더 파일 참고
• [OCX 방식] 도구 상자 → COM 컴포넌트 추가 → SBXPC.ocx 등록
  — regsvr32 SBXPC.ocx 명령으로 시스템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5486400" cy="237744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5486400" cy="23774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Step 3  –  디바이스 타입 설정 및 연결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_SetMachineType(machineNum, "S300")  ─  대상 모델 지정
• 직렬 연결: _ConnectSerial(num, commPort, baudRate)
• TCP/IP:   _ConnectTcpip(num, ipAddr, port, password)
• P2P:      _ConnectP2p(machineID, serverIP, serverPort, pw, &amp;err)
• 연결 실패 시 _GetLastError()로 오류 코드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3657600"/>
            <a:ext cx="5486400" cy="237744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3657600"/>
            <a:ext cx="5486400" cy="23774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Step 4  –  이벤트 캡처 및 비즈니스 로직 구현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_StartEventCapture(commType, param1, param2, callback, ctx)
• 콜백 함수에서 XML 파싱 → _XML_ParseString() 등 헬퍼 활용
• 등록: _GetEnrollData() / _SetEnrollData() / _DeleteEnrollData()
• 로그 조회: _ReadGeneralLogData() → _GetGeneralLogData() 반복
• 디바이스 제어: _EnableDevice(), _SetDeviceTime(), _GeneralOperationXML()
• 완료 후 _StopEventCapture() 및 _Disconnect()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09-A  S/W 개발 흐름  ②  WebSocket SDK (C# / ASP.NET)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SmackBio.WebSocketSDK 라이브러리 기반 ASP.NET 웹 서버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237744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486400" cy="23774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Step 1  –  솔루션 설정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Visual Studio에서 ASP.NET Web Application 프로젝트 생성
• SmackBio.WebSocketSDK.csproj를 솔루션에 추가 (또는 참조 추가)
• NuGet: Microsoft.Web.WebSockets 패키지 설치
• WebSocketSDK/WebSocketSDK/  폴더를 기준으로 작업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143000"/>
            <a:ext cx="5486400" cy="237744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143000"/>
            <a:ext cx="5486400" cy="23774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Step 2  –  IDeviceLoginManager 구현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IDeviceLoginManager 인터페이스를 상속한 클래스 작성
• GetRegisterInfo(terminalType, serialNo) → 등록 토큰 반환
• Verify(serialNo, token) → bool (인증 검증)
• OnDeviceEvent(xml) → 출입·관리자 로그 처리 로직
• Web.config에 smackbio.websocketsdk.deviceLoginManager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5486400" cy="237744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5486400" cy="23774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Step 3  –  WebSocket 엔드포인트 등록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GenericHandler.ashx 또는 Global.asax에서 WebSocketHandler 경로 매핑
• SessionRegistry 로 연결된 디바이스 목록 관리
• check_cloud_id / valid_cloud_id 설정으로 보안 강화
• Web.config – connectionStrings 로 DB 연결 설정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3657600"/>
            <a:ext cx="5486400" cy="237744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3657600"/>
            <a:ext cx="5486400" cy="23774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Step 4  –  UI 페이지 개발 및 명령 전송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ViewOnlineDevices.aspx   ─  온라인 디바이스 목록
• ViewDeviceEvents.aspx    ─  실시간 이벤트 조회
• ViewRegisterDevices.aspx ─  디바이스 등록 관리
• session.ExecuteCommand(page, xmlCmd, onResponse, onError)
• Cmd/ 폴더의 CmdGetTime, CmdSetTime, CmdEnableDevice 등 활용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09-B  S/W 개발 흐름  ③  PHP / Python WebSocket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Workerman(PHP) 또는 Django Channels(Python) 기반 WebSocket 서버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21208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394960" cy="5212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PHP (Workerman) 개발 절차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① 환경 준비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PHP 7+ 설치, Composer 설치
   WebSocketSDK_PHP 디렉토리 복사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② Workerman 다운로드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0.download_workerman.bat 실행
   또는 composer install 수동 실행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③ 서버 설정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config.inc.php 에서 DB 연결, 포트, 클라우드 ID 설정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④ 비즈니스 로직 구현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ws_dev_event.php  ─  이벤트 처리 로직
   ws_connection.php ─  세션 관리 커스터마이징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⑤ 서버 실행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1.run_ws_server.bat → WebSocket 서버 기동
   2.run_web_server.bat → 웹 서버 기동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⑥ UI 개발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wwwroot/ 폴더 내 PHP 페이지 수정
   user_manage.php 등 참고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5943600" cy="521208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143000"/>
            <a:ext cx="5852160" cy="5212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Python (Django Channels) 개발 절차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① 환경 준비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Python 3.8+, pip 설치
   virtualenv 또는 conda 환경 생성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② 패키지 설치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pip install django channels
   WebSocketSDK_Python 디렉토리 복사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③ Django 프로젝트 설정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settings.py  ─  DB, CHANNEL_LAYERS 설정
   urls.py       ─  WebSocket 라우팅 추가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④ 비즈니스 로직 구현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sdkdemoapp/biz/ 폴더에 이벤트 핸들러 작성
   models.py ─  DB 모델 정의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⑤ 마이그레이션 및 실행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python manage.py migrate
   2.run_web_app.bat 또는 python manage.py runserver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Tahoma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ahoma"/>
              </a:rPr>
              <a:t>⑥ UI 개발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   sdkdemoapp/templates/ 폴더에 HTML 템플릿
   views.py ─  뷰 로직 작성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10  빠른 시작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플랫폼별 필수 준비 항목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697480" cy="51663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2697480" cy="5166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C# Traditional SDK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☐  Visual Studio 2019/2022 설치
☐  SBXPCDLL.dll / SBXPCDLL64.dll 복사
☐  x86 또는 x64 플랫폼 선택
☐  DllImport 선언 추가 (SBXPCDLL_API.h 참고)
☐  _SetMachineType() 호출
☐  연결 방식 선택 (Serial / TCP-IP / P2P)
☐  이벤트 콜백 함수 구현
☐  참고: samples/Sample_S300/C#_SBXPCDLL_Sample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9816" y="1143000"/>
            <a:ext cx="2697480" cy="51663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6" y="1143000"/>
            <a:ext cx="2697480" cy="5166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C# WebSocket SDK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☐  ASP.NET Web Application 생성
☐  SmackBio.WebSocketSDK 프로젝트 참조 추가
☐  Microsoft.Web.WebSockets NuGet 설치
☐  IDeviceLoginManager 구현 클래스 작성
☐  Web.config deviceLoginManager 등록
☐  WebSocket 핸들러 경로 설정
☐  DB 연결 문자열 설정
☐  참고: WebSocketSDK/WebSocketSDK/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143000"/>
            <a:ext cx="2697480" cy="51663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5312" y="1143000"/>
            <a:ext cx="2697480" cy="5166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PHP (Workerman)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☐  PHP 7+ 및 Composer 설치
☐  0.download_workerman.bat 실행
☐  config.inc.php 설정 (DB / 포트 / CloudID)
☐  ws_dev_event.php 이벤트 핸들러 구현
☐  DB 스키마 생성
☐  1.run_ws_server.bat → 서버 실행
☐  2.run_web_server.bat → 웹 실행
☐  참고: WebSocketSDK_PHP/wwwroot/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50808" y="1143000"/>
            <a:ext cx="2697480" cy="51663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1143000"/>
            <a:ext cx="2697480" cy="5166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Python (Django)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☐  Python 3.8+ / pip 설치
☐  pip install django channels
☐  settings.py DB / CHANNEL_LAYERS 설정
☐  urls.py WebSocket 라우팅 추가
☐  sdkdemoapp/biz/ 이벤트 핸들러 작성
☐  python manage.py migrate
☐  2.run_web_app.bat 실행
☐  참고: WebSocketSDK_Python/DjangoExample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11  결론 및 권장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000"/>
                </a:solidFill>
                <a:latin typeface="Tahoma"/>
              </a:rPr>
              <a:t>SDK 선택 가이드라인 및 개발 시작 권장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2F7FF"/>
                </a:solidFill>
                <a:latin typeface="Tahoma"/>
              </a:rPr>
              <a:t>SmartLM SDK Repository  |  Chunghyon/SmartLM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566160" cy="35661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566160" cy="3566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🏢  엔터프라이즈 / 온프레미스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Traditional SDK (SBXPCDLL) 권장
• 직접 직렬·TCP-IP 연결로 저지연 제어
• 기존 Windows 인프라와 통합 용이
• C# WinForms 샘플이 가장 풍부
• 오프라인 환경 완벽 지원
• 32/64비트 DLL 구분 필수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143000"/>
            <a:ext cx="3566160" cy="35661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143000"/>
            <a:ext cx="3566160" cy="3566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🌐  클라우드 / 원격 모니터링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WebSocket SDK 권장
• 디바이스가 서버에 자동 WebSocket 연결
• 브라우저 기반 실시간 모니터링
• C# ASP.NET이 가장 완성도 높음
• PHP / Python 옵션으로 유연한 배포
• 크로스플랫폼 (Linux / Windows 서버)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143000"/>
            <a:ext cx="3566160" cy="35661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143000"/>
            <a:ext cx="3566160" cy="3566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Tahoma"/>
              </a:rPr>
              <a:t>📷  얼굴인식 단말 (BOWE)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HTTP Push SDK 사용
• A3-8190 HTTP Server 예제 활용
• Communication Protocols/ 문서 참고
• C# WinForms HttpListener 완성 예제 제공
• Keepalive 주기(15초) 내 명령 처리 필수
• 관리자 권한 실행 필요 (app.manifest)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800600"/>
            <a:ext cx="11612880" cy="1691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800600"/>
            <a:ext cx="11430000" cy="1691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Tahoma"/>
              </a:rPr>
              <a:t>🔧  개발 시작 권장 순서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Tahoma"/>
              </a:rPr>
              <a:t/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① BOWE_PC/A3-8190 User Manual.pdf  ─  디바이스 스펙 확인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② Communication Protocols/ HTTP·MQTT·WebSocket 프로토콜 문서 정독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③ SDK 유형 결정: Traditional (Serial/TCP) / WebSocket (Cloud) / HTTP Push (A3-8190)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④ 해당 Sample 프로젝트 실행 및 코드 분석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⑤ SBXPCDLL_API.h / WebSocket SDK Protocol.docx 를 참고하여 API 설계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⑥ 비즈니스 로직 구현: 인원 관리, 출입 기록 처리, 원격 제어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82880" cy="10972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ahoma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  <a:latin typeface="Tahoma"/>
              </a:rPr>
              <a:t>SmartLM SDK Repository 분석보고서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000"/>
                </a:solidFill>
                <a:latin typeface="Tahoma"/>
              </a:rPr>
              <a:t>SDK 20250611  ·  WebSocketSDK 20250611  ·  BOWE_PC  ·  Communication Protocols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14800"/>
            <a:ext cx="2560320" cy="1188720"/>
          </a:xfrm>
          <a:prstGeom prst="rect">
            <a:avLst/>
          </a:prstGeom>
          <a:solidFill>
            <a:srgbClr val="2A5C9A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2560320" cy="11887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  <a:latin typeface="Tahoma"/>
              </a:rPr>
              <a:t>📁 Repository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5개 주요 폴더
전체 구조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4114800"/>
            <a:ext cx="2560320" cy="1188720"/>
          </a:xfrm>
          <a:prstGeom prst="rect">
            <a:avLst/>
          </a:prstGeom>
          <a:solidFill>
            <a:srgbClr val="2A5C9A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114800"/>
            <a:ext cx="2560320" cy="11887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  <a:latin typeface="Tahoma"/>
              </a:rPr>
              <a:t>🔑 SDK 유형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Traditional
WebSocket
HTTP Push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114800"/>
            <a:ext cx="2560320" cy="1188720"/>
          </a:xfrm>
          <a:prstGeom prst="rect">
            <a:avLst/>
          </a:prstGeom>
          <a:solidFill>
            <a:srgbClr val="2A5C9A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114800"/>
            <a:ext cx="2560320" cy="11887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  <a:latin typeface="Tahoma"/>
              </a:rPr>
              <a:t>📡 통신 프로토콜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XML · WebSocket
HTTP Push · MQTT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4114800"/>
            <a:ext cx="2560320" cy="1188720"/>
          </a:xfrm>
          <a:prstGeom prst="rect">
            <a:avLst/>
          </a:prstGeom>
          <a:solidFill>
            <a:srgbClr val="2A5C9A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4114800"/>
            <a:ext cx="2560320" cy="11887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  <a:latin typeface="Tahoma"/>
              </a:rPr>
              <a:t>🖥️ 지원 언어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C# · Java · VB
PHP ·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9E8F5"/>
                </a:solidFill>
                <a:latin typeface="Tahoma"/>
              </a:rPr>
              <a:t>© SmackBio  |  BOWE  |  Chunghyon/SmartLM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