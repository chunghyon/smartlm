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1051560"/>
            <a:ext cx="107899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5E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463040"/>
            <a:ext cx="9875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700" b="1">
                <a:solidFill>
                  <a:srgbClr val="182B49"/>
                </a:solidFill>
                <a:latin typeface="Arial"/>
              </a:rPr>
              <a:t>Communication Protocols 폴더 요약
및 HTTP 기반 통신 구현 방안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2880360"/>
            <a:ext cx="8961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586069"/>
                </a:solidFill>
                <a:latin typeface="Arial"/>
              </a:rPr>
              <a:t>SmartLM 저장소의 프로토콜 문서를 바탕으로
장치-서버 HTTP 연동 구조, 핵심 API, 구현 체크포인트를 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9788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C66B8"/>
                </a:solidFill>
                <a:latin typeface="Arial"/>
              </a:rPr>
              <a:t>기준 문서: HTTP v6.0, UI API v2.0, MQTT v1.0, 시퀀스 다이어그램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2B49"/>
                </a:solidFill>
                <a:latin typeface="Arial"/>
              </a:rPr>
              <a:t>1. 폴더 구성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7899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86069"/>
                </a:solidFill>
                <a:latin typeface="Arial"/>
              </a:rPr>
              <a:t>문서별 역할을 빠르게 파악할 수 있도록 분류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521208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82B49"/>
                </a:solidFill>
                <a:latin typeface="Arial"/>
              </a:defRPr>
            </a:pPr>
            <a:r>
              <a:t>HTTP protocol of Sony facial recognition terminal.md / PDF</a:t>
            </a:r>
          </a:p>
          <a:p>
            <a:pPr lvl="1">
              <a:spcAft>
                <a:spcPts val="400"/>
              </a:spcAft>
              <a:defRPr sz="1500">
                <a:solidFill>
                  <a:srgbClr val="586069"/>
                </a:solidFill>
                <a:latin typeface="Arial"/>
              </a:defRPr>
            </a:pPr>
            <a:r>
              <a:t>서버-단말 백엔드 연동의 핵심 문서</a:t>
            </a:r>
          </a:p>
          <a:p>
            <a:pPr lvl="1">
              <a:spcAft>
                <a:spcPts val="400"/>
              </a:spcAft>
              <a:defRPr sz="1500">
                <a:solidFill>
                  <a:srgbClr val="586069"/>
                </a:solidFill>
                <a:latin typeface="Arial"/>
              </a:defRPr>
            </a:pPr>
            <a:r>
              <a:t>Keepalive, 파라미터 동기화, 원격 명령, 인원/기록 업로드 정의</a:t>
            </a:r>
          </a:p>
          <a:p>
            <a:pPr>
              <a:spcAft>
                <a:spcPts val="800"/>
              </a:spcAft>
              <a:defRPr sz="1700" b="1">
                <a:solidFill>
                  <a:srgbClr val="182B49"/>
                </a:solidFill>
                <a:latin typeface="Arial"/>
              </a:defRPr>
            </a:pPr>
            <a:r>
              <a:t>HTTPv2_API_Sequence_Diagrams_EN.html</a:t>
            </a:r>
          </a:p>
          <a:p>
            <a:pPr lvl="1">
              <a:spcAft>
                <a:spcPts val="400"/>
              </a:spcAft>
              <a:defRPr sz="1500">
                <a:solidFill>
                  <a:srgbClr val="586069"/>
                </a:solidFill>
                <a:latin typeface="Arial"/>
              </a:defRPr>
            </a:pPr>
            <a:r>
              <a:t>10개 주요 시나리오를 순서도로 시각화</a:t>
            </a:r>
          </a:p>
          <a:p>
            <a:pPr>
              <a:spcAft>
                <a:spcPts val="800"/>
              </a:spcAft>
              <a:defRPr sz="1700" b="1">
                <a:solidFill>
                  <a:srgbClr val="182B49"/>
                </a:solidFill>
                <a:latin typeface="Arial"/>
              </a:defRPr>
            </a:pPr>
            <a:r>
              <a:t>UI interface document of facial recognition browser.md / PDF</a:t>
            </a:r>
          </a:p>
          <a:p>
            <a:pPr lvl="1">
              <a:spcAft>
                <a:spcPts val="400"/>
              </a:spcAft>
              <a:defRPr sz="1500">
                <a:solidFill>
                  <a:srgbClr val="586069"/>
                </a:solidFill>
                <a:latin typeface="Arial"/>
              </a:defRPr>
            </a:pPr>
            <a:r>
              <a:t>단말 웹 관리 화면용 HTTP API 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554480"/>
            <a:ext cx="521208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82B49"/>
                </a:solidFill>
                <a:latin typeface="Arial"/>
              </a:defRPr>
            </a:pPr>
            <a:r>
              <a:t>MQTT protocol interface document.pdf</a:t>
            </a:r>
          </a:p>
          <a:p>
            <a:pPr lvl="1">
              <a:spcAft>
                <a:spcPts val="400"/>
              </a:spcAft>
              <a:defRPr sz="1500">
                <a:solidFill>
                  <a:srgbClr val="586069"/>
                </a:solidFill>
                <a:latin typeface="Arial"/>
              </a:defRPr>
            </a:pPr>
            <a:r>
              <a:t>HTTP 외 대안 프로토콜(MQTT 3.1) 명세</a:t>
            </a:r>
          </a:p>
          <a:p>
            <a:pPr>
              <a:spcAft>
                <a:spcPts val="800"/>
              </a:spcAft>
              <a:defRPr sz="1700" b="1">
                <a:solidFill>
                  <a:srgbClr val="182B49"/>
                </a:solidFill>
                <a:latin typeface="Arial"/>
              </a:defRPr>
            </a:pPr>
            <a:r>
              <a:t>Face Communication Protocol 2022.11.28.doc</a:t>
            </a:r>
          </a:p>
          <a:p>
            <a:pPr lvl="1">
              <a:spcAft>
                <a:spcPts val="400"/>
              </a:spcAft>
              <a:defRPr sz="1500">
                <a:solidFill>
                  <a:srgbClr val="586069"/>
                </a:solidFill>
                <a:latin typeface="Arial"/>
              </a:defRPr>
            </a:pPr>
            <a:r>
              <a:t>레거시 문서로 보이며 분량이 큰 구버전 프로토콜 자료</a:t>
            </a:r>
          </a:p>
          <a:p>
            <a:pPr>
              <a:spcAft>
                <a:spcPts val="800"/>
              </a:spcAft>
              <a:defRPr sz="1700" b="1">
                <a:solidFill>
                  <a:srgbClr val="182B49"/>
                </a:solidFill>
                <a:latin typeface="Arial"/>
              </a:defRPr>
            </a:pPr>
            <a:r>
              <a:t>http Push People Schematic Diagram.png</a:t>
            </a:r>
          </a:p>
          <a:p>
            <a:pPr lvl="1">
              <a:spcAft>
                <a:spcPts val="400"/>
              </a:spcAft>
              <a:defRPr sz="1500">
                <a:solidFill>
                  <a:srgbClr val="586069"/>
                </a:solidFill>
                <a:latin typeface="Arial"/>
              </a:defRPr>
            </a:pPr>
            <a:r>
              <a:t>인원 Push 흐름 참고 이미지</a:t>
            </a:r>
          </a:p>
          <a:p>
            <a:pPr>
              <a:spcAft>
                <a:spcPts val="800"/>
              </a:spcAft>
              <a:defRPr sz="1700" b="1">
                <a:solidFill>
                  <a:srgbClr val="182B49"/>
                </a:solidFill>
                <a:latin typeface="Arial"/>
              </a:defRPr>
            </a:pPr>
            <a:r>
              <a:t>종합 해석</a:t>
            </a:r>
          </a:p>
          <a:p>
            <a:pPr lvl="1">
              <a:spcAft>
                <a:spcPts val="400"/>
              </a:spcAft>
              <a:defRPr sz="1500">
                <a:solidFill>
                  <a:srgbClr val="586069"/>
                </a:solidFill>
                <a:latin typeface="Arial"/>
              </a:defRPr>
            </a:pPr>
            <a:r>
              <a:t>현재 구현 우선순위는 HTTP v6.0 + UI API v2.0 조합이 가장 높음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2B49"/>
                </a:solidFill>
                <a:latin typeface="Arial"/>
              </a:rPr>
              <a:t>2. HTTP 백엔드 연동 문서의 핵심 규칙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7899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86069"/>
                </a:solidFill>
                <a:latin typeface="Arial"/>
              </a:rPr>
              <a:t>장치가 서버와 통신할 때 따라야 하는 기본 동작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0704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82B49"/>
                </a:solidFill>
                <a:latin typeface="Arial"/>
              </a:defRPr>
            </a:pPr>
            <a:r>
              <a:t>전송 스택</a:t>
            </a:r>
          </a:p>
          <a:p>
            <a:pPr lvl="1">
              <a:spcAft>
                <a:spcPts val="400"/>
              </a:spcAft>
              <a:defRPr sz="1600">
                <a:solidFill>
                  <a:srgbClr val="586069"/>
                </a:solidFill>
                <a:latin typeface="Arial"/>
              </a:defRPr>
            </a:pPr>
            <a:r>
              <a:t>HTTP/1.1 기반, gzip 압축 사용, TLS 1.2/1.3 지원</a:t>
            </a:r>
          </a:p>
          <a:p>
            <a:pPr lvl="1">
              <a:spcAft>
                <a:spcPts val="400"/>
              </a:spcAft>
              <a:defRPr sz="1600">
                <a:solidFill>
                  <a:srgbClr val="586069"/>
                </a:solidFill>
                <a:latin typeface="Arial"/>
              </a:defRPr>
            </a:pPr>
            <a:r>
              <a:t>서버가 가능하면 HTTP/2 우선 사용 권고</a:t>
            </a:r>
          </a:p>
          <a:p>
            <a:pPr>
              <a:spcAft>
                <a:spcPts val="800"/>
              </a:spcAft>
              <a:defRPr sz="1800" b="1">
                <a:solidFill>
                  <a:srgbClr val="182B49"/>
                </a:solidFill>
                <a:latin typeface="Arial"/>
              </a:defRPr>
            </a:pPr>
            <a:r>
              <a:t>세션/연결 정책</a:t>
            </a:r>
          </a:p>
          <a:p>
            <a:pPr lvl="1">
              <a:spcAft>
                <a:spcPts val="400"/>
              </a:spcAft>
              <a:defRPr sz="1600">
                <a:solidFill>
                  <a:srgbClr val="586069"/>
                </a:solidFill>
                <a:latin typeface="Arial"/>
              </a:defRPr>
            </a:pPr>
            <a:r>
              <a:t>장치 1대당 서버와 단일 HTTP 연결 유지 권장</a:t>
            </a:r>
          </a:p>
          <a:p>
            <a:pPr lvl="1">
              <a:spcAft>
                <a:spcPts val="400"/>
              </a:spcAft>
              <a:defRPr sz="1600">
                <a:solidFill>
                  <a:srgbClr val="586069"/>
                </a:solidFill>
                <a:latin typeface="Arial"/>
              </a:defRPr>
            </a:pPr>
            <a:r>
              <a:t>Keep-Alive 응답 이후 필요한 작업이 끝날 때까지 연결 유지</a:t>
            </a:r>
          </a:p>
          <a:p>
            <a:pPr>
              <a:spcAft>
                <a:spcPts val="800"/>
              </a:spcAft>
              <a:defRPr sz="1800" b="1">
                <a:solidFill>
                  <a:srgbClr val="182B49"/>
                </a:solidFill>
                <a:latin typeface="Arial"/>
              </a:defRPr>
            </a:pPr>
            <a:r>
              <a:t>Heartbeat 규칙</a:t>
            </a:r>
          </a:p>
          <a:p>
            <a:pPr lvl="1">
              <a:spcAft>
                <a:spcPts val="400"/>
              </a:spcAft>
              <a:defRPr sz="1600">
                <a:solidFill>
                  <a:srgbClr val="586069"/>
                </a:solidFill>
                <a:latin typeface="Arial"/>
              </a:defRPr>
            </a:pPr>
            <a:r>
              <a:t>기본 주기 15초</a:t>
            </a:r>
          </a:p>
          <a:p>
            <a:pPr lvl="1">
              <a:spcAft>
                <a:spcPts val="400"/>
              </a:spcAft>
              <a:defRPr sz="1600">
                <a:solidFill>
                  <a:srgbClr val="586069"/>
                </a:solidFill>
                <a:latin typeface="Arial"/>
              </a:defRPr>
            </a:pPr>
            <a:r>
              <a:t>두 Heartbeat 사이에 syncParameter &gt; Remote &gt; deletePeople &gt; addPeople 순으로 처리</a:t>
            </a:r>
          </a:p>
          <a:p>
            <a:pPr>
              <a:spcAft>
                <a:spcPts val="800"/>
              </a:spcAft>
              <a:defRPr sz="1800" b="1">
                <a:solidFill>
                  <a:srgbClr val="182B49"/>
                </a:solidFill>
                <a:latin typeface="Arial"/>
              </a:defRPr>
            </a:pPr>
            <a:r>
              <a:t>후속 처리</a:t>
            </a:r>
          </a:p>
          <a:p>
            <a:pPr lvl="1">
              <a:spcAft>
                <a:spcPts val="400"/>
              </a:spcAft>
              <a:defRPr sz="1600">
                <a:solidFill>
                  <a:srgbClr val="586069"/>
                </a:solidFill>
                <a:latin typeface="Arial"/>
              </a:defRPr>
            </a:pPr>
            <a:r>
              <a:t>작업이 끝나면 미업로드 출입/인식 기록을 서버로 전송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2B49"/>
                </a:solidFill>
                <a:latin typeface="Arial"/>
              </a:rPr>
              <a:t>3. 주요 서버 API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7899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86069"/>
                </a:solidFill>
                <a:latin typeface="Arial"/>
              </a:rPr>
              <a:t>시퀀스 다이어그램과 HTTP v6.0 문서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5303520" cy="4389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82B49"/>
                </a:solidFill>
                <a:latin typeface="Arial"/>
              </a:defRPr>
            </a:pPr>
            <a:r>
              <a:t>Device 영역</a:t>
            </a:r>
          </a:p>
          <a:p>
            <a:pPr lvl="1">
              <a:spcAft>
                <a:spcPts val="400"/>
              </a:spcAft>
              <a:defRPr sz="1500">
                <a:solidFill>
                  <a:srgbClr val="586069"/>
                </a:solidFill>
                <a:latin typeface="Arial"/>
              </a:defRPr>
            </a:pPr>
            <a:r>
              <a:t>/Device/Keepalive : 상태 점검 + 다음 작업 지시 수신</a:t>
            </a:r>
          </a:p>
          <a:p>
            <a:pPr lvl="1">
              <a:spcAft>
                <a:spcPts val="400"/>
              </a:spcAft>
              <a:defRPr sz="1500">
                <a:solidFill>
                  <a:srgbClr val="586069"/>
                </a:solidFill>
                <a:latin typeface="Arial"/>
              </a:defRPr>
            </a:pPr>
            <a:r>
              <a:t>/Device/DownloadWorkSetting : 서버가 최신 설정 전달</a:t>
            </a:r>
          </a:p>
          <a:p>
            <a:pPr lvl="1">
              <a:spcAft>
                <a:spcPts val="400"/>
              </a:spcAft>
              <a:defRPr sz="1500">
                <a:solidFill>
                  <a:srgbClr val="586069"/>
                </a:solidFill>
                <a:latin typeface="Arial"/>
              </a:defRPr>
            </a:pPr>
            <a:r>
              <a:t>/Device/UploadWorkSetting : 단말이 현재 설정 업로드</a:t>
            </a:r>
          </a:p>
          <a:p>
            <a:pPr lvl="1">
              <a:spcAft>
                <a:spcPts val="400"/>
              </a:spcAft>
              <a:defRPr sz="1500">
                <a:solidFill>
                  <a:srgbClr val="586069"/>
                </a:solidFill>
                <a:latin typeface="Arial"/>
              </a:defRPr>
            </a:pPr>
            <a:r>
              <a:t>/Device/RemoteCommand : 문 열기/원격 작업/스냅샷 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80760" y="1600200"/>
            <a:ext cx="5394960" cy="4389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82B49"/>
                </a:solidFill>
                <a:latin typeface="Arial"/>
              </a:defRPr>
            </a:pPr>
            <a:r>
              <a:t>People / Record 영역</a:t>
            </a:r>
          </a:p>
          <a:p>
            <a:pPr lvl="1">
              <a:spcAft>
                <a:spcPts val="400"/>
              </a:spcAft>
              <a:defRPr sz="1500">
                <a:solidFill>
                  <a:srgbClr val="586069"/>
                </a:solidFill>
                <a:latin typeface="Arial"/>
              </a:defRPr>
            </a:pPr>
            <a:r>
              <a:t>/People/DownloadPeopleList / Result : 권한 대상 다운로드 + 결과 회신</a:t>
            </a:r>
          </a:p>
          <a:p>
            <a:pPr lvl="1">
              <a:spcAft>
                <a:spcPts val="400"/>
              </a:spcAft>
              <a:defRPr sz="1500">
                <a:solidFill>
                  <a:srgbClr val="586069"/>
                </a:solidFill>
                <a:latin typeface="Arial"/>
              </a:defRPr>
            </a:pPr>
            <a:r>
              <a:t>/People/DeletePeopleList / Result : 삭제 대상 다운로드 + 결과 회신</a:t>
            </a:r>
          </a:p>
          <a:p>
            <a:pPr lvl="1">
              <a:spcAft>
                <a:spcPts val="400"/>
              </a:spcAft>
              <a:defRPr sz="1500">
                <a:solidFill>
                  <a:srgbClr val="586069"/>
                </a:solidFill>
                <a:latin typeface="Arial"/>
              </a:defRPr>
            </a:pPr>
            <a:r>
              <a:t>/People/PushPeople : 단말 인원 정보를 서버로 업로드</a:t>
            </a:r>
          </a:p>
          <a:p>
            <a:pPr lvl="1">
              <a:spcAft>
                <a:spcPts val="400"/>
              </a:spcAft>
              <a:defRPr sz="1500">
                <a:solidFill>
                  <a:srgbClr val="586069"/>
                </a:solidFill>
                <a:latin typeface="Arial"/>
              </a:defRPr>
            </a:pPr>
            <a:r>
              <a:t>/Record/UploadIdentifyRecord : 출입/식별 기록 업로드</a:t>
            </a:r>
          </a:p>
          <a:p>
            <a:pPr lvl="1">
              <a:spcAft>
                <a:spcPts val="400"/>
              </a:spcAft>
              <a:defRPr sz="1500">
                <a:solidFill>
                  <a:srgbClr val="586069"/>
                </a:solidFill>
                <a:latin typeface="Arial"/>
              </a:defRPr>
            </a:pPr>
            <a:r>
              <a:t>/Record/UploadSystemRecord : 시스템 이벤트 업로드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2B49"/>
                </a:solidFill>
                <a:latin typeface="Arial"/>
              </a:rPr>
              <a:t>4. UI 브라우저용 HTTP API 문서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7899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86069"/>
                </a:solidFill>
                <a:latin typeface="Arial"/>
              </a:rPr>
              <a:t>장치 관리 콘솔 또는 내부 웹 UI 개발 시 참고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07040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82B49"/>
                </a:solidFill>
                <a:latin typeface="Arial"/>
              </a:defRPr>
            </a:pPr>
            <a:r>
              <a:t>공통 응답 포맷</a:t>
            </a:r>
          </a:p>
          <a:p>
            <a:pPr lvl="1">
              <a:spcAft>
                <a:spcPts val="400"/>
              </a:spcAft>
              <a:defRPr sz="1600">
                <a:solidFill>
                  <a:srgbClr val="586069"/>
                </a:solidFill>
                <a:latin typeface="Arial"/>
              </a:defRPr>
            </a:pPr>
            <a:r>
              <a:t>result / content / errCode / error 구조를 공통 사용</a:t>
            </a:r>
          </a:p>
          <a:p>
            <a:pPr>
              <a:spcAft>
                <a:spcPts val="800"/>
              </a:spcAft>
              <a:defRPr sz="1800" b="1">
                <a:solidFill>
                  <a:srgbClr val="182B49"/>
                </a:solidFill>
                <a:latin typeface="Arial"/>
              </a:defRPr>
            </a:pPr>
            <a:r>
              <a:t>인증/세션</a:t>
            </a:r>
          </a:p>
          <a:p>
            <a:pPr lvl="1">
              <a:spcAft>
                <a:spcPts val="400"/>
              </a:spcAft>
              <a:defRPr sz="1600">
                <a:solidFill>
                  <a:srgbClr val="586069"/>
                </a:solidFill>
                <a:latin typeface="Arial"/>
              </a:defRPr>
            </a:pPr>
            <a:r>
              <a:t>/api/User/Login, Logout, CheckLoginToken, TokenExtension 제공</a:t>
            </a:r>
          </a:p>
          <a:p>
            <a:pPr lvl="1">
              <a:spcAft>
                <a:spcPts val="400"/>
              </a:spcAft>
              <a:defRPr sz="1600">
                <a:solidFill>
                  <a:srgbClr val="586069"/>
                </a:solidFill>
                <a:latin typeface="Arial"/>
              </a:defRPr>
            </a:pPr>
            <a:r>
              <a:t>로그인 토큰 유효기간 24시간, 비밀번호는 salt 기반 MD5 해시 사용</a:t>
            </a:r>
          </a:p>
          <a:p>
            <a:pPr>
              <a:spcAft>
                <a:spcPts val="800"/>
              </a:spcAft>
              <a:defRPr sz="1800" b="1">
                <a:solidFill>
                  <a:srgbClr val="182B49"/>
                </a:solidFill>
                <a:latin typeface="Arial"/>
              </a:defRPr>
            </a:pPr>
            <a:r>
              <a:t>장치 관리</a:t>
            </a:r>
          </a:p>
          <a:p>
            <a:pPr lvl="1">
              <a:spcAft>
                <a:spcPts val="400"/>
              </a:spcAft>
              <a:defRPr sz="1600">
                <a:solidFill>
                  <a:srgbClr val="586069"/>
                </a:solidFill>
                <a:latin typeface="Arial"/>
              </a:defRPr>
            </a:pPr>
            <a:r>
              <a:t>/api/Device/GetDetail, UpdateParameter, Remote, UploadSoftware 지원</a:t>
            </a:r>
          </a:p>
          <a:p>
            <a:pPr>
              <a:spcAft>
                <a:spcPts val="800"/>
              </a:spcAft>
              <a:defRPr sz="1800" b="1">
                <a:solidFill>
                  <a:srgbClr val="182B49"/>
                </a:solidFill>
                <a:latin typeface="Arial"/>
              </a:defRPr>
            </a:pPr>
            <a:r>
              <a:t>인원/부서/기록</a:t>
            </a:r>
          </a:p>
          <a:p>
            <a:pPr lvl="1">
              <a:spcAft>
                <a:spcPts val="400"/>
              </a:spcAft>
              <a:defRPr sz="1600">
                <a:solidFill>
                  <a:srgbClr val="586069"/>
                </a:solidFill>
                <a:latin typeface="Arial"/>
              </a:defRPr>
            </a:pPr>
            <a:r>
              <a:t>/api/People/*, /api/Department/*, /api/Record/* 형태로 조회/등록/삭제 API 제공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2B49"/>
                </a:solidFill>
                <a:latin typeface="Arial"/>
              </a:rPr>
              <a:t>5. HTTP 기반 통신 구현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7899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86069"/>
                </a:solidFill>
                <a:latin typeface="Arial"/>
              </a:rPr>
              <a:t>실제 서버 측 구현 시 권장하는 구성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530352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82B49"/>
                </a:solidFill>
                <a:latin typeface="Arial"/>
              </a:defRPr>
            </a:pPr>
            <a:r>
              <a:t>1) 수신 계층</a:t>
            </a:r>
          </a:p>
          <a:p>
            <a:pPr lvl="1">
              <a:spcAft>
                <a:spcPts val="400"/>
              </a:spcAft>
              <a:defRPr sz="1500">
                <a:solidFill>
                  <a:srgbClr val="586069"/>
                </a:solidFill>
                <a:latin typeface="Arial"/>
              </a:defRPr>
            </a:pPr>
            <a:r>
              <a:t>장치용 REST API를 Device / People / Record 도메인으로 분리</a:t>
            </a:r>
          </a:p>
          <a:p>
            <a:pPr lvl="1">
              <a:spcAft>
                <a:spcPts val="400"/>
              </a:spcAft>
              <a:defRPr sz="1500">
                <a:solidFill>
                  <a:srgbClr val="586069"/>
                </a:solidFill>
                <a:latin typeface="Arial"/>
              </a:defRPr>
            </a:pPr>
            <a:r>
              <a:t>SN(장치번호) 기준 인증/라우팅 처리</a:t>
            </a:r>
          </a:p>
          <a:p>
            <a:pPr>
              <a:spcAft>
                <a:spcPts val="800"/>
              </a:spcAft>
              <a:defRPr sz="1700" b="1">
                <a:solidFill>
                  <a:srgbClr val="182B49"/>
                </a:solidFill>
                <a:latin typeface="Arial"/>
              </a:defRPr>
            </a:pPr>
            <a:r>
              <a:t>2) 명령 오케스트레이션</a:t>
            </a:r>
          </a:p>
          <a:p>
            <a:pPr lvl="1">
              <a:spcAft>
                <a:spcPts val="400"/>
              </a:spcAft>
              <a:defRPr sz="1500">
                <a:solidFill>
                  <a:srgbClr val="586069"/>
                </a:solidFill>
                <a:latin typeface="Arial"/>
              </a:defRPr>
            </a:pPr>
            <a:r>
              <a:t>Heartbeat 응답에서 다음 작업 플래그를 계산</a:t>
            </a:r>
          </a:p>
          <a:p>
            <a:pPr lvl="1">
              <a:spcAft>
                <a:spcPts val="400"/>
              </a:spcAft>
              <a:defRPr sz="1500">
                <a:solidFill>
                  <a:srgbClr val="586069"/>
                </a:solidFill>
                <a:latin typeface="Arial"/>
              </a:defRPr>
            </a:pPr>
            <a:r>
              <a:t>우선순위를 문서 규칙대로 적용</a:t>
            </a:r>
          </a:p>
          <a:p>
            <a:pPr>
              <a:spcAft>
                <a:spcPts val="800"/>
              </a:spcAft>
              <a:defRPr sz="1700" b="1">
                <a:solidFill>
                  <a:srgbClr val="182B49"/>
                </a:solidFill>
                <a:latin typeface="Arial"/>
              </a:defRPr>
            </a:pPr>
            <a:r>
              <a:t>3) 데이터 계층</a:t>
            </a:r>
          </a:p>
          <a:p>
            <a:pPr lvl="1">
              <a:spcAft>
                <a:spcPts val="400"/>
              </a:spcAft>
              <a:defRPr sz="1500">
                <a:solidFill>
                  <a:srgbClr val="586069"/>
                </a:solidFill>
                <a:latin typeface="Arial"/>
              </a:defRPr>
            </a:pPr>
            <a:r>
              <a:t>장치 설정, 사용자 권한, 이벤트 기록, 원격 명령 큐 저장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80760" y="1554480"/>
            <a:ext cx="530352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82B49"/>
                </a:solidFill>
                <a:latin typeface="Arial"/>
              </a:defRPr>
            </a:pPr>
            <a:r>
              <a:t>4) 비동기 처리</a:t>
            </a:r>
          </a:p>
          <a:p>
            <a:pPr lvl="1">
              <a:spcAft>
                <a:spcPts val="400"/>
              </a:spcAft>
              <a:defRPr sz="1500">
                <a:solidFill>
                  <a:srgbClr val="586069"/>
                </a:solidFill>
                <a:latin typeface="Arial"/>
              </a:defRPr>
            </a:pPr>
            <a:r>
              <a:t>인원 대량 배포, 스냅샷 저장, 기록 적재는 큐/워커로 분리</a:t>
            </a:r>
          </a:p>
          <a:p>
            <a:pPr>
              <a:spcAft>
                <a:spcPts val="800"/>
              </a:spcAft>
              <a:defRPr sz="1700" b="1">
                <a:solidFill>
                  <a:srgbClr val="182B49"/>
                </a:solidFill>
                <a:latin typeface="Arial"/>
              </a:defRPr>
            </a:pPr>
            <a:r>
              <a:t>5) 파일/압축 처리</a:t>
            </a:r>
          </a:p>
          <a:p>
            <a:pPr lvl="1">
              <a:spcAft>
                <a:spcPts val="400"/>
              </a:spcAft>
              <a:defRPr sz="1500">
                <a:solidFill>
                  <a:srgbClr val="586069"/>
                </a:solidFill>
                <a:latin typeface="Arial"/>
              </a:defRPr>
            </a:pPr>
            <a:r>
              <a:t>PushPeople와 Snapshoot는 multipart/form-data 처리</a:t>
            </a:r>
          </a:p>
          <a:p>
            <a:pPr lvl="1">
              <a:spcAft>
                <a:spcPts val="400"/>
              </a:spcAft>
              <a:defRPr sz="1500">
                <a:solidFill>
                  <a:srgbClr val="586069"/>
                </a:solidFill>
                <a:latin typeface="Arial"/>
              </a:defRPr>
            </a:pPr>
            <a:r>
              <a:t>Detail JSON은 gzip 압축/해제 지원</a:t>
            </a:r>
          </a:p>
          <a:p>
            <a:pPr>
              <a:spcAft>
                <a:spcPts val="800"/>
              </a:spcAft>
              <a:defRPr sz="1700" b="1">
                <a:solidFill>
                  <a:srgbClr val="182B49"/>
                </a:solidFill>
                <a:latin typeface="Arial"/>
              </a:defRPr>
            </a:pPr>
            <a:r>
              <a:t>6) 운영 관측성</a:t>
            </a:r>
          </a:p>
          <a:p>
            <a:pPr lvl="1">
              <a:spcAft>
                <a:spcPts val="400"/>
              </a:spcAft>
              <a:defRPr sz="1500">
                <a:solidFill>
                  <a:srgbClr val="586069"/>
                </a:solidFill>
                <a:latin typeface="Arial"/>
              </a:defRPr>
            </a:pPr>
            <a:r>
              <a:t>장치별 heartbeat 시각, 마지막 명령, 실패 횟수, 미전송 기록량 모니터링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2B49"/>
                </a:solidFill>
                <a:latin typeface="Arial"/>
              </a:rPr>
              <a:t>6. 구현 순서 제안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7899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86069"/>
                </a:solidFill>
                <a:latin typeface="Arial"/>
              </a:rPr>
              <a:t>HTTP 연동을 빠르게 안정화하는 현실적인 단계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07040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82B49"/>
                </a:solidFill>
                <a:latin typeface="Arial"/>
              </a:defRPr>
            </a:pPr>
            <a:r>
              <a:t>1단계: 최소 연동</a:t>
            </a:r>
          </a:p>
          <a:p>
            <a:pPr lvl="1">
              <a:spcAft>
                <a:spcPts val="400"/>
              </a:spcAft>
              <a:defRPr sz="1600">
                <a:solidFill>
                  <a:srgbClr val="586069"/>
                </a:solidFill>
                <a:latin typeface="Arial"/>
              </a:defRPr>
            </a:pPr>
            <a:r>
              <a:t>Keepalive, DownloadWorkSetting, UploadWorkSetting, UploadIdentifyRecord부터 구현</a:t>
            </a:r>
          </a:p>
          <a:p>
            <a:pPr>
              <a:spcAft>
                <a:spcPts val="800"/>
              </a:spcAft>
              <a:defRPr sz="1800" b="1">
                <a:solidFill>
                  <a:srgbClr val="182B49"/>
                </a:solidFill>
                <a:latin typeface="Arial"/>
              </a:defRPr>
            </a:pPr>
            <a:r>
              <a:t>2단계: 운영 기능</a:t>
            </a:r>
          </a:p>
          <a:p>
            <a:pPr lvl="1">
              <a:spcAft>
                <a:spcPts val="400"/>
              </a:spcAft>
              <a:defRPr sz="1600">
                <a:solidFill>
                  <a:srgbClr val="586069"/>
                </a:solidFill>
                <a:latin typeface="Arial"/>
              </a:defRPr>
            </a:pPr>
            <a:r>
              <a:t>RemoteCommand, 사람 추가/삭제, 결과 회신 API 확장</a:t>
            </a:r>
          </a:p>
          <a:p>
            <a:pPr>
              <a:spcAft>
                <a:spcPts val="800"/>
              </a:spcAft>
              <a:defRPr sz="1800" b="1">
                <a:solidFill>
                  <a:srgbClr val="182B49"/>
                </a:solidFill>
                <a:latin typeface="Arial"/>
              </a:defRPr>
            </a:pPr>
            <a:r>
              <a:t>3단계: 관리 UI 연계</a:t>
            </a:r>
          </a:p>
          <a:p>
            <a:pPr lvl="1">
              <a:spcAft>
                <a:spcPts val="400"/>
              </a:spcAft>
              <a:defRPr sz="1600">
                <a:solidFill>
                  <a:srgbClr val="586069"/>
                </a:solidFill>
                <a:latin typeface="Arial"/>
              </a:defRPr>
            </a:pPr>
            <a:r>
              <a:t>UI 문서의 /api/User/*, /api/Device/*, /api/People/*를 관리자 화면과 연결</a:t>
            </a:r>
          </a:p>
          <a:p>
            <a:pPr>
              <a:spcAft>
                <a:spcPts val="800"/>
              </a:spcAft>
              <a:defRPr sz="1800" b="1">
                <a:solidFill>
                  <a:srgbClr val="182B49"/>
                </a:solidFill>
                <a:latin typeface="Arial"/>
              </a:defRPr>
            </a:pPr>
            <a:r>
              <a:t>4단계: 고도화</a:t>
            </a:r>
          </a:p>
          <a:p>
            <a:pPr lvl="1">
              <a:spcAft>
                <a:spcPts val="400"/>
              </a:spcAft>
              <a:defRPr sz="1600">
                <a:solidFill>
                  <a:srgbClr val="586069"/>
                </a:solidFill>
                <a:latin typeface="Arial"/>
              </a:defRPr>
            </a:pPr>
            <a:r>
              <a:t>PushAllPeople, QueryPeople, RegisterIdentifyTicket, Snapshoot, 펌웨어 업로드 추가</a:t>
            </a:r>
          </a:p>
          <a:p>
            <a:pPr>
              <a:spcAft>
                <a:spcPts val="800"/>
              </a:spcAft>
              <a:defRPr sz="1800" b="1">
                <a:solidFill>
                  <a:srgbClr val="182B49"/>
                </a:solidFill>
                <a:latin typeface="Arial"/>
              </a:defRPr>
            </a:pPr>
            <a:r>
              <a:t>5단계: 장애 대응</a:t>
            </a:r>
          </a:p>
          <a:p>
            <a:pPr lvl="1">
              <a:spcAft>
                <a:spcPts val="400"/>
              </a:spcAft>
              <a:defRPr sz="1600">
                <a:solidFill>
                  <a:srgbClr val="586069"/>
                </a:solidFill>
                <a:latin typeface="Arial"/>
              </a:defRPr>
            </a:pPr>
            <a:r>
              <a:t>네트워크 실패 시 sleep/retry, 미전송 기록 재시도, 장치별 idempotency 보장</a:t>
            </a:r>
          </a:p>
        </p:txBody>
      </p:sp>
      <p:pic>
        <p:nvPicPr>
          <p:cNvPr id="6" name="Picture 5" descr="http Push People Schematic 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3474720"/>
            <a:ext cx="292608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2B49"/>
                </a:solidFill>
                <a:latin typeface="Arial"/>
              </a:rPr>
              <a:t>7. 구현 시 체크포인트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7899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86069"/>
                </a:solidFill>
                <a:latin typeface="Arial"/>
              </a:rPr>
              <a:t>보안·성능·호환성 관점에서 꼭 확인할 항목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82B49"/>
                </a:solidFill>
                <a:latin typeface="Arial"/>
              </a:defRPr>
            </a:pPr>
            <a:r>
              <a:t>보안</a:t>
            </a:r>
          </a:p>
          <a:p>
            <a:pPr lvl="1">
              <a:spcAft>
                <a:spcPts val="400"/>
              </a:spcAft>
              <a:defRPr sz="1600">
                <a:solidFill>
                  <a:srgbClr val="586069"/>
                </a:solidFill>
                <a:latin typeface="Arial"/>
              </a:defRPr>
            </a:pPr>
            <a:r>
              <a:t>TLS 1.2 이상 적용, 장치 식별자 위조 방지, 관리자 로그인 토큰 검증</a:t>
            </a:r>
          </a:p>
          <a:p>
            <a:pPr>
              <a:spcAft>
                <a:spcPts val="800"/>
              </a:spcAft>
              <a:defRPr sz="1800" b="1">
                <a:solidFill>
                  <a:srgbClr val="182B49"/>
                </a:solidFill>
                <a:latin typeface="Arial"/>
              </a:defRPr>
            </a:pPr>
            <a:r>
              <a:t>성능</a:t>
            </a:r>
          </a:p>
          <a:p>
            <a:pPr lvl="1">
              <a:spcAft>
                <a:spcPts val="400"/>
              </a:spcAft>
              <a:defRPr sz="1600">
                <a:solidFill>
                  <a:srgbClr val="586069"/>
                </a:solidFill>
                <a:latin typeface="Arial"/>
              </a:defRPr>
            </a:pPr>
            <a:r>
              <a:t>15초 heartbeat 안에 처리 가능한 작업량 산정, 대량 인원 배포는 배치화</a:t>
            </a:r>
          </a:p>
          <a:p>
            <a:pPr>
              <a:spcAft>
                <a:spcPts val="800"/>
              </a:spcAft>
              <a:defRPr sz="1800" b="1">
                <a:solidFill>
                  <a:srgbClr val="182B49"/>
                </a:solidFill>
                <a:latin typeface="Arial"/>
              </a:defRPr>
            </a:pPr>
            <a:r>
              <a:t>신뢰성</a:t>
            </a:r>
          </a:p>
          <a:p>
            <a:pPr lvl="1">
              <a:spcAft>
                <a:spcPts val="400"/>
              </a:spcAft>
              <a:defRPr sz="1600">
                <a:solidFill>
                  <a:srgbClr val="586069"/>
                </a:solidFill>
                <a:latin typeface="Arial"/>
              </a:defRPr>
            </a:pPr>
            <a:r>
              <a:t>결과 회신 API와 재시도 정책을 묶어 중복 처리에 안전하게 설계</a:t>
            </a:r>
          </a:p>
          <a:p>
            <a:pPr>
              <a:spcAft>
                <a:spcPts val="800"/>
              </a:spcAft>
              <a:defRPr sz="1800" b="1">
                <a:solidFill>
                  <a:srgbClr val="182B49"/>
                </a:solidFill>
                <a:latin typeface="Arial"/>
              </a:defRPr>
            </a:pPr>
            <a:r>
              <a:t>호환성</a:t>
            </a:r>
          </a:p>
          <a:p>
            <a:pPr lvl="1">
              <a:spcAft>
                <a:spcPts val="400"/>
              </a:spcAft>
              <a:defRPr sz="1600">
                <a:solidFill>
                  <a:srgbClr val="586069"/>
                </a:solidFill>
                <a:latin typeface="Arial"/>
              </a:defRPr>
            </a:pPr>
            <a:r>
              <a:t>문서상 HTTP/1.1 기준으로 먼저 맞추고 필요 시 HTTP/2 최적화</a:t>
            </a:r>
          </a:p>
          <a:p>
            <a:pPr>
              <a:spcAft>
                <a:spcPts val="800"/>
              </a:spcAft>
              <a:defRPr sz="1800" b="1">
                <a:solidFill>
                  <a:srgbClr val="182B49"/>
                </a:solidFill>
                <a:latin typeface="Arial"/>
              </a:defRPr>
            </a:pPr>
            <a:r>
              <a:t>테스트</a:t>
            </a:r>
          </a:p>
          <a:p>
            <a:pPr lvl="1">
              <a:spcAft>
                <a:spcPts val="400"/>
              </a:spcAft>
              <a:defRPr sz="1600">
                <a:solidFill>
                  <a:srgbClr val="586069"/>
                </a:solidFill>
                <a:latin typeface="Arial"/>
              </a:defRPr>
            </a:pPr>
            <a:r>
              <a:t>정상 흐름, 서버 미응답, 권한 오류, 압축 해제 실패, 대량 인원/기록 업로드 시나리오 검증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