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7FF"/>
    <a:srgbClr val="BFDFEB"/>
    <a:srgbClr val="EDF6F9"/>
    <a:srgbClr val="C5E3ED"/>
    <a:srgbClr val="CFE9F1"/>
    <a:srgbClr val="E2F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02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3CAC3-1157-4DB8-B346-11C6778CF7CE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1295C-2BB2-4F43-975A-0FF6552004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717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1295C-2BB2-4F43-975A-0FF65520045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846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B097FBC-3BF1-972D-1669-D785AA5B49A3}"/>
              </a:ext>
            </a:extLst>
          </p:cNvPr>
          <p:cNvSpPr/>
          <p:nvPr userDrawn="1"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0"/>
            <a:ext cx="164592" cy="9144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FFFFFF"/>
                </a:solidFill>
                <a:latin typeface="Tahoma"/>
              </a:rPr>
              <a:t>SmartLM</a:t>
            </a:r>
            <a:r>
              <a:rPr sz="3600" b="1" i="0" dirty="0">
                <a:solidFill>
                  <a:srgbClr val="FFFFFF"/>
                </a:solidFill>
                <a:latin typeface="Tahoma"/>
              </a:rPr>
              <a:t> SDK </a:t>
            </a:r>
            <a:r>
              <a:rPr sz="3600" b="1" i="0" dirty="0" err="1">
                <a:solidFill>
                  <a:srgbClr val="FFFFFF"/>
                </a:solidFill>
                <a:latin typeface="Tahoma"/>
              </a:rPr>
              <a:t>분석</a:t>
            </a:r>
            <a:endParaRPr sz="3600" b="1" i="0" dirty="0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880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DD7EE"/>
                </a:solidFill>
                <a:latin typeface="Tahoma"/>
              </a:rPr>
              <a:t>SmackBio 생체인식 디바이스 SDK – Repository 구조 및 S/W 개발 흐름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91440"/>
            <a:ext cx="102978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Tahoma"/>
              </a:rPr>
              <a:t>목차</a:t>
            </a:r>
            <a:endParaRPr sz="2200" b="1" i="0" dirty="0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" y="658367"/>
            <a:ext cx="5486400" cy="398417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01  Repository </a:t>
            </a:r>
            <a:r>
              <a:rPr kumimoji="0" lang="ko-KR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구조 개요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전체 디렉토리 구성 및 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 </a:t>
            </a: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유형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145742"/>
            <a:ext cx="5486400" cy="398417"/>
          </a:xfrm>
          <a:prstGeom prst="rect">
            <a:avLst/>
          </a:prstGeom>
          <a:solidFill>
            <a:srgbClr val="D9E8F5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02  SDK 20250611 </a:t>
            </a:r>
            <a:r>
              <a:rPr kumimoji="0" lang="ko-KR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구조 분석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 ActiveX / SBXPCDLL Native DLL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1633117"/>
            <a:ext cx="5486400" cy="398417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03  WebSocket SDK </a:t>
            </a:r>
            <a:r>
              <a:rPr kumimoji="0" lang="ko-KR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구조 분석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C# ASP.NET / PHP Workerman / Python Django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65760" y="2120492"/>
            <a:ext cx="5486400" cy="398417"/>
          </a:xfrm>
          <a:prstGeom prst="rect">
            <a:avLst/>
          </a:prstGeom>
          <a:solidFill>
            <a:srgbClr val="D9E8F5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04  </a:t>
            </a:r>
            <a:r>
              <a:rPr kumimoji="0" lang="ko-KR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지원 디바이스 모델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A30, A50, M30, M50, S100, S300/SB3600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2607867"/>
            <a:ext cx="5486400" cy="398417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05  </a:t>
            </a:r>
            <a:r>
              <a:rPr kumimoji="0" lang="ko-KR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핵심 </a:t>
            </a: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API </a:t>
            </a:r>
            <a:r>
              <a:rPr kumimoji="0" lang="ko-KR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분류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연결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</a:t>
            </a: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등록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</a:t>
            </a: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로그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</a:t>
            </a: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제어 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API </a:t>
            </a: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카탈로그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" y="3095242"/>
            <a:ext cx="5486400" cy="398417"/>
          </a:xfrm>
          <a:prstGeom prst="rect">
            <a:avLst/>
          </a:prstGeom>
          <a:solidFill>
            <a:srgbClr val="D9E8F5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06  </a:t>
            </a:r>
            <a:r>
              <a:rPr kumimoji="0" lang="ko-KR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통신 프로토콜 구조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XML </a:t>
            </a: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메시지 포맷 및 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</a:t>
            </a: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이벤트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3582617"/>
            <a:ext cx="5486400" cy="398417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07  </a:t>
            </a:r>
            <a:r>
              <a:rPr kumimoji="0" lang="ko-KR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아키텍처 다이어그램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Traditional SDK vs WebSocket SDK </a:t>
            </a: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흐름</a:t>
            </a:r>
            <a:endParaRPr sz="1200"/>
          </a:p>
        </p:txBody>
      </p:sp>
      <p:sp>
        <p:nvSpPr>
          <p:cNvPr id="21" name="Rectangle 20"/>
          <p:cNvSpPr/>
          <p:nvPr/>
        </p:nvSpPr>
        <p:spPr>
          <a:xfrm>
            <a:off x="365760" y="4069992"/>
            <a:ext cx="5486400" cy="398417"/>
          </a:xfrm>
          <a:prstGeom prst="rect">
            <a:avLst/>
          </a:prstGeom>
          <a:solidFill>
            <a:srgbClr val="D9E8F5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08  S/W </a:t>
            </a:r>
            <a:r>
              <a:rPr kumimoji="0" lang="ko-KR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개발 흐름 </a:t>
            </a: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– Traditional SDK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단계별 개발 가이드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5760" y="4557367"/>
            <a:ext cx="5486400" cy="398417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09  S/W </a:t>
            </a:r>
            <a:r>
              <a:rPr kumimoji="0" lang="ko-KR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개발 흐름 </a:t>
            </a: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– WebSocket SDK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C# / PHP / Python </a:t>
            </a: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서버 구축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" y="5044742"/>
            <a:ext cx="5486400" cy="398417"/>
          </a:xfrm>
          <a:prstGeom prst="rect">
            <a:avLst/>
          </a:prstGeom>
          <a:solidFill>
            <a:srgbClr val="D9E8F5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10  </a:t>
            </a:r>
            <a:r>
              <a:rPr kumimoji="0" lang="ko-KR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빠른 시작 체크리스트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플랫폼별 필수 준비 항목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5532119"/>
            <a:ext cx="5486400" cy="398417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11  </a:t>
            </a:r>
            <a:r>
              <a:rPr kumimoji="0" lang="ko-KR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결론 및 권장 사항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</a:t>
            </a:r>
            <a:r>
              <a:rPr kumimoji="0" lang="en-US" altLang="ko-KR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 </a:t>
            </a:r>
            <a:r>
              <a:rPr kumimoji="0" lang="ko-KR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선택 가이드라인</a:t>
            </a:r>
            <a:endParaRPr kumimoji="0" lang="ko-KR" altLang="en-US" sz="7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01  Repository 구조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486400" cy="5303520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📁  </a:t>
            </a:r>
            <a: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Repository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디렉토리 구조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SmartLM/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├─ SDK 20250611/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├─ SBXPC/          ← ActiveX OCX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소스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(COM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컴포넌트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├─ bin/             ←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컴파일된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DLL / OCX / LIB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│    ├─ SBXPCDLL.dll / SBXPCDLL64.dll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│    ├─ SBXPC.ocx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│    ├─ SBPCCOMM.dll / SBPCCOMM64.dll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│    └─ GEN_FONT.dll / GEN_FONT64.dll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├─ doc/             ← SBXPC Reference Manual.docx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└─ samples/         ←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다국어 샘플 프로젝트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     ├─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Sample_A30 / Sample_A50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     ├─ Sample_M30 / Sample_M50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     ├─ Sample_S100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     ├─ Sample_S300_SB3600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     └─ Sample_S300_SB3600_12digitsID_36AlphabetID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├─ WebSocketSDK 20250611/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├─ WebSocketSDK/    ← C# ASP.NET (SmackBio.WebSocketSDK)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├─ WebSocketSDK_7/  ←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레거시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.NET 7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버전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├─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WebSocketSDK_PHP/← PHP Workerman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서버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└─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WebSocketSDK_Python/ ← Python Django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서버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├─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BOWE_PC/              ← A3-8190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사용자 매뉴얼 및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PC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클라이언트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├─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Communication Protocols/ ← HTTP / MQTT / WebSocket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프로토콜 문서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├─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.NET / 2.JAVA    ←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언어별 샘플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│    └─ *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.pdf / *.md / *.html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└─ SmartLM_SDK_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분석보고서*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.pptx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35040" y="1097280"/>
            <a:ext cx="5943600" cy="2103120"/>
          </a:xfrm>
          <a:prstGeom prst="rect">
            <a:avLst/>
          </a:prstGeom>
          <a:solidFill>
            <a:srgbClr val="D9E8F5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🔑  핵심 특징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제품 목적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SmackBio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브랜드 생체인식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지문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얼굴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기기를 소프트웨어로 제어하기 위한 통합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유형  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①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Traditional (Serial / TCP-IP / P2P)
</a:t>
            </a:r>
            <a:r>
              <a:rPr lang="en-US" altLang="ko-KR" sz="1050" dirty="0">
                <a:solidFill>
                  <a:srgbClr val="1A1A1A"/>
                </a:solidFill>
                <a:latin typeface="Tahoma"/>
              </a:rPr>
              <a:t>		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② WebSocket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기반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클라우드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원격 서버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
              	③ HTTP Push (BOWE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A3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-8190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얼굴인식 단말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지원 언어 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C#,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VB.NET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Java, Delphi,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VB6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PHP (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Workerman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), Python (Django)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통신 방식 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XML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기반 메시지 프로토콜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직렬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TCP-IP / WebSocket / HTTP Push)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플랫폼    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Windows (Traditional) +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크로스플랫폼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(WebSocket / HTTP Push)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최신 버전 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 20250611  /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20250611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6035040" y="3337560"/>
            <a:ext cx="5943600" cy="1325880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📦 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유형별 주요 파일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Traditional SDK  →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SBXPCDLL.dll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/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SBXPCDLL64.dll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SBXPC.ocx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SDK   →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SmackBio.WebSocketSDK.dll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(C#),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Workerman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(PHP), Django (Python)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HTTP Push SDK   →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A3HttpListener.cs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(C#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HttpListener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기반 자체 서버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800600"/>
            <a:ext cx="5943600" cy="1600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💡 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선택 기준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로컬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Windows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환경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직렬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·TCP-IP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직접 제어  →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Traditional SDK (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SBXPC.ocx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클라우드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웹 서버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원격 실시간 모니터링     →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SDK (C# / PHP / Python)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BOWE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A3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-8190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얼굴인식 단말 연동           →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HTTP Push SDK (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A3HttpListener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9144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200" b="1" i="0" dirty="0">
                <a:solidFill>
                  <a:srgbClr val="FFFFFF"/>
                </a:solidFill>
                <a:latin typeface="Tahoma"/>
              </a:rPr>
              <a:t>02  SDK 20250611 </a:t>
            </a:r>
            <a:r>
              <a:rPr sz="2200" b="1" i="0" dirty="0" err="1">
                <a:solidFill>
                  <a:srgbClr val="FFFFFF"/>
                </a:solidFill>
                <a:latin typeface="Tahoma"/>
              </a:rPr>
              <a:t>구조</a:t>
            </a:r>
            <a:r>
              <a:rPr sz="2200" b="1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Tahoma"/>
              </a:rPr>
              <a:t>분석</a:t>
            </a:r>
            <a:r>
              <a:rPr lang="en-US" sz="2200" b="1" i="0" dirty="0">
                <a:solidFill>
                  <a:srgbClr val="FFFFFF"/>
                </a:solidFill>
                <a:latin typeface="Tahoma"/>
              </a:rPr>
              <a:t> 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전통적인 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Windows DLL / ActiveX 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기반 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25366"/>
            <a:ext cx="3703320" cy="4738036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(ActiveX / COM OCX)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COM/ActiveX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컴포넌트 형태의 컨트롤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VB6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Delphi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등 레거시 언어 지원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COM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이벤트로 디바이스 이벤트 수신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OnReceiveEventXML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이벤트 처리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SBXPC.ocx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등록 후 사용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regsvr32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주요 파일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SBXPC.ocx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ActiveX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컨트롤 바이너리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SBXPC.h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클래스 헤더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SBXPCCtrl.cpp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컨트롤 구현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SBXPC.idl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인터페이스 정의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dispids.h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Dispatch ID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상수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206240" y="825366"/>
            <a:ext cx="3703320" cy="4738036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(Native Win32 DLL)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C/C++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네이티브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DLL API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C#, Java, Delphi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등 직접 호출 가능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32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비트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SBXPCDLL.dll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/ 64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비트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SBXPCDLL64.dll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콜백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(Callback)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기반 비동기 이벤트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SBPCCOMM.dll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GEN_FONT.dll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의존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주요 파일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SBXPCDLL.dll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SBXPCDLL64.dll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DLL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바이너리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SBXPCDLL_API.h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C/C++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헤더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함수 선언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SBPCCOMM.dll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SBPCCOMM64.dll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통신 모듈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GEN_FONT.dll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GEN_FONT64.dll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폰트 모듈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datEnrollDat.mdb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등록 데이터 예시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825366"/>
            <a:ext cx="3703320" cy="4738036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samples/  (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다국어 샘플 프로젝트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Sample_A30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/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A50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소형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고급 지문인식기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Sample_M30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/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M50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멀티모달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인증기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Sample_S100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스마트 출입 단말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Sample_S300_SB3600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엔터프라이즈 단말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Sample_S300_SB3600_12digitsID_36AlphabetID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BigUser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ID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변형 샘플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각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Sample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폴더 내 언어별 하위 폴더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C#_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SBXPCDLL_Sample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C#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DllImport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C#_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SBXPCSample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: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C# ActiveX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VB.NET_SBXBPCSample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VB6_SBXPCSample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Java_SBXPCSample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Delphi_SBXPCDLL_Sample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/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Delphi_SBXPCSample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0040" y="5665430"/>
            <a:ext cx="1147572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빌드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Visual Studio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솔루션 열기 → 플랫폼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(x86/x64)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선택 →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Ctrl+Shift+B  │  OCX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등록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regsvr32 SBXPC.ocx  │ 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참고 문서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doc/SBXPC Reference Manual.docx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9144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Tahoma"/>
              </a:rPr>
              <a:t>03  WebSocket SDK </a:t>
            </a:r>
            <a:r>
              <a:rPr sz="2200" b="1" i="0" dirty="0" err="1">
                <a:solidFill>
                  <a:srgbClr val="FFFFFF"/>
                </a:solidFill>
                <a:latin typeface="Tahoma"/>
              </a:rPr>
              <a:t>구조</a:t>
            </a:r>
            <a:r>
              <a:rPr sz="2200" b="1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Tahoma"/>
              </a:rPr>
              <a:t>분석</a:t>
            </a:r>
            <a:r>
              <a:rPr lang="en-US" sz="2200" b="1" i="0" dirty="0">
                <a:solidFill>
                  <a:srgbClr val="FFFFFF"/>
                </a:solidFill>
                <a:latin typeface="Tahoma"/>
              </a:rPr>
              <a:t> 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클라우드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웹 환경에서 디바이스를 연결</a:t>
            </a:r>
            <a:endParaRPr sz="2200" b="1" i="0" dirty="0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97166" cy="457200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C# / </a:t>
            </a:r>
            <a:r>
              <a:rPr kumimoji="0" lang="en-US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ASP.NET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(</a:t>
            </a:r>
            <a:r>
              <a:rPr kumimoji="0" lang="en-US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Microsoft.Web.WebSockets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기반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SmackBio.WebSocketSDK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라이브러리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IDeviceLoginManager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인터페이스 구현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SBWebSocketHandler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핵심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핸들러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SessionRegistry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세션 관리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ASP.NET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Web Application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배포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주요 파일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SBWebSocketHandler.cs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 : 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핸들러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IDeviceLoginManager.cs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 :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인터페이스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SessionRegistry.cs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 :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세션 관리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/*.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cs :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명령 클래스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(30+)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DB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/ :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DB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레이어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WebSocketSDK.sln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 :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솔루션 파일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797166" cy="457200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PHP  (</a:t>
            </a:r>
            <a:r>
              <a:rPr kumimoji="0" lang="en-US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WebSocketSDK_PHP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/ </a:t>
            </a:r>
            <a:r>
              <a:rPr kumimoji="0" lang="en-US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Workerman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Workerman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WebSocket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서버 프레임워크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ws_server.php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 :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서버 구동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ws_connection.php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 :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연결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세션 관리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ws_dev_event.php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 :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이벤트 처리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PHP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웹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프론트엔드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포함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wwwroot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/)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실행 순서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①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0.download_workerman.bat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실행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(composer install)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②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config.inc.php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에서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DB/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포트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CloudID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설정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1.run_ws_server.bat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→ WebSocket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서버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④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2.run_web_server.bat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웹 서버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⑤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wwwroot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내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PHP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페이지 커스터마이징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143000"/>
            <a:ext cx="3797166" cy="457200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Python / Django  (</a:t>
            </a:r>
            <a:r>
              <a:rPr kumimoji="0" lang="en-US" altLang="ko-KR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WebSocketSDK_Python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Django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웹 프레임워크 기반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Django 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Channels :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지원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sdkdemoapp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/ :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앱 모듈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sdkdemoapp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/biz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/ :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비즈니스 로직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manage.py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 :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Django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관리 스크립트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2.run_web_app.bat</a:t>
            </a:r>
            <a:r>
              <a:rPr lang="en-US" altLang="ko-KR" sz="1200" dirty="0">
                <a:solidFill>
                  <a:srgbClr val="1A1A1A"/>
                </a:solidFill>
                <a:latin typeface="Tahoma"/>
              </a:rPr>
              <a:t>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실행 스크립트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REST API + WebSocket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혼용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주요 문서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Getting Started with Python Web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SDK.docx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WebSocket SDK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Protocol.docx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Sample for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Win7.docx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Sample for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Win8,10.docx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5886811"/>
            <a:ext cx="11569566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공통 프로토콜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디바이스 →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Server (XML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메시지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 │ 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이벤트 유형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Register · Login · TimeLog · AdminLog · KeepAlive ·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명령 응답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9144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200" b="1" i="0" dirty="0">
                <a:solidFill>
                  <a:srgbClr val="FFFFFF"/>
                </a:solidFill>
                <a:latin typeface="Tahoma"/>
              </a:rPr>
              <a:t>04  </a:t>
            </a:r>
            <a:r>
              <a:rPr sz="2200" b="1" i="0" dirty="0" err="1">
                <a:solidFill>
                  <a:srgbClr val="FFFFFF"/>
                </a:solidFill>
                <a:latin typeface="Tahoma"/>
              </a:rPr>
              <a:t>지원</a:t>
            </a:r>
            <a:r>
              <a:rPr sz="2200" b="1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Tahoma"/>
              </a:rPr>
              <a:t>디바이스</a:t>
            </a:r>
            <a:r>
              <a:rPr sz="2200" b="1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Tahoma"/>
              </a:rPr>
              <a:t>모델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SmackBio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디바이스 라인업 및 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 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지원 범위</a:t>
            </a:r>
            <a:endParaRPr sz="2200" b="1" i="0" dirty="0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" y="931244"/>
            <a:ext cx="1828800" cy="21945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" y="931244"/>
            <a:ext cx="1828800" cy="2194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 dirty="0" err="1">
                <a:solidFill>
                  <a:srgbClr val="1F497D"/>
                </a:solidFill>
                <a:latin typeface="Tahoma"/>
              </a:rPr>
              <a:t>A30</a:t>
            </a:r>
            <a:endParaRPr sz="1400" b="1" i="0" dirty="0">
              <a:solidFill>
                <a:srgbClr val="1F497D"/>
              </a:solidFill>
              <a:latin typeface="Tahoma"/>
            </a:endParaRPr>
          </a:p>
          <a:p>
            <a:pPr algn="l"/>
            <a:r>
              <a:rPr sz="1100" b="0" i="0" dirty="0" err="1">
                <a:solidFill>
                  <a:srgbClr val="0070C0"/>
                </a:solidFill>
                <a:latin typeface="Tahoma"/>
              </a:rPr>
              <a:t>소형</a:t>
            </a:r>
            <a:r>
              <a:rPr sz="1100" b="0" i="0" dirty="0">
                <a:solidFill>
                  <a:srgbClr val="0070C0"/>
                </a:solidFill>
                <a:latin typeface="Tahoma"/>
              </a:rPr>
              <a:t> </a:t>
            </a:r>
            <a:r>
              <a:rPr sz="1100" b="0" i="0" dirty="0" err="1">
                <a:solidFill>
                  <a:srgbClr val="0070C0"/>
                </a:solidFill>
                <a:latin typeface="Tahoma"/>
              </a:rPr>
              <a:t>지문인식기</a:t>
            </a:r>
            <a:endParaRPr sz="1100" b="0" i="0" dirty="0">
              <a:solidFill>
                <a:srgbClr val="0070C0"/>
              </a:solidFill>
              <a:latin typeface="Tahoma"/>
            </a:endParaRPr>
          </a:p>
          <a:p>
            <a:pPr algn="l"/>
            <a:endParaRPr sz="1100" b="0" i="0" dirty="0">
              <a:solidFill>
                <a:srgbClr val="0070C0"/>
              </a:solidFill>
              <a:latin typeface="Tahoma"/>
            </a:endParaRPr>
          </a:p>
          <a:p>
            <a:pPr algn="l"/>
            <a:r>
              <a:rPr sz="1000" b="0" i="0" dirty="0">
                <a:solidFill>
                  <a:srgbClr val="1A1A1A"/>
                </a:solidFill>
                <a:latin typeface="Tahoma"/>
              </a:rPr>
              <a:t>• </a:t>
            </a:r>
            <a:r>
              <a:rPr sz="1000" b="0" i="0" dirty="0" err="1">
                <a:solidFill>
                  <a:srgbClr val="1A1A1A"/>
                </a:solidFill>
                <a:latin typeface="Tahoma"/>
              </a:rPr>
              <a:t>지문</a:t>
            </a:r>
            <a:r>
              <a:rPr sz="1000" b="0" i="0" dirty="0">
                <a:solidFill>
                  <a:srgbClr val="1A1A1A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Tahoma"/>
              </a:rPr>
              <a:t>1:N</a:t>
            </a:r>
            <a:r>
              <a:rPr sz="1000" b="0" i="0" dirty="0">
                <a:solidFill>
                  <a:srgbClr val="1A1A1A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Tahoma"/>
              </a:rPr>
              <a:t>인증</a:t>
            </a:r>
            <a:r>
              <a:rPr sz="1000" b="0" i="0" dirty="0">
                <a:solidFill>
                  <a:srgbClr val="1A1A1A"/>
                </a:solidFill>
                <a:latin typeface="Tahoma"/>
              </a:rPr>
              <a:t>
• </a:t>
            </a:r>
            <a:r>
              <a:rPr sz="1000" b="0" i="0" dirty="0" err="1">
                <a:solidFill>
                  <a:srgbClr val="1A1A1A"/>
                </a:solidFill>
                <a:latin typeface="Tahoma"/>
              </a:rPr>
              <a:t>직렬</a:t>
            </a:r>
            <a:r>
              <a:rPr sz="1000" b="0" i="0" dirty="0">
                <a:solidFill>
                  <a:srgbClr val="1A1A1A"/>
                </a:solidFill>
                <a:latin typeface="Tahoma"/>
              </a:rPr>
              <a:t> / TCP-IP </a:t>
            </a:r>
            <a:r>
              <a:rPr sz="1000" b="0" i="0" dirty="0" err="1">
                <a:solidFill>
                  <a:srgbClr val="1A1A1A"/>
                </a:solidFill>
                <a:latin typeface="Tahoma"/>
              </a:rPr>
              <a:t>통신</a:t>
            </a:r>
            <a:r>
              <a:rPr sz="1000" b="0" i="0" dirty="0">
                <a:solidFill>
                  <a:srgbClr val="1A1A1A"/>
                </a:solidFill>
                <a:latin typeface="Tahoma"/>
              </a:rPr>
              <a:t>
• </a:t>
            </a:r>
            <a:r>
              <a:rPr sz="1000" b="0" i="0" dirty="0" err="1">
                <a:solidFill>
                  <a:srgbClr val="1A1A1A"/>
                </a:solidFill>
                <a:latin typeface="Tahoma"/>
              </a:rPr>
              <a:t>경량</a:t>
            </a:r>
            <a:r>
              <a:rPr sz="1000" b="0" i="0" dirty="0">
                <a:solidFill>
                  <a:srgbClr val="1A1A1A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Tahoma"/>
              </a:rPr>
              <a:t>임베디드</a:t>
            </a:r>
            <a:r>
              <a:rPr sz="1000" b="0" i="0" dirty="0">
                <a:solidFill>
                  <a:srgbClr val="1A1A1A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Tahoma"/>
              </a:rPr>
              <a:t>타입</a:t>
            </a:r>
            <a:r>
              <a:rPr sz="1000" b="0" i="0" dirty="0">
                <a:solidFill>
                  <a:srgbClr val="1A1A1A"/>
                </a:solidFill>
                <a:latin typeface="Tahoma"/>
              </a:rPr>
              <a:t>
• </a:t>
            </a:r>
            <a:r>
              <a:rPr sz="1000" b="0" i="0" dirty="0" err="1">
                <a:solidFill>
                  <a:srgbClr val="1A1A1A"/>
                </a:solidFill>
                <a:latin typeface="Tahoma"/>
              </a:rPr>
              <a:t>Sample_A30</a:t>
            </a:r>
            <a:r>
              <a:rPr sz="1000" b="0" i="0" dirty="0">
                <a:solidFill>
                  <a:srgbClr val="1A1A1A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1A1A1A"/>
                </a:solidFill>
                <a:latin typeface="Tahoma"/>
              </a:rPr>
              <a:t>참고</a:t>
            </a:r>
            <a:endParaRPr sz="1000" b="0" i="0" dirty="0">
              <a:solidFill>
                <a:srgbClr val="1A1A1A"/>
              </a:solidFill>
              <a:latin typeface="Tahom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30552" y="931244"/>
            <a:ext cx="1828800" cy="219456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30552" y="931244"/>
            <a:ext cx="1828800" cy="2194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A50</a:t>
            </a:r>
          </a:p>
          <a:p>
            <a:pPr algn="l"/>
            <a:r>
              <a:rPr sz="1100" b="0" i="0">
                <a:solidFill>
                  <a:srgbClr val="0070C0"/>
                </a:solidFill>
                <a:latin typeface="Tahoma"/>
              </a:rPr>
              <a:t>고급 지문인식기</a:t>
            </a:r>
          </a:p>
          <a:p>
            <a:pPr algn="l"/>
            <a:endParaRPr sz="1100" b="0" i="0">
              <a:solidFill>
                <a:srgbClr val="0070C0"/>
              </a:solidFill>
              <a:latin typeface="Tahoma"/>
            </a:endParaRP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A30 기능 포함
• 향상된 인증 속도
• 더 큰 등록 용량
• Sample_A50 참고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23944" y="931244"/>
            <a:ext cx="1828800" cy="21945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23944" y="931244"/>
            <a:ext cx="1828800" cy="2194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M30</a:t>
            </a:r>
          </a:p>
          <a:p>
            <a:pPr algn="l"/>
            <a:r>
              <a:rPr sz="1100" b="0" i="0">
                <a:solidFill>
                  <a:srgbClr val="0070C0"/>
                </a:solidFill>
                <a:latin typeface="Tahoma"/>
              </a:rPr>
              <a:t>멀티모달 인증기</a:t>
            </a:r>
          </a:p>
          <a:p>
            <a:pPr algn="l"/>
            <a:endParaRPr sz="1100" b="0" i="0">
              <a:solidFill>
                <a:srgbClr val="0070C0"/>
              </a:solidFill>
              <a:latin typeface="Tahoma"/>
            </a:endParaRP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지문 + PIN 인증
• 도어 제어 기능
• Bell 타이머 지원
• Sample_M30 참고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931244"/>
            <a:ext cx="1828800" cy="219456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17336" y="931244"/>
            <a:ext cx="1828800" cy="2194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M50</a:t>
            </a:r>
          </a:p>
          <a:p>
            <a:pPr algn="l"/>
            <a:r>
              <a:rPr sz="1100" b="0" i="0">
                <a:solidFill>
                  <a:srgbClr val="0070C0"/>
                </a:solidFill>
                <a:latin typeface="Tahoma"/>
              </a:rPr>
              <a:t>멀티모달 고급형</a:t>
            </a:r>
          </a:p>
          <a:p>
            <a:pPr algn="l"/>
            <a:endParaRPr sz="1100" b="0" i="0">
              <a:solidFill>
                <a:srgbClr val="0070C0"/>
              </a:solidFill>
              <a:latin typeface="Tahoma"/>
            </a:endParaRP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M30 기능 포함
• BigUser ID 지원
• GPS 로그 지원
• Sample_M50 참고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0728" y="931244"/>
            <a:ext cx="1828800" cy="21945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0728" y="931244"/>
            <a:ext cx="1828800" cy="2194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S100</a:t>
            </a:r>
          </a:p>
          <a:p>
            <a:pPr algn="l"/>
            <a:r>
              <a:rPr sz="1100" b="0" i="0">
                <a:solidFill>
                  <a:srgbClr val="0070C0"/>
                </a:solidFill>
                <a:latin typeface="Tahoma"/>
              </a:rPr>
              <a:t>스마트 출입 단말</a:t>
            </a:r>
          </a:p>
          <a:p>
            <a:pPr algn="l"/>
            <a:endParaRPr sz="1100" b="0" i="0">
              <a:solidFill>
                <a:srgbClr val="0070C0"/>
              </a:solidFill>
              <a:latin typeface="Tahoma"/>
            </a:endParaRP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스마트 카드 지원
• 얼굴인식 옵션
• 고용량 사용자 DB
• Sample_S100 참고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04120" y="931244"/>
            <a:ext cx="1828800" cy="219456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04120" y="931244"/>
            <a:ext cx="1828800" cy="21945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Tahoma"/>
              </a:rPr>
              <a:t>S300 / SB3600</a:t>
            </a:r>
          </a:p>
          <a:p>
            <a:pPr algn="l"/>
            <a:r>
              <a:rPr sz="1100" b="0" i="0">
                <a:solidFill>
                  <a:srgbClr val="0070C0"/>
                </a:solidFill>
                <a:latin typeface="Tahoma"/>
              </a:rPr>
              <a:t>엔터프라이즈 단말</a:t>
            </a:r>
          </a:p>
          <a:p>
            <a:pPr algn="l"/>
            <a:endParaRPr sz="1100" b="0" i="0">
              <a:solidFill>
                <a:srgbClr val="0070C0"/>
              </a:solidFill>
              <a:latin typeface="Tahoma"/>
            </a:endParaRPr>
          </a:p>
          <a:p>
            <a:pPr algn="l"/>
            <a:r>
              <a:rPr sz="1000" b="0" i="0">
                <a:solidFill>
                  <a:srgbClr val="1A1A1A"/>
                </a:solidFill>
                <a:latin typeface="Tahoma"/>
              </a:rPr>
              <a:t>• 최대 사용자 등록
• 36자 알파벳 ID 지원
• 12자리 숫자 ID 지원
• Sample_S300_SB3600 참고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3244676"/>
            <a:ext cx="11795760" cy="1965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" y="329039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00"/>
                </a:solidFill>
                <a:latin typeface="Tahoma"/>
              </a:rPr>
              <a:t>📷  BOWE A3-8190  –  얼굴인식 출입 단말  (HTTP Push 프로토콜)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842" y="3701876"/>
            <a:ext cx="2730235" cy="1281120"/>
          </a:xfrm>
          <a:prstGeom prst="rect">
            <a:avLst/>
          </a:prstGeom>
          <a:noFill/>
        </p:spPr>
        <p:txBody>
          <a:bodyPr wrap="none" tIns="54864" bIns="54864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i="0" dirty="0" err="1">
                <a:solidFill>
                  <a:srgbClr val="FFC000"/>
                </a:solidFill>
                <a:latin typeface="Tahoma"/>
              </a:rPr>
              <a:t>주요</a:t>
            </a:r>
            <a:r>
              <a:rPr sz="1200" b="1" i="0" dirty="0">
                <a:solidFill>
                  <a:srgbClr val="FFC000"/>
                </a:solidFill>
                <a:latin typeface="Tahoma"/>
              </a:rPr>
              <a:t> </a:t>
            </a:r>
            <a:r>
              <a:rPr sz="1200" b="1" i="0" dirty="0" err="1">
                <a:solidFill>
                  <a:srgbClr val="FFC000"/>
                </a:solidFill>
                <a:latin typeface="Tahoma"/>
              </a:rPr>
              <a:t>기능</a:t>
            </a:r>
            <a:endParaRPr sz="1200" b="1" i="0" dirty="0">
              <a:solidFill>
                <a:srgbClr val="FFC000"/>
              </a:solidFill>
              <a:latin typeface="Tahoma"/>
            </a:endParaRPr>
          </a:p>
          <a:p>
            <a:pPr algn="l">
              <a:lnSpc>
                <a:spcPct val="150000"/>
              </a:lnSpc>
            </a:pPr>
            <a:r>
              <a:rPr sz="1000" b="0" i="0" dirty="0">
                <a:solidFill>
                  <a:srgbClr val="FFFFFF"/>
                </a:solidFill>
                <a:latin typeface="Tahoma"/>
              </a:rPr>
              <a:t>•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얼굴인식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기반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출입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통제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
• HTTP Push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프로토콜로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서버에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이벤트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전송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
• Keepalive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응답으로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인원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추가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/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원격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제어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
•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출입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기록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,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인원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관리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,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원격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명령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지원</a:t>
            </a:r>
            <a:endParaRPr sz="1000" b="0" i="0" dirty="0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83187" y="3656156"/>
            <a:ext cx="3427541" cy="1279774"/>
          </a:xfrm>
          <a:prstGeom prst="rect">
            <a:avLst/>
          </a:prstGeom>
          <a:noFill/>
        </p:spPr>
        <p:txBody>
          <a:bodyPr wrap="none" tIns="54864" bIns="54864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i="0" dirty="0" err="1">
                <a:solidFill>
                  <a:srgbClr val="FFC000"/>
                </a:solidFill>
                <a:latin typeface="Tahoma"/>
              </a:rPr>
              <a:t>관련</a:t>
            </a:r>
            <a:r>
              <a:rPr sz="1200" b="1" i="0" dirty="0">
                <a:solidFill>
                  <a:srgbClr val="FFC000"/>
                </a:solidFill>
                <a:latin typeface="Tahoma"/>
              </a:rPr>
              <a:t> </a:t>
            </a:r>
            <a:r>
              <a:rPr sz="1200" b="1" i="0" dirty="0" err="1">
                <a:solidFill>
                  <a:srgbClr val="FFC000"/>
                </a:solidFill>
                <a:latin typeface="Tahoma"/>
              </a:rPr>
              <a:t>파일</a:t>
            </a:r>
            <a:endParaRPr sz="1200" b="1" i="0" dirty="0">
              <a:solidFill>
                <a:srgbClr val="FFC000"/>
              </a:solidFill>
              <a:latin typeface="Tahoma"/>
            </a:endParaRPr>
          </a:p>
          <a:p>
            <a:pPr algn="l">
              <a:lnSpc>
                <a:spcPct val="150000"/>
              </a:lnSpc>
            </a:pPr>
            <a:r>
              <a:rPr sz="1000" b="0" i="0" dirty="0" err="1">
                <a:solidFill>
                  <a:srgbClr val="FFFFFF"/>
                </a:solidFill>
                <a:latin typeface="Tahoma"/>
              </a:rPr>
              <a:t>BOWE_PC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/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A3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-8190 User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Manual.pdf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
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BOWE_PC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/PC Client software Operation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Instruction.pdf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
Communication Protocols/HTTP 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V2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 Docking protocol…pdf
samples/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Sample_A3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-8190/C#_</a:t>
            </a:r>
            <a:r>
              <a:rPr sz="1000" b="0" i="0" dirty="0" err="1">
                <a:solidFill>
                  <a:srgbClr val="FFFFFF"/>
                </a:solidFill>
                <a:latin typeface="Tahoma"/>
              </a:rPr>
              <a:t>A3-8190_HTTPServer</a:t>
            </a:r>
            <a:r>
              <a:rPr sz="1000" b="0" i="0" dirty="0">
                <a:solidFill>
                  <a:srgbClr val="FFFFFF"/>
                </a:solidFill>
                <a:latin typeface="Tahoma"/>
              </a:rPr>
              <a:t>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9144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200" b="1" i="0" dirty="0">
                <a:solidFill>
                  <a:srgbClr val="FFFFFF"/>
                </a:solidFill>
                <a:latin typeface="Tahoma"/>
              </a:rPr>
              <a:t>05  </a:t>
            </a:r>
            <a:r>
              <a:rPr sz="2200" b="1" i="0" dirty="0" err="1">
                <a:solidFill>
                  <a:srgbClr val="FFFFFF"/>
                </a:solidFill>
                <a:latin typeface="Tahoma"/>
              </a:rPr>
              <a:t>핵심</a:t>
            </a:r>
            <a:r>
              <a:rPr sz="2200" b="1" i="0" dirty="0">
                <a:solidFill>
                  <a:srgbClr val="FFFFFF"/>
                </a:solidFill>
                <a:latin typeface="Tahoma"/>
              </a:rPr>
              <a:t> API </a:t>
            </a:r>
            <a:r>
              <a:rPr sz="2200" b="1" i="0" dirty="0" err="1">
                <a:solidFill>
                  <a:srgbClr val="FFFFFF"/>
                </a:solidFill>
                <a:latin typeface="Tahoma"/>
              </a:rPr>
              <a:t>분류</a:t>
            </a:r>
            <a:r>
              <a:rPr lang="en-US" sz="2200" b="1" i="0" dirty="0">
                <a:solidFill>
                  <a:srgbClr val="FFFFFF"/>
                </a:solidFill>
                <a:latin typeface="Tahoma"/>
              </a:rPr>
              <a:t>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주요 함수 그룹 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SBXPCDLL_API.h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기준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661737"/>
            <a:ext cx="5486400" cy="233172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🔌  연결 관리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SetMachineType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type)  ─ 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대상 모델 설정
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ConnectSerial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comPort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baudRate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 ─ 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직렬 연결
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ConnectTcpip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ip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port, pw)  ─  TCP/IP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연결
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ConnectP2p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(id,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serverIP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port, pw, &amp;err)  ─  P2P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연결
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_Disconnect(num) / 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DisconnectAll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()
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GetLastError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&amp;code)  ─ 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오류 코드 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661737"/>
            <a:ext cx="5486400" cy="233172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👤  사용자 등록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GetEnrollData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enroll,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eMachine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backup, &amp;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priv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&amp;data, &amp;pw)
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SetEnrollData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enroll,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eMachine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backup,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priv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&amp;data, pw)
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DeleteEnrollData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enroll,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eMachine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backup)
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ReadAllUserID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(num) / 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GetAllUserID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...)
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EnableUser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enroll,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eMachine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backup, flag)
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ModifyPrivilege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enroll,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eMachine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backup,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priv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
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GetUserName1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() / 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SetUserName1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()  ─ 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사용자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76337"/>
            <a:ext cx="5486400" cy="233172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📋  로그 조회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ReadGeneralLogData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bReadMark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 ─ 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일반 출입 로그
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GetGeneralLogData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&amp;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tMachine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&amp;enroll, ...)  ─ 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로그 데이터
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ReadSuperLogData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bReadMark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 ─ 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관리자 로그
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GetSuperLogData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...)  ─ 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관리자 로그 데이터
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ReadGLogWithPos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startPos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endPos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 ─ 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위치 기반
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ReadGeneralLogData_GPS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bReadMark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 ─  GPS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로그
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GetGeneralLogData_GPS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..., &amp;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lat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&amp;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lng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 ─  GPS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좌표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176337"/>
            <a:ext cx="5486400" cy="233172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⚙️  디바이스 제어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GetDeviceInfo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info, &amp;value) / 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SetDeviceInfo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info, value)
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GetDeviceTime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...) / 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SetDeviceTime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(num)
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EnableDevice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flag)  ─ 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디바이스 활성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비활성
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GetSerialNumber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&amp;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sn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/ 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GetProductCode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&amp;code)
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GetDeviceModel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&amp;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isBig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&amp;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companyType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&amp;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machType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&amp;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ver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
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GeneralOperationXML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(num, &amp;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reqNRespXML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 ─  XML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범용 명령
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EmptyEnrollData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(num) / _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EmptyGeneralLogData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(num)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690937"/>
            <a:ext cx="11612880" cy="892743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SDK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주요 명령 클래스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altLang="ko-KR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폴더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CmdLogin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CmdRegister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CmdGetTime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CmdSetTime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CmdEnableDevice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CmdGetAutoAttendance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CmdSetAutoAttendance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CmdGetEthernetSetting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CmdSetEthernet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CmdGetWiFiSetting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CmdSetWiFi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CmdGetVideoStreamSetting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CmdSetVideoStreamSetting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CmdGetUserBalanceTime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CmdSetUserBalanceTime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·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CmdRestart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06  통신 프로토콜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324" y="1143000"/>
            <a:ext cx="5144703" cy="521208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XML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메시지 포맷 예시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▶  등록 메시지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디바이스 → 서버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&lt;?xml version="1.0"?&gt;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&lt;Message&gt;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&lt;Register&gt;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S300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&lt;/Register&gt;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&lt;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SerialNo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SB12345678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SerialNo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&lt;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CloudId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&gt;your-cloud-id&lt;/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CloudId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&lt;/Message&gt;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▶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로그인 메시지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디바이스 → 서버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&lt;?xml version="1.0"?&gt;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&lt;Message&gt;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&lt;Login&gt;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S300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&lt;/Login&gt;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&lt;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SerialNo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SB12345678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SerialNo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&lt;Token&gt;auth-token&lt;/Token&gt;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&lt;/Message&gt;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▶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출입 이벤트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디바이스 → 서버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&lt;?xml version="1.0"?&gt;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&lt;Message&gt;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&lt;Event&gt;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TimeLog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&lt;/Event&gt;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&lt;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UserID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&gt;00001&lt;/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UserID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&lt;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DateTime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&gt;20250101120000&lt;/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DateTime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&lt;/Message&gt;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28652" y="1143000"/>
            <a:ext cx="5838508" cy="260604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이벤트 유형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Register        		─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디바이스 초기 등록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Login           		─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디바이스 인증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TimeLog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─  출입 기록 이벤트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v1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v2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AdminLog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		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─  관리자 조작 이벤트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KeepAlive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─  세션 유지 하트비트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GetTime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SetTime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─  시간 동기화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EnableDevice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─  디바이스 활성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비활성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GetUserBalance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─  잔여 시간 조회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SetEthernet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SetWiFi</a:t>
            </a:r>
            <a:r>
              <a:rPr lang="en-US" altLang="ko-KR" sz="1100" dirty="0">
                <a:solidFill>
                  <a:srgbClr val="1A1A1A"/>
                </a:solidFill>
                <a:latin typeface="Tahoma"/>
              </a:rPr>
              <a:t>	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─  네트워크 설정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SetVideoStream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─  영상 스트림 설정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Restart         		─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디바이스 재시작</a:t>
            </a:r>
            <a:endParaRPr sz="2400" dirty="0"/>
          </a:p>
        </p:txBody>
      </p:sp>
      <p:sp>
        <p:nvSpPr>
          <p:cNvPr id="11" name="Rectangle 10"/>
          <p:cNvSpPr/>
          <p:nvPr/>
        </p:nvSpPr>
        <p:spPr>
          <a:xfrm>
            <a:off x="5728652" y="3840480"/>
            <a:ext cx="5838508" cy="25146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HTTP Push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프로토콜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(BOWE </a:t>
            </a:r>
            <a:r>
              <a:rPr kumimoji="0" lang="en-US" altLang="ko-KR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A3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-8190)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POST /Device/Keepalive             ─  Keepalive (15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초 주기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POST /People/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DownloadPeopleList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─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인원 목록 다운로드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POST /People/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PushPeople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   ─ 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디바이스→서버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인원 업로드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POST /Record/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UploadIdentifyRecord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─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출입 기록 수신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(multipart)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POST /Record/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UploadSystemRecord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─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시스템 기록 수신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POST /Device/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RemoteCommand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 ─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원격 제어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문열기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재시작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POST 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DevicePass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SelectDeleteInfo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─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삭제할 인원 목록 반환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POST /Device/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UploadWorkParameter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─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디바이스 파라미터 업로드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POST /Device/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DownloadWorkSetting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─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파라미터 다운로드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07  아키텍처 다이어그램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3291840" cy="4114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05688" y="1097280"/>
            <a:ext cx="148630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Traditional SDK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97280"/>
            <a:ext cx="3291840" cy="4114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36293" y="1097280"/>
            <a:ext cx="152317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WebSocket SDK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097280"/>
            <a:ext cx="3291840" cy="4114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974" y="1097280"/>
            <a:ext cx="147989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Tahoma"/>
              </a:rPr>
              <a:t>HTTP Push SDK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00200"/>
            <a:ext cx="3291840" cy="502920"/>
          </a:xfrm>
          <a:prstGeom prst="rect">
            <a:avLst/>
          </a:prstGeom>
          <a:solidFill>
            <a:srgbClr val="F2F7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12525" y="1600200"/>
            <a:ext cx="18726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 dirty="0" err="1">
                <a:solidFill>
                  <a:srgbClr val="1F497D"/>
                </a:solidFill>
                <a:latin typeface="Tahoma"/>
              </a:rPr>
              <a:t>응용</a:t>
            </a:r>
            <a:r>
              <a:rPr sz="1000" b="0" i="0" dirty="0">
                <a:solidFill>
                  <a:srgbClr val="1F497D"/>
                </a:solidFill>
                <a:latin typeface="Tahoma"/>
              </a:rPr>
              <a:t> </a:t>
            </a:r>
            <a:r>
              <a:rPr sz="1000" b="0" i="0" dirty="0" err="1">
                <a:solidFill>
                  <a:srgbClr val="1F497D"/>
                </a:solidFill>
                <a:latin typeface="Tahoma"/>
              </a:rPr>
              <a:t>프로그램</a:t>
            </a:r>
            <a:r>
              <a:rPr sz="1000" b="0" i="0" dirty="0">
                <a:solidFill>
                  <a:srgbClr val="1F497D"/>
                </a:solidFill>
                <a:latin typeface="Tahoma"/>
              </a:rPr>
              <a:t>
(C# / </a:t>
            </a:r>
            <a:r>
              <a:rPr sz="1000" b="0" i="0" dirty="0" err="1">
                <a:solidFill>
                  <a:srgbClr val="1F497D"/>
                </a:solidFill>
                <a:latin typeface="Tahoma"/>
              </a:rPr>
              <a:t>VB.NET</a:t>
            </a:r>
            <a:r>
              <a:rPr sz="1000" b="0" i="0" dirty="0">
                <a:solidFill>
                  <a:srgbClr val="1F497D"/>
                </a:solidFill>
                <a:latin typeface="Tahoma"/>
              </a:rPr>
              <a:t> / Java / Delphi)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0552" y="2103120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395728"/>
            <a:ext cx="3291840" cy="502920"/>
          </a:xfrm>
          <a:prstGeom prst="rect">
            <a:avLst/>
          </a:prstGeom>
          <a:solidFill>
            <a:srgbClr val="D9E8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3327" y="2395728"/>
            <a:ext cx="18710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Tahoma"/>
              </a:rPr>
              <a:t>SBXPCDLL.dll 또는 SBXPC.ocx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30552" y="2898648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191256"/>
            <a:ext cx="3291840" cy="502920"/>
          </a:xfrm>
          <a:prstGeom prst="rect">
            <a:avLst/>
          </a:prstGeom>
          <a:solidFill>
            <a:srgbClr val="F2F7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21718" y="3191256"/>
            <a:ext cx="145424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Tahoma"/>
              </a:rPr>
              <a:t>통신 계층
(Serial / TCP-IP / P2P)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30552" y="3694176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986784"/>
            <a:ext cx="3291840" cy="502920"/>
          </a:xfrm>
          <a:prstGeom prst="rect">
            <a:avLst/>
          </a:prstGeom>
          <a:solidFill>
            <a:srgbClr val="1F497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6803" y="3986784"/>
            <a:ext cx="20040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SmackBio 디바이스
(A30 / A50 / M30 / M50 / S300)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600200"/>
            <a:ext cx="3291840" cy="502920"/>
          </a:xfrm>
          <a:prstGeom prst="rect">
            <a:avLst/>
          </a:prstGeom>
          <a:solidFill>
            <a:srgbClr val="F2F7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71371" y="1600200"/>
            <a:ext cx="165301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Tahoma"/>
              </a:rPr>
              <a:t>웹 브라우저 / 클라이언트
(ASP.NET / PHP / Python)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79592" y="2103120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51960" y="2395728"/>
            <a:ext cx="3291840" cy="502920"/>
          </a:xfrm>
          <a:prstGeom prst="rect">
            <a:avLst/>
          </a:prstGeom>
          <a:solidFill>
            <a:srgbClr val="0070C0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48316" y="2395728"/>
            <a:ext cx="14991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WebSocket Server
(SBWebSocketHandler)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79592" y="2898648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51960" y="3191256"/>
            <a:ext cx="3291840" cy="502920"/>
          </a:xfrm>
          <a:prstGeom prst="rect">
            <a:avLst/>
          </a:prstGeom>
          <a:solidFill>
            <a:srgbClr val="D9E8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47514" y="3191256"/>
            <a:ext cx="150073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Tahoma"/>
              </a:rPr>
              <a:t>인증 레이어
(IDeviceLoginManager)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79592" y="3694176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51960" y="3986784"/>
            <a:ext cx="3291840" cy="502920"/>
          </a:xfrm>
          <a:prstGeom prst="rect">
            <a:avLst/>
          </a:prstGeom>
          <a:solidFill>
            <a:srgbClr val="1F497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01027" y="3986784"/>
            <a:ext cx="159370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SmackBio 디바이스
(WebSocket 클라이언트)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1600200"/>
            <a:ext cx="3291840" cy="502920"/>
          </a:xfrm>
          <a:prstGeom prst="rect">
            <a:avLst/>
          </a:prstGeom>
          <a:solidFill>
            <a:srgbClr val="F2F7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11169" y="1600200"/>
            <a:ext cx="12715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Tahoma"/>
              </a:rPr>
              <a:t>C# WinForms 앱
(HttpListener 서버)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28632" y="2103120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01000" y="2395728"/>
            <a:ext cx="3291840" cy="502920"/>
          </a:xfrm>
          <a:prstGeom prst="rect">
            <a:avLst/>
          </a:prstGeom>
          <a:solidFill>
            <a:srgbClr val="007A87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54075" y="2395728"/>
            <a:ext cx="158569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A3HttpListener
(HTTP Push 엔드포인트)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28632" y="2898648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01000" y="3191256"/>
            <a:ext cx="3291840" cy="502920"/>
          </a:xfrm>
          <a:prstGeom prst="rect">
            <a:avLst/>
          </a:prstGeom>
          <a:solidFill>
            <a:srgbClr val="D9E8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63129" y="3191256"/>
            <a:ext cx="216758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Tahoma"/>
              </a:rPr>
              <a:t>이벤트 처리
(OnLog / OnKeepalive / OnRecord)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28632" y="3694176"/>
            <a:ext cx="36576" cy="29260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001000" y="3986784"/>
            <a:ext cx="3291840" cy="502920"/>
          </a:xfrm>
          <a:prstGeom prst="rect">
            <a:avLst/>
          </a:prstGeom>
          <a:solidFill>
            <a:srgbClr val="1F497D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54075" y="3986784"/>
            <a:ext cx="158569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Tahoma"/>
              </a:rPr>
              <a:t>BOWE A3-8190
(HTTP Push 클라이언트)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914900"/>
            <a:ext cx="10789920" cy="1851660"/>
          </a:xfrm>
          <a:prstGeom prst="rect">
            <a:avLst/>
          </a:prstGeom>
          <a:solidFill>
            <a:srgbClr val="F2F7FF"/>
          </a:solidFill>
          <a:ln w="6350"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흐름 요약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Traditional SDK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앱 →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DLL/OCX 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직렬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·TCP-IP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→ 디바이스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동기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+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콜백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Windows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전용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저지연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로컬 제어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SDK  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클라이언트 →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서버 → 인증 → 디바이스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비동기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크로스플랫폼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클라우드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원격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HTTP Push SDK  :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A3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-8190 → HTTP POST →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HttpListener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서버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(15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Keepalive,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인원 전송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원격 제어 응답 포함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91440"/>
            <a:ext cx="1041823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200" b="1" i="0" dirty="0">
                <a:solidFill>
                  <a:srgbClr val="FFFFFF"/>
                </a:solidFill>
                <a:latin typeface="Tahoma"/>
              </a:rPr>
              <a:t>08  S/W </a:t>
            </a:r>
            <a:r>
              <a:rPr sz="2200" b="1" i="0" dirty="0" err="1">
                <a:solidFill>
                  <a:srgbClr val="FFFFFF"/>
                </a:solidFill>
                <a:latin typeface="Tahoma"/>
              </a:rPr>
              <a:t>개발</a:t>
            </a:r>
            <a:r>
              <a:rPr sz="2200" b="1" i="0" dirty="0">
                <a:solidFill>
                  <a:srgbClr val="FFFFFF"/>
                </a:solidFill>
                <a:latin typeface="Tahoma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Tahoma"/>
              </a:rPr>
              <a:t>흐름</a:t>
            </a:r>
            <a:r>
              <a:rPr sz="2200" b="1" i="0" dirty="0">
                <a:solidFill>
                  <a:srgbClr val="FFFFFF"/>
                </a:solidFill>
                <a:latin typeface="Tahoma"/>
              </a:rPr>
              <a:t>  ①  Traditional SDK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en-US" altLang="ko-KR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SBXPC.ocx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를 사용하는 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Windows </a:t>
            </a:r>
            <a:r>
              <a:rPr kumimoji="0" lang="ko-KR" alt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네이티브 애플리케이션</a:t>
            </a:r>
            <a:r>
              <a:rPr kumimoji="0" lang="en-US" altLang="ko-KR" sz="12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  <a:endParaRPr kumimoji="0" lang="ko-KR" altLang="en-US" sz="1200" b="0" i="1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6707" y="926430"/>
            <a:ext cx="5486400" cy="1482291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Step 1  – 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개발 환경 준비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Visual Studio (C# /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VB.NET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또는 선호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IDE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설치
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SDK bin/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디렉토리에서 필요한 파일 복사
 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x86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SBXPCDLL.dll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SBXPC.ocx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SBPCCOMM.dll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GEN_FONT.dll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
 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x64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SBXPCDLL64.dll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SBPCCOMM64.dll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GEN_FONT64.dll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
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대상 플랫폼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x86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x64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결정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1487102" y="2187340"/>
            <a:ext cx="5486400" cy="1482291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Step 2  – 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프로젝트 생성 및 </a:t>
            </a:r>
            <a: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DLL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참조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새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Windows Forms / Console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프로젝트 생성
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[DLL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방식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] DllImport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또는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P/Invoke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로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SBXPCDLL(_64).dll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참조
 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— SBXPCDLL_API.h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헤더 파일 참고
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[OCX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방식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]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도구 상자 →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컴포넌트 추가 →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SBXPC.ocx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등록
 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— regsvr32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SBXPC.ocx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명령으로 시스템 등록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72627" y="3493968"/>
            <a:ext cx="5486400" cy="1482291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Step 3  – 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디바이스 타입 설정 및 연결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_SetMachineType(machineNum, "S300")  ─ 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대상 모델 지정
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직렬 연결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_ConnectSerial(num, commPort, baudRate)
• TCP/IP:   _ConnectTcpip(num, ipAddr, port, password)
• P2P:      _ConnectP2p(machineID, serverIP, serverPort, pw, &amp;err)
•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연결 실패 시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_GetLastError()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로 오류 코드 확인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58152" y="4800596"/>
            <a:ext cx="5486400" cy="1482291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Step 4  – 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이벤트 캡처 및 비즈니스 로직 구현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_StartEventCapture(commType, param1, param2, callback, ctx)
•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콜백 함수에서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XML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파싱 →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_XML_ParseString()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등 헬퍼 활용
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등록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_GetEnrollData() / _SetEnrollData() / _DeleteEnrollData()
•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로그 조회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_ReadGeneralLogData() → _GetGeneralLogData()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반복
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디바이스 제어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_EnableDevice(), _SetDeviceTime(), _GeneralOperationXML()
•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완료 후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_StopEventCapture()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및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_Disconnect()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09-A  S/W 개발 흐름  ②  WebSocket SDK (C# / ASP.NET)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4676" y="690613"/>
            <a:ext cx="5486400" cy="17000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300" b="1" dirty="0">
                <a:solidFill>
                  <a:srgbClr val="1F497D"/>
                </a:solidFill>
                <a:latin typeface="Tahoma"/>
              </a:rPr>
              <a:t>Step 1  –  </a:t>
            </a:r>
            <a:r>
              <a:rPr lang="ko-KR" altLang="en-US" sz="1300" b="1" dirty="0">
                <a:solidFill>
                  <a:srgbClr val="1F497D"/>
                </a:solidFill>
                <a:latin typeface="Tahoma"/>
              </a:rPr>
              <a:t>솔루션 설정</a:t>
            </a:r>
          </a:p>
          <a:p>
            <a:endParaRPr lang="ko-KR" altLang="en-US" sz="1300" b="1" dirty="0">
              <a:solidFill>
                <a:srgbClr val="1F497D"/>
              </a:solidFill>
              <a:latin typeface="Tahoma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• Visual Studio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에서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ASP.NET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Web Application 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프로젝트 생성
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•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SmackBio.WebSocketSDK.csproj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를 솔루션에 추가 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또는 참조 추가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)
• NuGet: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Microsoft.Web.WebSockets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 패키지 설치
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•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WebSocketSDK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/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WebSocketSDK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/  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폴더를 기준으로 작업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8547" y="2091490"/>
            <a:ext cx="5486400" cy="170006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300" b="1" dirty="0">
                <a:solidFill>
                  <a:srgbClr val="1F497D"/>
                </a:solidFill>
                <a:latin typeface="Tahoma"/>
              </a:rPr>
              <a:t>Step 2  –  </a:t>
            </a:r>
            <a:r>
              <a:rPr lang="en-US" altLang="ko-KR" sz="1300" b="1" dirty="0" err="1">
                <a:solidFill>
                  <a:srgbClr val="1F497D"/>
                </a:solidFill>
                <a:latin typeface="Tahoma"/>
              </a:rPr>
              <a:t>IDeviceLoginManager</a:t>
            </a:r>
            <a:r>
              <a:rPr lang="en-US" altLang="ko-KR" sz="1300" b="1" dirty="0">
                <a:solidFill>
                  <a:srgbClr val="1F497D"/>
                </a:solidFill>
                <a:latin typeface="Tahoma"/>
              </a:rPr>
              <a:t> </a:t>
            </a:r>
            <a:r>
              <a:rPr lang="ko-KR" altLang="en-US" sz="1300" b="1" dirty="0">
                <a:solidFill>
                  <a:srgbClr val="1F497D"/>
                </a:solidFill>
                <a:latin typeface="Tahoma"/>
              </a:rPr>
              <a:t>구현</a:t>
            </a:r>
          </a:p>
          <a:p>
            <a:endParaRPr lang="ko-KR" altLang="en-US" sz="1300" b="1" dirty="0">
              <a:solidFill>
                <a:srgbClr val="1F497D"/>
              </a:solidFill>
              <a:latin typeface="Tahoma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•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IDeviceLoginManager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인터페이스를 상속한 클래스 작성
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•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GetRegisterInfo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(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terminalType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,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serialNo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) → 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등록 토큰 반환
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• Verify(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serialNo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, token) → bool (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인증 검증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)
•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OnDeviceEvent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(xml) → 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출입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관리자 로그 처리 로직
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•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Web.config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에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smackbio.websocketsdk.deviceLoginManager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2418" y="3492367"/>
            <a:ext cx="5486400" cy="17000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300" b="1" dirty="0">
                <a:solidFill>
                  <a:srgbClr val="1F497D"/>
                </a:solidFill>
                <a:latin typeface="Tahoma"/>
              </a:rPr>
              <a:t>Step 3  –  WebSocket </a:t>
            </a:r>
            <a:r>
              <a:rPr lang="ko-KR" altLang="en-US" sz="1300" b="1" dirty="0" err="1">
                <a:solidFill>
                  <a:srgbClr val="1F497D"/>
                </a:solidFill>
                <a:latin typeface="Tahoma"/>
              </a:rPr>
              <a:t>엔드포인트</a:t>
            </a:r>
            <a:r>
              <a:rPr lang="ko-KR" altLang="en-US" sz="1300" b="1" dirty="0">
                <a:solidFill>
                  <a:srgbClr val="1F497D"/>
                </a:solidFill>
                <a:latin typeface="Tahoma"/>
              </a:rPr>
              <a:t> 등록</a:t>
            </a:r>
          </a:p>
          <a:p>
            <a:endParaRPr lang="ko-KR" altLang="en-US" sz="1300" b="1" dirty="0">
              <a:solidFill>
                <a:srgbClr val="1F497D"/>
              </a:solidFill>
              <a:latin typeface="Tahoma"/>
            </a:endParaRPr>
          </a:p>
          <a:p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•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GenericHandler.ashx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또는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Global.asax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에서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WebSocketHandler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경로 매핑
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•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SessionRegistry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로 연결된 디바이스 목록 관리
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•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check_cloud_id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 /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valid_cloud_id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설정으로 보안 강화
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•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Web.config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 – </a:t>
            </a:r>
            <a:r>
              <a:rPr lang="en-US" altLang="ko-KR" sz="1000" dirty="0" err="1">
                <a:solidFill>
                  <a:schemeClr val="tx1"/>
                </a:solidFill>
                <a:latin typeface="Tahoma"/>
              </a:rPr>
              <a:t>connectionStrings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로 </a:t>
            </a:r>
            <a:r>
              <a:rPr lang="en-US" altLang="ko-KR" sz="1000" dirty="0">
                <a:solidFill>
                  <a:schemeClr val="tx1"/>
                </a:solidFill>
                <a:latin typeface="Tahoma"/>
              </a:rPr>
              <a:t>DB </a:t>
            </a:r>
            <a:r>
              <a:rPr lang="ko-KR" altLang="en-US" sz="1000" dirty="0">
                <a:solidFill>
                  <a:schemeClr val="tx1"/>
                </a:solidFill>
                <a:latin typeface="Tahoma"/>
              </a:rPr>
              <a:t>연결 설정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06288" y="4893244"/>
            <a:ext cx="5486400" cy="170006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300" b="1" dirty="0">
                <a:solidFill>
                  <a:srgbClr val="1F497D"/>
                </a:solidFill>
                <a:latin typeface="Tahoma"/>
              </a:rPr>
              <a:t>Step 4  –  UI </a:t>
            </a:r>
            <a:r>
              <a:rPr lang="ko-KR" altLang="en-US" sz="1300" b="1" dirty="0">
                <a:solidFill>
                  <a:srgbClr val="1F497D"/>
                </a:solidFill>
                <a:latin typeface="Tahoma"/>
              </a:rPr>
              <a:t>페이지 개발 및 명령 전송</a:t>
            </a:r>
          </a:p>
          <a:p>
            <a:endParaRPr lang="ko-KR" altLang="en-US" sz="1300" b="1" dirty="0">
              <a:solidFill>
                <a:srgbClr val="1F497D"/>
              </a:solidFill>
              <a:latin typeface="Tahoma"/>
            </a:endParaRPr>
          </a:p>
          <a:p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• </a:t>
            </a:r>
            <a:r>
              <a:rPr lang="en-US" altLang="ko-KR" sz="1050" dirty="0" err="1">
                <a:solidFill>
                  <a:schemeClr val="tx1"/>
                </a:solidFill>
                <a:latin typeface="Tahoma"/>
              </a:rPr>
              <a:t>ViewOnlineDevices.aspx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   ─  </a:t>
            </a:r>
            <a:r>
              <a:rPr lang="ko-KR" altLang="en-US" sz="1050" dirty="0">
                <a:solidFill>
                  <a:schemeClr val="tx1"/>
                </a:solidFill>
                <a:latin typeface="Tahoma"/>
              </a:rPr>
              <a:t>온라인 디바이스 목록
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• </a:t>
            </a:r>
            <a:r>
              <a:rPr lang="en-US" altLang="ko-KR" sz="1050" dirty="0" err="1">
                <a:solidFill>
                  <a:schemeClr val="tx1"/>
                </a:solidFill>
                <a:latin typeface="Tahoma"/>
              </a:rPr>
              <a:t>ViewDeviceEvents.aspx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    ─  </a:t>
            </a:r>
            <a:r>
              <a:rPr lang="ko-KR" altLang="en-US" sz="1050" dirty="0">
                <a:solidFill>
                  <a:schemeClr val="tx1"/>
                </a:solidFill>
                <a:latin typeface="Tahoma"/>
              </a:rPr>
              <a:t>실시간 이벤트 조회
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• </a:t>
            </a:r>
            <a:r>
              <a:rPr lang="en-US" altLang="ko-KR" sz="1050" dirty="0" err="1">
                <a:solidFill>
                  <a:schemeClr val="tx1"/>
                </a:solidFill>
                <a:latin typeface="Tahoma"/>
              </a:rPr>
              <a:t>ViewRegisterDevices.aspx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 ─  </a:t>
            </a:r>
            <a:r>
              <a:rPr lang="ko-KR" altLang="en-US" sz="1050" dirty="0">
                <a:solidFill>
                  <a:schemeClr val="tx1"/>
                </a:solidFill>
                <a:latin typeface="Tahoma"/>
              </a:rPr>
              <a:t>디바이스 등록 관리
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• </a:t>
            </a:r>
            <a:r>
              <a:rPr lang="en-US" altLang="ko-KR" sz="1050" dirty="0" err="1">
                <a:solidFill>
                  <a:schemeClr val="tx1"/>
                </a:solidFill>
                <a:latin typeface="Tahoma"/>
              </a:rPr>
              <a:t>session.ExecuteCommand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(page, </a:t>
            </a:r>
            <a:r>
              <a:rPr lang="en-US" altLang="ko-KR" sz="1050" dirty="0" err="1">
                <a:solidFill>
                  <a:schemeClr val="tx1"/>
                </a:solidFill>
                <a:latin typeface="Tahoma"/>
              </a:rPr>
              <a:t>xmlCmd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, </a:t>
            </a:r>
            <a:r>
              <a:rPr lang="en-US" altLang="ko-KR" sz="1050" dirty="0" err="1">
                <a:solidFill>
                  <a:schemeClr val="tx1"/>
                </a:solidFill>
                <a:latin typeface="Tahoma"/>
              </a:rPr>
              <a:t>onResponse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, </a:t>
            </a:r>
            <a:r>
              <a:rPr lang="en-US" altLang="ko-KR" sz="1050" dirty="0" err="1">
                <a:solidFill>
                  <a:schemeClr val="tx1"/>
                </a:solidFill>
                <a:latin typeface="Tahoma"/>
              </a:rPr>
              <a:t>onError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)
• </a:t>
            </a:r>
            <a:r>
              <a:rPr lang="en-US" altLang="ko-KR" sz="1050" dirty="0" err="1">
                <a:solidFill>
                  <a:schemeClr val="tx1"/>
                </a:solidFill>
                <a:latin typeface="Tahoma"/>
              </a:rPr>
              <a:t>Cmd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/ </a:t>
            </a:r>
            <a:r>
              <a:rPr lang="ko-KR" altLang="en-US" sz="1050" dirty="0">
                <a:solidFill>
                  <a:schemeClr val="tx1"/>
                </a:solidFill>
                <a:latin typeface="Tahoma"/>
              </a:rPr>
              <a:t>폴더의 </a:t>
            </a:r>
            <a:r>
              <a:rPr lang="en-US" altLang="ko-KR" sz="1050" dirty="0" err="1">
                <a:solidFill>
                  <a:schemeClr val="tx1"/>
                </a:solidFill>
                <a:latin typeface="Tahoma"/>
              </a:rPr>
              <a:t>CmdGetTime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, </a:t>
            </a:r>
            <a:r>
              <a:rPr lang="en-US" altLang="ko-KR" sz="1050" dirty="0" err="1">
                <a:solidFill>
                  <a:schemeClr val="tx1"/>
                </a:solidFill>
                <a:latin typeface="Tahoma"/>
              </a:rPr>
              <a:t>CmdSetTime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, </a:t>
            </a:r>
            <a:r>
              <a:rPr lang="en-US" altLang="ko-KR" sz="1050" dirty="0" err="1">
                <a:solidFill>
                  <a:schemeClr val="tx1"/>
                </a:solidFill>
                <a:latin typeface="Tahoma"/>
              </a:rPr>
              <a:t>CmdEnableDevice</a:t>
            </a:r>
            <a:r>
              <a:rPr lang="en-US" altLang="ko-KR" sz="1050" dirty="0">
                <a:solidFill>
                  <a:schemeClr val="tx1"/>
                </a:solidFill>
                <a:latin typeface="Tahoma"/>
              </a:rPr>
              <a:t> </a:t>
            </a:r>
            <a:r>
              <a:rPr lang="ko-KR" altLang="en-US" sz="1050" dirty="0">
                <a:solidFill>
                  <a:schemeClr val="tx1"/>
                </a:solidFill>
                <a:latin typeface="Tahoma"/>
              </a:rPr>
              <a:t>등 활용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ahoma"/>
              </a:rPr>
              <a:t>09-B  S/W 개발 흐름  ③  PHP / Python WebSocket SDK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00" cy="521208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PHP (</a:t>
            </a:r>
            <a:r>
              <a:rPr kumimoji="0" lang="en-US" altLang="ko-KR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Workerman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개발 절차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① 환경 준비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PHP 7+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설치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Composer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설치
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WebSocketSDK_PHP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디렉토리 복사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②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Workerman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다운로드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0.download_workerman.bat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실행
   또는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composer install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수동 실행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③ 서버 설정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config.inc.php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에서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DB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연결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포트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클라우드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ID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설정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④ 비즈니스 로직 구현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ws_dev_event.php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─  이벤트 처리 로직
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ws_connection.php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─  세션 관리 커스터마이징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⑤ 서버 실행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1.run_ws_server.bat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→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서버 기동
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2.run_web_server.bat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→ 웹 서버 기동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⑥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UI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개발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wwwroot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폴더 내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PHP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페이지 수정
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user_manage.php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등 참고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43000"/>
            <a:ext cx="5943600" cy="521208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Python (Django Channels)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개발 절차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① 환경 준비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Python 3.8+, pip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설치
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virtualenv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또는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conda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환경 생성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② 패키지 설치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pip install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django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channels
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WebSocketSDK_Python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디렉토리 복사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③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Django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프로젝트 설정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settings.py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─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DB,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CHANNEL_LAYERS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설정
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urls.py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─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라우팅 추가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④ 비즈니스 로직 구현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sdkdemoapp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/biz/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폴더에 이벤트 </a:t>
            </a: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핸들러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작성
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models.py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─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DB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모델 정의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⑤ 마이그레이션 및 실행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python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manage.py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migrate
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2.run_web_app.bat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또는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python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manage.py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runserver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⑥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UI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개발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sdkdemoapp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/templates/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폴더에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HTML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템플릿
   </a:t>
            </a:r>
            <a:r>
              <a:rPr kumimoji="0" lang="en-US" altLang="ko-KR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views.py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─  뷰 로직 작성</a:t>
            </a:r>
            <a:endParaRPr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9144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Tahoma"/>
              </a:rPr>
              <a:t>10  </a:t>
            </a:r>
            <a:r>
              <a:rPr lang="ko-KR" altLang="en-US" sz="2200" b="1" i="0" dirty="0">
                <a:solidFill>
                  <a:srgbClr val="FFFFFF"/>
                </a:solidFill>
                <a:latin typeface="Tahoma"/>
              </a:rPr>
              <a:t>플랫폼별 필수 준비 항목 </a:t>
            </a:r>
            <a:endParaRPr sz="2200" b="1" i="0" dirty="0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3419" y="812075"/>
            <a:ext cx="5475265" cy="2828566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C# Traditional SDK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☐  Visual Studio 2019/2022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설치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SBXPCDLL.dll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/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SBXPCDLL64.dll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복사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x86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또는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x64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플랫폼 선택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DllImport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선언 추가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SBXPCDLL_API.h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참고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
☐  _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SetMachineType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()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호출
☐  연결 방식 선택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(Serial / TCP-IP / P2P)
☐ 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이벤트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콜백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함수 구현
☐  참고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samples/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Sample_S300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/C#_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SBXPCDLL_Sample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9140" y="3841741"/>
            <a:ext cx="5423980" cy="2828566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C# WebSocket SDK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ASP.NET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Web Application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생성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SmackBio.WebSocketSDK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프로젝트 참조 추가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Microsoft.Web.WebSockets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NuGet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설치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IDeviceLoginManager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구현 클래스 작성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Web.config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deviceLoginManager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등록
☐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핸들러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경로 설정
☐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DB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연결 문자열 설정
☐  참고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11" y="812075"/>
            <a:ext cx="5475265" cy="2828566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PHP (</a:t>
            </a:r>
            <a:r>
              <a:rPr kumimoji="0" lang="en-US" altLang="ko-KR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Workerman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☐  PHP 7+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및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Composer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설치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0.download_workerman.bat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실행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config.inc.php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설정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(DB /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포트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CloudID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ws_dev_event.php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이벤트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핸들러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구현
☐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DB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스키마 생성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1.run_ws_server.bat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→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서버 실행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2.run_web_server.bat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→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웹 실행
☐  참고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WebSocketSDK_PHP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wwwroot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11" y="3841741"/>
            <a:ext cx="5475265" cy="2828566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Python (Django)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☐  Python 3.8+ / pip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설치
☐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pip install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django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channels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settings.py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DB /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CHANNEL_LAYERS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설정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urls.py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WebSocket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라우팅 추가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sdkdemoapp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/biz/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이벤트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핸들러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작성
☐  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python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manage.py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migrate
☐ 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2.run_web_app.bat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실행
☐  참고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WebSocketSDK_Python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</a:t>
            </a:r>
            <a:r>
              <a:rPr kumimoji="0" lang="en-US" altLang="ko-KR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DjangoExample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" y="9144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Tahoma"/>
              </a:rPr>
              <a:t>11  </a:t>
            </a:r>
            <a:r>
              <a:rPr lang="en-US" altLang="ko-KR" sz="2200" b="1" i="0" dirty="0">
                <a:solidFill>
                  <a:srgbClr val="FFFFFF"/>
                </a:solidFill>
                <a:latin typeface="Tahoma"/>
              </a:rPr>
              <a:t>SDK </a:t>
            </a:r>
            <a:r>
              <a:rPr lang="ko-KR" altLang="en-US" sz="2200" b="1" i="0" dirty="0">
                <a:solidFill>
                  <a:srgbClr val="FFFFFF"/>
                </a:solidFill>
                <a:latin typeface="Tahoma"/>
              </a:rPr>
              <a:t>선택 가이드라인 및 개발 시작 권장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57989"/>
            <a:ext cx="3566160" cy="35661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🏢  엔터프라이즈 </a:t>
            </a:r>
            <a:r>
              <a:rPr kumimoji="0" lang="en-US" altLang="ko-KR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ko-KR" altLang="en-US" sz="1300" b="1" i="0" u="none" strike="noStrike" kern="1200" cap="none" spc="0" normalizeH="0" baseline="0" noProof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온프레미스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spc="0" normalizeH="0" baseline="0" noProof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Traditional SDK (SBXPCDLL)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권장
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직접 직렬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·TCP-IP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연결로 저지연 제어
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기존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Windows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인프라와 통합 용이
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C# WinForms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샘플이 가장 풍부
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오프라인 환경 완벽 지원
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32/64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비트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DLL </a:t>
            </a: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구분 필수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0" y="757989"/>
            <a:ext cx="3566160" cy="3566160"/>
          </a:xfrm>
          <a:prstGeom prst="rect">
            <a:avLst/>
          </a:prstGeom>
          <a:solidFill>
            <a:srgbClr val="D9E8F5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🌐  클라우드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</a:t>
            </a: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원격 모니터링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SDK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권장
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디바이스가 서버에 자동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WebSocket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연결
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브라우저 기반 실시간 모니터링
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C#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ASP.NET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이 가장 완성도 높음
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PHP / Python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옵션으로 유연한 배포
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크로스플랫폼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(Linux / Windows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서버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757989"/>
            <a:ext cx="3566160" cy="3566160"/>
          </a:xfrm>
          <a:prstGeom prst="rect">
            <a:avLst/>
          </a:prstGeom>
          <a:solidFill>
            <a:srgbClr val="F2F7FF"/>
          </a:solidFill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📷  얼굴인식 단말 </a:t>
            </a:r>
            <a:r>
              <a:rPr kumimoji="0" lang="en-US" altLang="ko-KR" sz="13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(BOWE)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300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HTTP Push SDK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사용
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A3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-8190 HTTP Server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예제 활용
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Communication Protocols/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문서 참고
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C# WinForms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HttpListener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완성 예제 제공
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Keepalive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주기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(15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초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내 명령 처리 필수
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•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관리자 권한 실행 필요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app.manifest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444464"/>
            <a:ext cx="11064240" cy="1965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🔧  개발 순서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①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BOWE_PC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A3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-8190 User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Manual.pdf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─  디바이스 스펙 확인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②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Communication Protocols/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HTTP·MQTT·WebSocket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프로토콜 문서 정독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③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SDK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유형 결정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Traditional (Serial/TCP) / WebSocket (Cloud) / HTTP Push (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A3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-8190)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④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해당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Sample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프로젝트 실행 및 코드 분석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⑤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SBXPCDLL_API.h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/ WebSocket SDK </a:t>
            </a:r>
            <a:r>
              <a:rPr kumimoji="0" lang="en-US" altLang="ko-K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Protocol.docx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를 참고하여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API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설계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⑥ 비즈니스 로직 구현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인원 관리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출입 기록 처리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원격 제어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3970</Words>
  <Application>Microsoft Office PowerPoint</Application>
  <PresentationFormat>사용자 지정</PresentationFormat>
  <Paragraphs>379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Tahoma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Charlie Choi</cp:lastModifiedBy>
  <cp:revision>5</cp:revision>
  <dcterms:created xsi:type="dcterms:W3CDTF">2013-01-27T09:14:16Z</dcterms:created>
  <dcterms:modified xsi:type="dcterms:W3CDTF">2026-05-20T00:20:13Z</dcterms:modified>
  <cp:category/>
</cp:coreProperties>
</file>