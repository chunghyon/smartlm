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72" r:id="rId11"/>
    <p:sldId id="266" r:id="rId12"/>
    <p:sldId id="267" r:id="rId13"/>
    <p:sldId id="268" r:id="rId14"/>
    <p:sldId id="269" r:id="rId15"/>
    <p:sldId id="270" r:id="rId16"/>
    <p:sldId id="271" r:id="rId17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97" d="100"/>
          <a:sy n="97" d="100"/>
        </p:scale>
        <p:origin x="96" y="3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1">
            <a:extLst>
              <a:ext uri="{FF2B5EF4-FFF2-40B4-BE49-F238E27FC236}">
                <a16:creationId xmlns:a16="http://schemas.microsoft.com/office/drawing/2014/main" id="{34C89BEC-A47B-B737-3C88-C7FD4BD28194}"/>
              </a:ext>
            </a:extLst>
          </p:cNvPr>
          <p:cNvSpPr/>
          <p:nvPr userDrawn="1"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365760" y="210802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 dirty="0" err="1">
                <a:solidFill>
                  <a:srgbClr val="FFFFFF"/>
                </a:solidFill>
              </a:rPr>
              <a:t>목차</a:t>
            </a:r>
            <a:r>
              <a:rPr sz="2800" b="1" i="0" dirty="0">
                <a:solidFill>
                  <a:srgbClr val="FFFFFF"/>
                </a:solidFill>
              </a:rPr>
              <a:t>  (Table of Contents)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43000"/>
            <a:ext cx="502920" cy="640080"/>
          </a:xfrm>
          <a:prstGeom prst="rect">
            <a:avLst/>
          </a:prstGeom>
          <a:solidFill>
            <a:srgbClr val="0088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502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" y="1161288"/>
            <a:ext cx="5029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1A233A"/>
                </a:solidFill>
              </a:rPr>
              <a:t>Repository 개요 (업데이트)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1472184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6575"/>
                </a:solidFill>
              </a:rPr>
              <a:t>전체 구조 + BOWE_PC + Protocols 반영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011680"/>
            <a:ext cx="502920" cy="640080"/>
          </a:xfrm>
          <a:prstGeom prst="rect">
            <a:avLst/>
          </a:prstGeom>
          <a:solidFill>
            <a:srgbClr val="0088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7200" y="2011680"/>
            <a:ext cx="502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" y="2029968"/>
            <a:ext cx="5029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1A233A"/>
                </a:solidFill>
              </a:rPr>
              <a:t>BOWE_PC 폴더 분석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2340864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6575"/>
                </a:solidFill>
              </a:rPr>
              <a:t>A3-8190 얼굴인식 단말기 · PC 클라이언트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880360"/>
            <a:ext cx="502920" cy="640080"/>
          </a:xfrm>
          <a:prstGeom prst="rect">
            <a:avLst/>
          </a:prstGeom>
          <a:solidFill>
            <a:srgbClr val="0088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7200" y="2880360"/>
            <a:ext cx="502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4128" y="2898648"/>
            <a:ext cx="5029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1A233A"/>
                </a:solidFill>
              </a:rPr>
              <a:t>Communication Protocols 분석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4128" y="3209544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6575"/>
                </a:solidFill>
              </a:rPr>
              <a:t>HTTP · MQTT · Java SDK · .NET 샘플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749039"/>
            <a:ext cx="502920" cy="640080"/>
          </a:xfrm>
          <a:prstGeom prst="rect">
            <a:avLst/>
          </a:prstGeom>
          <a:solidFill>
            <a:srgbClr val="0088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57200" y="3749039"/>
            <a:ext cx="502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4128" y="3767327"/>
            <a:ext cx="5029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1A233A"/>
                </a:solidFill>
              </a:rPr>
              <a:t>SDK 20250611 구조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4128" y="4078224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6575"/>
                </a:solidFill>
              </a:rPr>
              <a:t>SBXPC / SBXPCDLL 기반 Windows SDK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617720"/>
            <a:ext cx="502920" cy="640080"/>
          </a:xfrm>
          <a:prstGeom prst="rect">
            <a:avLst/>
          </a:prstGeom>
          <a:solidFill>
            <a:srgbClr val="0088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57200" y="4617720"/>
            <a:ext cx="502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" y="4636007"/>
            <a:ext cx="5029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1A233A"/>
                </a:solidFill>
              </a:rPr>
              <a:t>WebSocket SDK 구조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4128" y="4946904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6575"/>
                </a:solidFill>
              </a:rPr>
              <a:t>C# / PHP / Python 플랫폼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5486400"/>
            <a:ext cx="502920" cy="640080"/>
          </a:xfrm>
          <a:prstGeom prst="rect">
            <a:avLst/>
          </a:prstGeom>
          <a:solidFill>
            <a:srgbClr val="0088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57200" y="5486400"/>
            <a:ext cx="502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06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4128" y="5504688"/>
            <a:ext cx="5029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1A233A"/>
                </a:solidFill>
              </a:rPr>
              <a:t>지원 디바이스 모델 (업데이트)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4128" y="5815584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6575"/>
                </a:solidFill>
              </a:rPr>
              <a:t>SmackBio + BOWE A3-8190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9360" y="1143000"/>
            <a:ext cx="502920" cy="640080"/>
          </a:xfrm>
          <a:prstGeom prst="rect">
            <a:avLst/>
          </a:prstGeom>
          <a:solidFill>
            <a:srgbClr val="0088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309360" y="1143000"/>
            <a:ext cx="502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07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76288" y="1161288"/>
            <a:ext cx="5029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1A233A"/>
                </a:solidFill>
              </a:rPr>
              <a:t>S/W 개발 전체 흐름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76288" y="1472184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6575"/>
                </a:solidFill>
              </a:rPr>
              <a:t>3종 SDK 아키텍처 비교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09360" y="2011680"/>
            <a:ext cx="502920" cy="640080"/>
          </a:xfrm>
          <a:prstGeom prst="rect">
            <a:avLst/>
          </a:prstGeom>
          <a:solidFill>
            <a:srgbClr val="0088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309360" y="2011680"/>
            <a:ext cx="502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08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76288" y="2029968"/>
            <a:ext cx="5029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1A233A"/>
                </a:solidFill>
              </a:rPr>
              <a:t>A3-8190 HTTP 통신 구조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76288" y="2340864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6575"/>
                </a:solidFill>
              </a:rPr>
              <a:t>Keepalive · 인원관리 · 출입기록 흐름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09360" y="2880360"/>
            <a:ext cx="502920" cy="640080"/>
          </a:xfrm>
          <a:prstGeom prst="rect">
            <a:avLst/>
          </a:prstGeom>
          <a:solidFill>
            <a:srgbClr val="0088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309360" y="2880360"/>
            <a:ext cx="502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09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76288" y="2898648"/>
            <a:ext cx="5029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1A233A"/>
                </a:solidFill>
              </a:rPr>
              <a:t>A3-8190 Visual Studio 예제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76288" y="3209544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6575"/>
                </a:solidFill>
              </a:rPr>
              <a:t>프로젝트 구조 · 빌드 · 실행 방법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09360" y="3749039"/>
            <a:ext cx="502920" cy="640080"/>
          </a:xfrm>
          <a:prstGeom prst="rect">
            <a:avLst/>
          </a:prstGeom>
          <a:solidFill>
            <a:srgbClr val="0088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6309360" y="3749039"/>
            <a:ext cx="502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10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76288" y="3767327"/>
            <a:ext cx="5029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1A233A"/>
                </a:solidFill>
              </a:rPr>
              <a:t>새 프로젝트 생성 절차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76288" y="4078224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6575"/>
                </a:solidFill>
              </a:rPr>
              <a:t>Traditional / WebSocket / HTTP 단계별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09360" y="4617720"/>
            <a:ext cx="502920" cy="640080"/>
          </a:xfrm>
          <a:prstGeom prst="rect">
            <a:avLst/>
          </a:prstGeom>
          <a:solidFill>
            <a:srgbClr val="0088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6309360" y="4617720"/>
            <a:ext cx="502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11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76288" y="4636007"/>
            <a:ext cx="5029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1A233A"/>
                </a:solidFill>
              </a:rPr>
              <a:t>플랫폼별 빠른 시작 체크리스트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76288" y="4946904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6575"/>
                </a:solidFill>
              </a:rPr>
              <a:t>언어·프레임워크별 필수 항목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309360" y="5486400"/>
            <a:ext cx="502920" cy="640080"/>
          </a:xfrm>
          <a:prstGeom prst="rect">
            <a:avLst/>
          </a:prstGeom>
          <a:solidFill>
            <a:srgbClr val="0088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309360" y="5486400"/>
            <a:ext cx="502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12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876288" y="5504688"/>
            <a:ext cx="5029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1A233A"/>
                </a:solidFill>
              </a:rPr>
              <a:t>결론 및 권장 사항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76288" y="5815584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6575"/>
                </a:solidFill>
              </a:rPr>
              <a:t>SDK 선택 가이드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365760" y="73152"/>
            <a:ext cx="9144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 dirty="0">
                <a:solidFill>
                  <a:srgbClr val="FFFFFF"/>
                </a:solidFill>
              </a:rPr>
              <a:t>01  Repository </a:t>
            </a:r>
            <a:r>
              <a:rPr sz="2800" b="1" i="0" dirty="0" err="1">
                <a:solidFill>
                  <a:srgbClr val="FFFFFF"/>
                </a:solidFill>
              </a:rPr>
              <a:t>개요</a:t>
            </a:r>
            <a:endParaRPr sz="2800" b="1" i="0" dirty="0">
              <a:solidFill>
                <a:srgbClr val="FFFFFF"/>
              </a:solidFill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365760" y="658368"/>
            <a:ext cx="9144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 dirty="0" err="1">
                <a:solidFill>
                  <a:schemeClr val="bg1"/>
                </a:solidFill>
              </a:rPr>
              <a:t>SmartLM</a:t>
            </a:r>
            <a:r>
              <a:rPr sz="1400" b="0" i="0" dirty="0">
                <a:solidFill>
                  <a:schemeClr val="bg1"/>
                </a:solidFill>
              </a:rPr>
              <a:t> | </a:t>
            </a:r>
            <a:r>
              <a:rPr sz="1400" b="0" i="0" dirty="0" err="1">
                <a:solidFill>
                  <a:schemeClr val="bg1"/>
                </a:solidFill>
              </a:rPr>
              <a:t>SmackBio</a:t>
            </a:r>
            <a:r>
              <a:rPr sz="1400" b="0" i="0" dirty="0">
                <a:solidFill>
                  <a:schemeClr val="bg1"/>
                </a:solidFill>
              </a:rPr>
              <a:t> + BOWE </a:t>
            </a:r>
            <a:r>
              <a:rPr sz="1400" b="0" i="0" dirty="0" err="1">
                <a:solidFill>
                  <a:schemeClr val="bg1"/>
                </a:solidFill>
              </a:rPr>
              <a:t>생체인식</a:t>
            </a:r>
            <a:r>
              <a:rPr sz="1400" b="0" i="0" dirty="0">
                <a:solidFill>
                  <a:schemeClr val="bg1"/>
                </a:solidFill>
              </a:rPr>
              <a:t> </a:t>
            </a:r>
            <a:r>
              <a:rPr sz="1400" b="0" i="0" dirty="0" err="1">
                <a:solidFill>
                  <a:schemeClr val="bg1"/>
                </a:solidFill>
              </a:rPr>
              <a:t>디바이스</a:t>
            </a:r>
            <a:r>
              <a:rPr sz="1400" b="0" i="0" dirty="0">
                <a:solidFill>
                  <a:schemeClr val="bg1"/>
                </a:solidFill>
              </a:rPr>
              <a:t> </a:t>
            </a:r>
            <a:r>
              <a:rPr sz="1400" b="0" i="0" dirty="0" err="1">
                <a:solidFill>
                  <a:schemeClr val="bg1"/>
                </a:solidFill>
              </a:rPr>
              <a:t>통합</a:t>
            </a:r>
            <a:r>
              <a:rPr sz="1400" b="0" i="0" dirty="0">
                <a:solidFill>
                  <a:schemeClr val="bg1"/>
                </a:solidFill>
              </a:rPr>
              <a:t> SDK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5303520" cy="5029200"/>
          </a:xfrm>
          <a:prstGeom prst="rect">
            <a:avLst/>
          </a:prstGeom>
          <a:solidFill>
            <a:srgbClr val="FFFFFF"/>
          </a:solidFill>
          <a:ln w="6350">
            <a:solidFill>
              <a:srgbClr val="008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11430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88CC"/>
                </a:solidFill>
              </a:rPr>
              <a:t>📁  Repository 구조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572768"/>
            <a:ext cx="5029200" cy="30162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SmartLM</a:t>
            </a:r>
            <a:r>
              <a:rPr sz="95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/</a:t>
            </a:r>
          </a:p>
          <a:p>
            <a:pPr algn="l"/>
            <a:r>
              <a:rPr sz="95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 ├─ SDK 20250611/</a:t>
            </a:r>
          </a:p>
          <a:p>
            <a:pPr algn="l"/>
            <a:r>
              <a:rPr sz="95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 │    ├─ bin/          </a:t>
            </a:r>
            <a:r>
              <a:rPr lang="en-US" sz="95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	</a:t>
            </a:r>
            <a:r>
              <a:rPr sz="95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DLL/OCX </a:t>
            </a:r>
            <a:r>
              <a:rPr sz="95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바이너리</a:t>
            </a:r>
            <a:endParaRPr sz="95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algn="l"/>
            <a:r>
              <a:rPr sz="95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 │    ├─ doc/          </a:t>
            </a:r>
            <a:r>
              <a:rPr lang="en-US" sz="95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	</a:t>
            </a:r>
            <a:r>
              <a:rPr sz="95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레퍼런스</a:t>
            </a:r>
            <a:r>
              <a:rPr sz="95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95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매뉴얼</a:t>
            </a:r>
            <a:endParaRPr sz="95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algn="l"/>
            <a:r>
              <a:rPr sz="95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 │    └─ samples/      </a:t>
            </a:r>
            <a:r>
              <a:rPr lang="en-US" sz="95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	</a:t>
            </a:r>
            <a:r>
              <a:rPr sz="95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A30</a:t>
            </a:r>
            <a:r>
              <a:rPr sz="95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·A50·M50·S300</a:t>
            </a:r>
            <a:r>
              <a:rPr sz="95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95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샘플</a:t>
            </a:r>
            <a:endParaRPr sz="95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algn="l"/>
            <a:r>
              <a:rPr sz="95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 ├─ </a:t>
            </a:r>
            <a:r>
              <a:rPr sz="95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WebSocketSDK</a:t>
            </a:r>
            <a:r>
              <a:rPr sz="95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20250611/</a:t>
            </a:r>
          </a:p>
          <a:p>
            <a:pPr algn="l"/>
            <a:r>
              <a:rPr sz="95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 │    ├─ </a:t>
            </a:r>
            <a:r>
              <a:rPr sz="95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WebSocketSDK</a:t>
            </a:r>
            <a:r>
              <a:rPr sz="95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/  C#/.NET</a:t>
            </a:r>
          </a:p>
          <a:p>
            <a:pPr algn="l"/>
            <a:r>
              <a:rPr sz="95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 │    ├─ </a:t>
            </a:r>
            <a:r>
              <a:rPr sz="95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WebSocketSDK_PHP</a:t>
            </a:r>
            <a:r>
              <a:rPr sz="95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/</a:t>
            </a:r>
          </a:p>
          <a:p>
            <a:pPr algn="l"/>
            <a:r>
              <a:rPr sz="95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 │    └─ </a:t>
            </a:r>
            <a:r>
              <a:rPr sz="95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WebSocketSDK_Python</a:t>
            </a:r>
            <a:r>
              <a:rPr sz="95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/</a:t>
            </a:r>
          </a:p>
          <a:p>
            <a:pPr algn="l"/>
            <a:r>
              <a:rPr sz="95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 ├─ </a:t>
            </a:r>
            <a:r>
              <a:rPr sz="95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BOWE_PC</a:t>
            </a:r>
            <a:r>
              <a:rPr sz="95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/</a:t>
            </a:r>
          </a:p>
          <a:p>
            <a:pPr algn="l"/>
            <a:r>
              <a:rPr sz="95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 │    ├─ </a:t>
            </a:r>
            <a:r>
              <a:rPr sz="95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A3</a:t>
            </a:r>
            <a:r>
              <a:rPr sz="95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-8190 User </a:t>
            </a:r>
            <a:r>
              <a:rPr sz="95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Manual.pdf</a:t>
            </a:r>
            <a:endParaRPr sz="95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algn="l"/>
            <a:r>
              <a:rPr sz="95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 │    └─ PC Client software Operation </a:t>
            </a:r>
            <a:r>
              <a:rPr sz="95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Instruction.pdf</a:t>
            </a:r>
            <a:endParaRPr sz="95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algn="l"/>
            <a:r>
              <a:rPr sz="95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 ├─ Communication Protocols/</a:t>
            </a:r>
          </a:p>
          <a:p>
            <a:pPr algn="l"/>
            <a:r>
              <a:rPr sz="95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 │    ├─ .NET/sample/  (.NET </a:t>
            </a:r>
            <a:r>
              <a:rPr sz="95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샘플</a:t>
            </a:r>
            <a:r>
              <a:rPr sz="95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.</a:t>
            </a:r>
            <a:r>
              <a:rPr sz="95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rar</a:t>
            </a:r>
            <a:r>
              <a:rPr sz="95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)</a:t>
            </a:r>
          </a:p>
          <a:p>
            <a:pPr algn="l"/>
            <a:r>
              <a:rPr sz="95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 │    ├─ </a:t>
            </a:r>
            <a:r>
              <a:rPr sz="95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2.JAVA</a:t>
            </a:r>
            <a:r>
              <a:rPr sz="95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/  (Java SDK + </a:t>
            </a:r>
            <a:r>
              <a:rPr sz="95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javadoc</a:t>
            </a:r>
            <a:r>
              <a:rPr sz="95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+ </a:t>
            </a:r>
            <a:r>
              <a:rPr sz="95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샘플</a:t>
            </a:r>
            <a:r>
              <a:rPr sz="95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)</a:t>
            </a:r>
          </a:p>
          <a:p>
            <a:pPr algn="l"/>
            <a:r>
              <a:rPr sz="95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 │    ├─ HTTP protocol …md</a:t>
            </a:r>
          </a:p>
          <a:p>
            <a:pPr algn="l"/>
            <a:r>
              <a:rPr sz="95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 │    ├─ </a:t>
            </a:r>
            <a:r>
              <a:rPr sz="95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MQTT</a:t>
            </a:r>
            <a:r>
              <a:rPr sz="95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protocol …pdf</a:t>
            </a:r>
          </a:p>
          <a:p>
            <a:pPr algn="l"/>
            <a:r>
              <a:rPr sz="95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 │    └─ </a:t>
            </a:r>
            <a:r>
              <a:rPr sz="95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HTTPv2</a:t>
            </a:r>
            <a:r>
              <a:rPr sz="95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API Sequence </a:t>
            </a:r>
            <a:r>
              <a:rPr sz="95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Diagrams.html</a:t>
            </a:r>
            <a:endParaRPr sz="95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algn="l"/>
            <a:r>
              <a:rPr sz="95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 ├─ BOWE products </a:t>
            </a:r>
            <a:r>
              <a:rPr sz="95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brochure#20250801.pdf</a:t>
            </a:r>
            <a:endParaRPr sz="95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algn="l"/>
            <a:r>
              <a:rPr sz="95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 └─ </a:t>
            </a:r>
            <a:r>
              <a:rPr sz="95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SmartLM_SDK_분석보고서.pptx</a:t>
            </a:r>
            <a:r>
              <a:rPr sz="95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/ </a:t>
            </a:r>
            <a:r>
              <a:rPr sz="95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2.pptx</a:t>
            </a:r>
            <a:endParaRPr sz="95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943600" y="1097280"/>
            <a:ext cx="5943600" cy="2331720"/>
          </a:xfrm>
          <a:prstGeom prst="rect">
            <a:avLst/>
          </a:prstGeom>
          <a:solidFill>
            <a:srgbClr val="FFFFFF"/>
          </a:solidFill>
          <a:ln w="6350">
            <a:solidFill>
              <a:srgbClr val="008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080760" y="1143000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88CC"/>
                </a:solidFill>
              </a:rPr>
              <a:t>🔑  핵심 특징 (업데이트)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1487043"/>
            <a:ext cx="5669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A233A"/>
                </a:solidFill>
              </a:rPr>
              <a:t>SDK 유형 (3가지)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685925"/>
            <a:ext cx="5669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 dirty="0">
                <a:solidFill>
                  <a:srgbClr val="556575"/>
                </a:solidFill>
              </a:rPr>
              <a:t>① Traditional (Serial/TCP-IP/P2P) — </a:t>
            </a:r>
            <a:r>
              <a:rPr sz="950" b="0" i="0" dirty="0" err="1">
                <a:solidFill>
                  <a:srgbClr val="556575"/>
                </a:solidFill>
              </a:rPr>
              <a:t>SBXPCDLL</a:t>
            </a:r>
            <a:r>
              <a:rPr sz="950" b="0" i="0" dirty="0">
                <a:solidFill>
                  <a:srgbClr val="556575"/>
                </a:solidFill>
              </a:rPr>
              <a:t>
② WebSocket (</a:t>
            </a:r>
            <a:r>
              <a:rPr sz="950" b="0" i="0" dirty="0" err="1">
                <a:solidFill>
                  <a:srgbClr val="556575"/>
                </a:solidFill>
              </a:rPr>
              <a:t>클라우드</a:t>
            </a:r>
            <a:r>
              <a:rPr sz="950" b="0" i="0" dirty="0">
                <a:solidFill>
                  <a:srgbClr val="556575"/>
                </a:solidFill>
              </a:rPr>
              <a:t>/</a:t>
            </a:r>
            <a:r>
              <a:rPr sz="950" b="0" i="0" dirty="0" err="1">
                <a:solidFill>
                  <a:srgbClr val="556575"/>
                </a:solidFill>
              </a:rPr>
              <a:t>원격</a:t>
            </a:r>
            <a:r>
              <a:rPr sz="950" b="0" i="0" dirty="0">
                <a:solidFill>
                  <a:srgbClr val="556575"/>
                </a:solidFill>
              </a:rPr>
              <a:t>) — PHP/Python/C#
③ HTTP Push </a:t>
            </a:r>
            <a:r>
              <a:rPr sz="950" b="0" i="0" dirty="0" err="1">
                <a:solidFill>
                  <a:srgbClr val="556575"/>
                </a:solidFill>
              </a:rPr>
              <a:t>프로토콜</a:t>
            </a:r>
            <a:r>
              <a:rPr sz="950" b="0" i="0" dirty="0">
                <a:solidFill>
                  <a:srgbClr val="556575"/>
                </a:solidFill>
              </a:rPr>
              <a:t> — BOWE </a:t>
            </a:r>
            <a:r>
              <a:rPr sz="950" b="0" i="0" dirty="0" err="1">
                <a:solidFill>
                  <a:srgbClr val="556575"/>
                </a:solidFill>
              </a:rPr>
              <a:t>A3</a:t>
            </a:r>
            <a:r>
              <a:rPr sz="950" b="0" i="0" dirty="0">
                <a:solidFill>
                  <a:srgbClr val="556575"/>
                </a:solidFill>
              </a:rPr>
              <a:t>-8190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2258568"/>
            <a:ext cx="5669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 dirty="0">
                <a:solidFill>
                  <a:srgbClr val="1A233A"/>
                </a:solidFill>
              </a:rPr>
              <a:t>새 </a:t>
            </a:r>
            <a:r>
              <a:rPr sz="1050" b="1" i="0" dirty="0" err="1">
                <a:solidFill>
                  <a:srgbClr val="1A233A"/>
                </a:solidFill>
              </a:rPr>
              <a:t>디바이스</a:t>
            </a:r>
            <a:endParaRPr sz="1050" b="1" i="0" dirty="0">
              <a:solidFill>
                <a:srgbClr val="1A233A"/>
              </a:solidFill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6080760" y="2466975"/>
            <a:ext cx="5669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 dirty="0">
                <a:solidFill>
                  <a:srgbClr val="556575"/>
                </a:solidFill>
              </a:rPr>
              <a:t>BOWE </a:t>
            </a:r>
            <a:r>
              <a:rPr sz="950" b="0" i="0" dirty="0" err="1">
                <a:solidFill>
                  <a:srgbClr val="556575"/>
                </a:solidFill>
              </a:rPr>
              <a:t>A3</a:t>
            </a:r>
            <a:r>
              <a:rPr sz="950" b="0" i="0" dirty="0">
                <a:solidFill>
                  <a:srgbClr val="556575"/>
                </a:solidFill>
              </a:rPr>
              <a:t>-8190 </a:t>
            </a:r>
            <a:r>
              <a:rPr sz="950" b="0" i="0" dirty="0" err="1">
                <a:solidFill>
                  <a:srgbClr val="556575"/>
                </a:solidFill>
              </a:rPr>
              <a:t>얼굴인식+지문</a:t>
            </a:r>
            <a:r>
              <a:rPr sz="950" b="0" i="0" dirty="0">
                <a:solidFill>
                  <a:srgbClr val="556575"/>
                </a:solidFill>
              </a:rPr>
              <a:t> </a:t>
            </a:r>
            <a:r>
              <a:rPr sz="950" b="0" i="0" dirty="0" err="1">
                <a:solidFill>
                  <a:srgbClr val="556575"/>
                </a:solidFill>
              </a:rPr>
              <a:t>출입</a:t>
            </a:r>
            <a:r>
              <a:rPr sz="950" b="0" i="0" dirty="0">
                <a:solidFill>
                  <a:srgbClr val="556575"/>
                </a:solidFill>
              </a:rPr>
              <a:t> </a:t>
            </a:r>
            <a:r>
              <a:rPr sz="950" b="0" i="0" dirty="0" err="1">
                <a:solidFill>
                  <a:srgbClr val="556575"/>
                </a:solidFill>
              </a:rPr>
              <a:t>단말기</a:t>
            </a:r>
            <a:r>
              <a:rPr sz="950" b="0" i="0" dirty="0">
                <a:solidFill>
                  <a:srgbClr val="556575"/>
                </a:solidFill>
              </a:rPr>
              <a:t>
HTTP(S) </a:t>
            </a:r>
            <a:r>
              <a:rPr sz="950" b="0" i="0" dirty="0" err="1">
                <a:solidFill>
                  <a:srgbClr val="556575"/>
                </a:solidFill>
              </a:rPr>
              <a:t>기반</a:t>
            </a:r>
            <a:r>
              <a:rPr sz="950" b="0" i="0" dirty="0">
                <a:solidFill>
                  <a:srgbClr val="556575"/>
                </a:solidFill>
              </a:rPr>
              <a:t>, </a:t>
            </a:r>
            <a:r>
              <a:rPr sz="950" b="0" i="0" dirty="0" err="1">
                <a:solidFill>
                  <a:srgbClr val="556575"/>
                </a:solidFill>
              </a:rPr>
              <a:t>디바이스가</a:t>
            </a:r>
            <a:r>
              <a:rPr sz="950" b="0" i="0" dirty="0">
                <a:solidFill>
                  <a:srgbClr val="556575"/>
                </a:solidFill>
              </a:rPr>
              <a:t> </a:t>
            </a:r>
            <a:r>
              <a:rPr sz="950" b="0" i="0" dirty="0" err="1">
                <a:solidFill>
                  <a:srgbClr val="556575"/>
                </a:solidFill>
              </a:rPr>
              <a:t>서버에</a:t>
            </a:r>
            <a:r>
              <a:rPr sz="950" b="0" i="0" dirty="0">
                <a:solidFill>
                  <a:srgbClr val="556575"/>
                </a:solidFill>
              </a:rPr>
              <a:t> </a:t>
            </a:r>
            <a:r>
              <a:rPr sz="950" b="0" i="0" dirty="0" err="1">
                <a:solidFill>
                  <a:srgbClr val="556575"/>
                </a:solidFill>
              </a:rPr>
              <a:t>접속하는</a:t>
            </a:r>
            <a:r>
              <a:rPr sz="950" b="0" i="0" dirty="0">
                <a:solidFill>
                  <a:srgbClr val="556575"/>
                </a:solidFill>
              </a:rPr>
              <a:t> Push </a:t>
            </a:r>
            <a:r>
              <a:rPr sz="950" b="0" i="0" dirty="0" err="1">
                <a:solidFill>
                  <a:srgbClr val="556575"/>
                </a:solidFill>
              </a:rPr>
              <a:t>구조</a:t>
            </a:r>
            <a:endParaRPr sz="950" b="0" i="0" dirty="0">
              <a:solidFill>
                <a:srgbClr val="556575"/>
              </a:solidFill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80760" y="2944368"/>
            <a:ext cx="5669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A233A"/>
                </a:solidFill>
              </a:rPr>
              <a:t>지원 언어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80760" y="3200400"/>
            <a:ext cx="5669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56575"/>
                </a:solidFill>
              </a:rPr>
              <a:t>C#, VB.NET, Java, Delphi, VB6, PHP, Python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943600" y="3566160"/>
            <a:ext cx="5943600" cy="2560320"/>
          </a:xfrm>
          <a:prstGeom prst="rect">
            <a:avLst/>
          </a:prstGeom>
          <a:solidFill>
            <a:srgbClr val="FFFFFF"/>
          </a:solidFill>
          <a:ln w="6350">
            <a:solidFill>
              <a:srgbClr val="2E86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080760" y="3611880"/>
            <a:ext cx="566928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 dirty="0">
                <a:solidFill>
                  <a:srgbClr val="2E8648"/>
                </a:solidFill>
              </a:rPr>
              <a:t>🆕  </a:t>
            </a:r>
            <a:r>
              <a:rPr lang="ko-KR" altLang="en-US" sz="1300" b="1" dirty="0">
                <a:solidFill>
                  <a:srgbClr val="2E8648"/>
                </a:solidFill>
              </a:rPr>
              <a:t>기타 폴더</a:t>
            </a:r>
            <a:endParaRPr sz="1300" b="1" i="0" dirty="0">
              <a:solidFill>
                <a:srgbClr val="2E8648"/>
              </a:solidFill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6080760" y="404164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6B35"/>
                </a:solidFill>
              </a:rPr>
              <a:t>  📌 BOWE_PC/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9097" y="4041648"/>
            <a:ext cx="3582383" cy="238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 dirty="0" err="1">
                <a:solidFill>
                  <a:srgbClr val="556575"/>
                </a:solidFill>
              </a:rPr>
              <a:t>A3</a:t>
            </a:r>
            <a:r>
              <a:rPr sz="950" b="0" i="0" dirty="0">
                <a:solidFill>
                  <a:srgbClr val="556575"/>
                </a:solidFill>
              </a:rPr>
              <a:t>-8190 </a:t>
            </a:r>
            <a:r>
              <a:rPr sz="950" b="0" i="0" dirty="0" err="1">
                <a:solidFill>
                  <a:srgbClr val="556575"/>
                </a:solidFill>
              </a:rPr>
              <a:t>사용자</a:t>
            </a:r>
            <a:r>
              <a:rPr sz="950" b="0" i="0" dirty="0">
                <a:solidFill>
                  <a:srgbClr val="556575"/>
                </a:solidFill>
              </a:rPr>
              <a:t> </a:t>
            </a:r>
            <a:r>
              <a:rPr sz="950" b="0" i="0" dirty="0" err="1">
                <a:solidFill>
                  <a:srgbClr val="556575"/>
                </a:solidFill>
              </a:rPr>
              <a:t>매뉴얼</a:t>
            </a:r>
            <a:r>
              <a:rPr sz="950" b="0" i="0" dirty="0">
                <a:solidFill>
                  <a:srgbClr val="556575"/>
                </a:solidFill>
              </a:rPr>
              <a:t>, PC </a:t>
            </a:r>
            <a:r>
              <a:rPr sz="950" b="0" i="0" dirty="0" err="1">
                <a:solidFill>
                  <a:srgbClr val="556575"/>
                </a:solidFill>
              </a:rPr>
              <a:t>클라이언트</a:t>
            </a:r>
            <a:r>
              <a:rPr sz="950" b="0" i="0" dirty="0">
                <a:solidFill>
                  <a:srgbClr val="556575"/>
                </a:solidFill>
              </a:rPr>
              <a:t> </a:t>
            </a:r>
            <a:r>
              <a:rPr sz="950" b="0" i="0" dirty="0" err="1">
                <a:solidFill>
                  <a:srgbClr val="556575"/>
                </a:solidFill>
              </a:rPr>
              <a:t>소프트웨어</a:t>
            </a:r>
            <a:r>
              <a:rPr sz="950" b="0" i="0" dirty="0">
                <a:solidFill>
                  <a:srgbClr val="556575"/>
                </a:solidFill>
              </a:rPr>
              <a:t> </a:t>
            </a:r>
            <a:r>
              <a:rPr sz="950" b="0" i="0" dirty="0" err="1">
                <a:solidFill>
                  <a:srgbClr val="556575"/>
                </a:solidFill>
              </a:rPr>
              <a:t>가이드</a:t>
            </a:r>
            <a:endParaRPr sz="950" b="0" i="0" dirty="0">
              <a:solidFill>
                <a:srgbClr val="556575"/>
              </a:solidFill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080760" y="454456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6B35"/>
                </a:solidFill>
              </a:rPr>
              <a:t>  📌 Communication Protocols/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9097" y="4544568"/>
            <a:ext cx="3582383" cy="238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 dirty="0">
                <a:solidFill>
                  <a:srgbClr val="556575"/>
                </a:solidFill>
              </a:rPr>
              <a:t>HTTP </a:t>
            </a:r>
            <a:r>
              <a:rPr sz="950" b="0" i="0" dirty="0" err="1">
                <a:solidFill>
                  <a:srgbClr val="556575"/>
                </a:solidFill>
              </a:rPr>
              <a:t>v6.0</a:t>
            </a:r>
            <a:r>
              <a:rPr sz="950" b="0" i="0" dirty="0">
                <a:solidFill>
                  <a:srgbClr val="556575"/>
                </a:solidFill>
              </a:rPr>
              <a:t>, </a:t>
            </a:r>
            <a:r>
              <a:rPr sz="950" b="0" i="0" dirty="0" err="1">
                <a:solidFill>
                  <a:srgbClr val="556575"/>
                </a:solidFill>
              </a:rPr>
              <a:t>MQTT</a:t>
            </a:r>
            <a:r>
              <a:rPr sz="950" b="0" i="0" dirty="0">
                <a:solidFill>
                  <a:srgbClr val="556575"/>
                </a:solidFill>
              </a:rPr>
              <a:t>, Java SDK (</a:t>
            </a:r>
            <a:r>
              <a:rPr sz="950" b="0" i="0" dirty="0" err="1">
                <a:solidFill>
                  <a:srgbClr val="556575"/>
                </a:solidFill>
              </a:rPr>
              <a:t>javadoc+샘플</a:t>
            </a:r>
            <a:r>
              <a:rPr sz="950" b="0" i="0" dirty="0">
                <a:solidFill>
                  <a:srgbClr val="556575"/>
                </a:solidFill>
              </a:rPr>
              <a:t>), .NET </a:t>
            </a:r>
            <a:r>
              <a:rPr sz="950" b="0" i="0" dirty="0" err="1">
                <a:solidFill>
                  <a:srgbClr val="556575"/>
                </a:solidFill>
              </a:rPr>
              <a:t>샘플</a:t>
            </a:r>
            <a:endParaRPr sz="950" b="0" i="0" dirty="0">
              <a:solidFill>
                <a:srgbClr val="556575"/>
              </a:solidFill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6080760" y="50474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6B35"/>
                </a:solidFill>
              </a:rPr>
              <a:t>  📌 Sample_A3-8190/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59097" y="5047488"/>
            <a:ext cx="3582383" cy="238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 dirty="0">
                <a:solidFill>
                  <a:srgbClr val="556575"/>
                </a:solidFill>
              </a:rPr>
              <a:t>Visual Studio C# WinForms HTTP Server </a:t>
            </a:r>
            <a:r>
              <a:rPr sz="950" b="0" i="0" dirty="0" err="1">
                <a:solidFill>
                  <a:srgbClr val="556575"/>
                </a:solidFill>
              </a:rPr>
              <a:t>예제</a:t>
            </a:r>
            <a:endParaRPr sz="950" b="0" i="0" dirty="0">
              <a:solidFill>
                <a:srgbClr val="556575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365760" y="73152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02  BOWE_PC 폴더 분석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58368"/>
            <a:ext cx="9144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 dirty="0">
                <a:solidFill>
                  <a:schemeClr val="bg1"/>
                </a:solidFill>
              </a:rPr>
              <a:t>BOWE </a:t>
            </a:r>
            <a:r>
              <a:rPr sz="1400" b="0" i="0" dirty="0" err="1">
                <a:solidFill>
                  <a:schemeClr val="bg1"/>
                </a:solidFill>
              </a:rPr>
              <a:t>A3</a:t>
            </a:r>
            <a:r>
              <a:rPr sz="1400" b="0" i="0" dirty="0">
                <a:solidFill>
                  <a:schemeClr val="bg1"/>
                </a:solidFill>
              </a:rPr>
              <a:t>-8190 </a:t>
            </a:r>
            <a:r>
              <a:rPr sz="1400" b="0" i="0" dirty="0" err="1">
                <a:solidFill>
                  <a:schemeClr val="bg1"/>
                </a:solidFill>
              </a:rPr>
              <a:t>얼굴인식</a:t>
            </a:r>
            <a:r>
              <a:rPr sz="1400" b="0" i="0" dirty="0">
                <a:solidFill>
                  <a:schemeClr val="bg1"/>
                </a:solidFill>
              </a:rPr>
              <a:t> </a:t>
            </a:r>
            <a:r>
              <a:rPr sz="1400" b="0" i="0" dirty="0" err="1">
                <a:solidFill>
                  <a:schemeClr val="bg1"/>
                </a:solidFill>
              </a:rPr>
              <a:t>출입</a:t>
            </a:r>
            <a:r>
              <a:rPr sz="1400" b="0" i="0" dirty="0">
                <a:solidFill>
                  <a:schemeClr val="bg1"/>
                </a:solidFill>
              </a:rPr>
              <a:t> </a:t>
            </a:r>
            <a:r>
              <a:rPr sz="1400" b="0" i="0" dirty="0" err="1">
                <a:solidFill>
                  <a:schemeClr val="bg1"/>
                </a:solidFill>
              </a:rPr>
              <a:t>단말기</a:t>
            </a:r>
            <a:r>
              <a:rPr sz="1400" b="0" i="0" dirty="0">
                <a:solidFill>
                  <a:schemeClr val="bg1"/>
                </a:solidFill>
              </a:rPr>
              <a:t> · PC </a:t>
            </a:r>
            <a:r>
              <a:rPr sz="1400" b="0" i="0" dirty="0" err="1">
                <a:solidFill>
                  <a:schemeClr val="bg1"/>
                </a:solidFill>
              </a:rPr>
              <a:t>클라이언트</a:t>
            </a:r>
            <a:r>
              <a:rPr sz="1400" b="0" i="0" dirty="0">
                <a:solidFill>
                  <a:schemeClr val="bg1"/>
                </a:solidFill>
              </a:rPr>
              <a:t> </a:t>
            </a:r>
            <a:r>
              <a:rPr sz="1400" b="0" i="0" dirty="0" err="1">
                <a:solidFill>
                  <a:schemeClr val="bg1"/>
                </a:solidFill>
              </a:rPr>
              <a:t>소프트웨어</a:t>
            </a:r>
            <a:endParaRPr sz="1400" b="0" i="0" dirty="0">
              <a:solidFill>
                <a:schemeClr val="bg1"/>
              </a:solidFill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1430000" cy="4572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1170432"/>
            <a:ext cx="4572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📁 BOWE_PC/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691640"/>
            <a:ext cx="5394960" cy="4389120"/>
          </a:xfrm>
          <a:prstGeom prst="rect">
            <a:avLst/>
          </a:prstGeom>
          <a:solidFill>
            <a:srgbClr val="F0F4F8"/>
          </a:solidFill>
          <a:ln w="6350">
            <a:solidFill>
              <a:srgbClr val="008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365760" y="1691640"/>
            <a:ext cx="5394960" cy="347472"/>
          </a:xfrm>
          <a:prstGeom prst="rect">
            <a:avLst/>
          </a:prstGeom>
          <a:solidFill>
            <a:srgbClr val="0088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75488" y="1728216"/>
            <a:ext cx="5212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</a:rPr>
              <a:t>A3-8190 User Manual.pdf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2075688"/>
            <a:ext cx="52120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1A233A"/>
                </a:solidFill>
              </a:rPr>
              <a:t>• BOWE A3-8190 얼굴인식+지문 출입 단말기</a:t>
            </a:r>
          </a:p>
          <a:p>
            <a:pPr algn="l"/>
            <a:r>
              <a:rPr sz="1050" b="0">
                <a:solidFill>
                  <a:srgbClr val="1A233A"/>
                </a:solidFill>
              </a:rPr>
              <a:t>• 얼굴/지문/카드/비밀번호 복합 인증 지원</a:t>
            </a:r>
          </a:p>
          <a:p>
            <a:pPr algn="l"/>
            <a:r>
              <a:rPr sz="1050" b="0">
                <a:solidFill>
                  <a:srgbClr val="1A233A"/>
                </a:solidFill>
              </a:rPr>
              <a:t>• HTTP(S) 프로토콜 기반 클라우드 연동</a:t>
            </a:r>
          </a:p>
          <a:p>
            <a:pPr algn="l"/>
            <a:r>
              <a:rPr sz="1050" b="0">
                <a:solidFill>
                  <a:srgbClr val="1A233A"/>
                </a:solidFill>
              </a:rPr>
              <a:t>• MQTT 프로토콜 지원</a:t>
            </a:r>
          </a:p>
          <a:p>
            <a:pPr algn="l"/>
            <a:r>
              <a:rPr sz="1050" b="0">
                <a:solidFill>
                  <a:srgbClr val="1A233A"/>
                </a:solidFill>
              </a:rPr>
              <a:t>• 최대 5,000명 등록 (얼굴/카드/지문 각각)</a:t>
            </a:r>
          </a:p>
          <a:p>
            <a:pPr algn="l"/>
            <a:r>
              <a:rPr sz="1050" b="0">
                <a:solidFill>
                  <a:srgbClr val="1A233A"/>
                </a:solidFill>
              </a:rPr>
              <a:t>• 출입 기록 최대 10만 건 저장</a:t>
            </a:r>
          </a:p>
          <a:p>
            <a:pPr algn="l"/>
            <a:r>
              <a:rPr sz="1050" b="0">
                <a:solidFill>
                  <a:srgbClr val="1A233A"/>
                </a:solidFill>
              </a:rPr>
              <a:t>• 체온 측정 옵션 (-10 ~ +10°C 보정)</a:t>
            </a:r>
          </a:p>
          <a:p>
            <a:pPr algn="l"/>
            <a:r>
              <a:rPr sz="1050" b="0">
                <a:solidFill>
                  <a:srgbClr val="1A233A"/>
                </a:solidFill>
              </a:rPr>
              <a:t>• QR코드 인식 지원</a:t>
            </a:r>
          </a:p>
          <a:p>
            <a:pPr algn="l"/>
            <a:r>
              <a:rPr sz="1050" b="0">
                <a:solidFill>
                  <a:srgbClr val="1A233A"/>
                </a:solidFill>
              </a:rPr>
              <a:t>• 엘리베이터 층별 권한 제어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26480" y="1691640"/>
            <a:ext cx="5394960" cy="4389120"/>
          </a:xfrm>
          <a:prstGeom prst="rect">
            <a:avLst/>
          </a:prstGeom>
          <a:solidFill>
            <a:srgbClr val="F0F4F8"/>
          </a:solidFill>
          <a:ln w="6350">
            <a:solidFill>
              <a:srgbClr val="008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126480" y="1691640"/>
            <a:ext cx="5394960" cy="347472"/>
          </a:xfrm>
          <a:prstGeom prst="rect">
            <a:avLst/>
          </a:prstGeom>
          <a:solidFill>
            <a:srgbClr val="2E86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236208" y="1728216"/>
            <a:ext cx="5212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</a:rPr>
              <a:t>PC Client software Operation Instruction.pdf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36208" y="2075688"/>
            <a:ext cx="52120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1A233A"/>
                </a:solidFill>
              </a:rPr>
              <a:t>• PC 클라이언트 소프트웨어 운영 가이드</a:t>
            </a:r>
          </a:p>
          <a:p>
            <a:pPr algn="l"/>
            <a:r>
              <a:rPr sz="1050" b="0">
                <a:solidFill>
                  <a:srgbClr val="1A233A"/>
                </a:solidFill>
              </a:rPr>
              <a:t>• 디바이스 관리 UI 설명</a:t>
            </a:r>
          </a:p>
          <a:p>
            <a:pPr algn="l"/>
            <a:r>
              <a:rPr sz="1050" b="0">
                <a:solidFill>
                  <a:srgbClr val="1A233A"/>
                </a:solidFill>
              </a:rPr>
              <a:t>• 인원 등록 및 관리 절차</a:t>
            </a:r>
          </a:p>
          <a:p>
            <a:pPr algn="l"/>
            <a:r>
              <a:rPr sz="1050" b="0">
                <a:solidFill>
                  <a:srgbClr val="1A233A"/>
                </a:solidFill>
              </a:rPr>
              <a:t>• 출입 기록 조회 및 내보내기</a:t>
            </a:r>
          </a:p>
          <a:p>
            <a:pPr algn="l"/>
            <a:r>
              <a:rPr sz="1050" b="0">
                <a:solidFill>
                  <a:srgbClr val="1A233A"/>
                </a:solidFill>
              </a:rPr>
              <a:t>• 시스템 설정 및 파라미터 구성</a:t>
            </a:r>
          </a:p>
          <a:p>
            <a:pPr algn="l"/>
            <a:r>
              <a:rPr sz="1050" b="0">
                <a:solidFill>
                  <a:srgbClr val="1A233A"/>
                </a:solidFill>
              </a:rPr>
              <a:t>• 접근 시간대 (TimeGroup) 설정</a:t>
            </a:r>
          </a:p>
          <a:p>
            <a:pPr algn="l"/>
            <a:r>
              <a:rPr sz="1050" b="0">
                <a:solidFill>
                  <a:srgbClr val="1A233A"/>
                </a:solidFill>
              </a:rPr>
              <a:t>• 리포트 및 통계 기능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208776"/>
            <a:ext cx="1124712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 i="0" dirty="0">
                <a:solidFill>
                  <a:srgbClr val="FF0000"/>
                </a:solidFill>
              </a:rPr>
              <a:t>💡  </a:t>
            </a:r>
            <a:r>
              <a:rPr sz="1050" b="0" i="0" dirty="0" err="1">
                <a:solidFill>
                  <a:srgbClr val="FF0000"/>
                </a:solidFill>
              </a:rPr>
              <a:t>A3</a:t>
            </a:r>
            <a:r>
              <a:rPr sz="1050" b="0" i="0" dirty="0">
                <a:solidFill>
                  <a:srgbClr val="FF0000"/>
                </a:solidFill>
              </a:rPr>
              <a:t>-8190 </a:t>
            </a:r>
            <a:r>
              <a:rPr sz="1050" b="0" i="0" dirty="0" err="1">
                <a:solidFill>
                  <a:srgbClr val="FF0000"/>
                </a:solidFill>
              </a:rPr>
              <a:t>통신</a:t>
            </a:r>
            <a:r>
              <a:rPr sz="1050" b="0" i="0" dirty="0">
                <a:solidFill>
                  <a:srgbClr val="FF0000"/>
                </a:solidFill>
              </a:rPr>
              <a:t> </a:t>
            </a:r>
            <a:r>
              <a:rPr sz="1050" b="0" i="0" dirty="0" err="1">
                <a:solidFill>
                  <a:srgbClr val="FF0000"/>
                </a:solidFill>
              </a:rPr>
              <a:t>방식</a:t>
            </a:r>
            <a:r>
              <a:rPr sz="1050" b="0" i="0" dirty="0">
                <a:solidFill>
                  <a:srgbClr val="FF0000"/>
                </a:solidFill>
              </a:rPr>
              <a:t>: HTTP(S) Push </a:t>
            </a:r>
            <a:r>
              <a:rPr sz="1050" b="0" i="0" dirty="0" err="1">
                <a:solidFill>
                  <a:srgbClr val="FF0000"/>
                </a:solidFill>
              </a:rPr>
              <a:t>구조</a:t>
            </a:r>
            <a:r>
              <a:rPr sz="1050" b="0" i="0" dirty="0">
                <a:solidFill>
                  <a:srgbClr val="FF0000"/>
                </a:solidFill>
              </a:rPr>
              <a:t> — </a:t>
            </a:r>
            <a:r>
              <a:rPr sz="1050" b="0" i="0" dirty="0" err="1">
                <a:solidFill>
                  <a:srgbClr val="FF0000"/>
                </a:solidFill>
              </a:rPr>
              <a:t>디바이스가</a:t>
            </a:r>
            <a:r>
              <a:rPr sz="1050" b="0" i="0" dirty="0">
                <a:solidFill>
                  <a:srgbClr val="FF0000"/>
                </a:solidFill>
              </a:rPr>
              <a:t> </a:t>
            </a:r>
            <a:r>
              <a:rPr sz="1050" b="0" i="0" dirty="0" err="1">
                <a:solidFill>
                  <a:srgbClr val="FF0000"/>
                </a:solidFill>
              </a:rPr>
              <a:t>서버에</a:t>
            </a:r>
            <a:r>
              <a:rPr sz="1050" b="0" i="0" dirty="0">
                <a:solidFill>
                  <a:srgbClr val="FF0000"/>
                </a:solidFill>
              </a:rPr>
              <a:t> </a:t>
            </a:r>
            <a:r>
              <a:rPr sz="1050" b="0" i="0" dirty="0" err="1">
                <a:solidFill>
                  <a:srgbClr val="FF0000"/>
                </a:solidFill>
              </a:rPr>
              <a:t>능동</a:t>
            </a:r>
            <a:r>
              <a:rPr sz="1050" b="0" i="0" dirty="0">
                <a:solidFill>
                  <a:srgbClr val="FF0000"/>
                </a:solidFill>
              </a:rPr>
              <a:t> </a:t>
            </a:r>
            <a:r>
              <a:rPr sz="1050" b="0" i="0" dirty="0" err="1">
                <a:solidFill>
                  <a:srgbClr val="FF0000"/>
                </a:solidFill>
              </a:rPr>
              <a:t>접속</a:t>
            </a:r>
            <a:r>
              <a:rPr sz="1050" b="0" i="0" dirty="0">
                <a:solidFill>
                  <a:srgbClr val="FF0000"/>
                </a:solidFill>
              </a:rPr>
              <a:t>  |  Keepalive </a:t>
            </a:r>
            <a:r>
              <a:rPr sz="1050" b="0" i="0" dirty="0" err="1">
                <a:solidFill>
                  <a:srgbClr val="FF0000"/>
                </a:solidFill>
              </a:rPr>
              <a:t>주기</a:t>
            </a:r>
            <a:r>
              <a:rPr sz="1050" b="0" i="0" dirty="0">
                <a:solidFill>
                  <a:srgbClr val="FF0000"/>
                </a:solidFill>
              </a:rPr>
              <a:t> </a:t>
            </a:r>
            <a:r>
              <a:rPr sz="1050" b="0" i="0" dirty="0" err="1">
                <a:solidFill>
                  <a:srgbClr val="FF0000"/>
                </a:solidFill>
              </a:rPr>
              <a:t>15초</a:t>
            </a:r>
            <a:r>
              <a:rPr sz="1050" b="0" i="0" dirty="0">
                <a:solidFill>
                  <a:srgbClr val="FF0000"/>
                </a:solidFill>
              </a:rPr>
              <a:t>  |  JSON </a:t>
            </a:r>
            <a:r>
              <a:rPr sz="1050" b="0" i="0" dirty="0" err="1">
                <a:solidFill>
                  <a:srgbClr val="FF0000"/>
                </a:solidFill>
              </a:rPr>
              <a:t>데이터</a:t>
            </a:r>
            <a:r>
              <a:rPr sz="1050" b="0" i="0" dirty="0">
                <a:solidFill>
                  <a:srgbClr val="FF0000"/>
                </a:solidFill>
              </a:rPr>
              <a:t> </a:t>
            </a:r>
            <a:r>
              <a:rPr sz="1050" b="0" i="0" dirty="0" err="1">
                <a:solidFill>
                  <a:srgbClr val="FF0000"/>
                </a:solidFill>
              </a:rPr>
              <a:t>포맷</a:t>
            </a:r>
            <a:r>
              <a:rPr sz="1050" b="0" i="0" dirty="0">
                <a:solidFill>
                  <a:srgbClr val="FF0000"/>
                </a:solidFill>
              </a:rPr>
              <a:t>  |  </a:t>
            </a:r>
            <a:r>
              <a:rPr sz="1050" b="0" i="0" dirty="0" err="1">
                <a:solidFill>
                  <a:srgbClr val="FF0000"/>
                </a:solidFill>
              </a:rPr>
              <a:t>GZIP</a:t>
            </a:r>
            <a:r>
              <a:rPr sz="1050" b="0" i="0" dirty="0">
                <a:solidFill>
                  <a:srgbClr val="FF0000"/>
                </a:solidFill>
              </a:rPr>
              <a:t> </a:t>
            </a:r>
            <a:r>
              <a:rPr sz="1050" b="0" i="0" dirty="0" err="1">
                <a:solidFill>
                  <a:srgbClr val="FF0000"/>
                </a:solidFill>
              </a:rPr>
              <a:t>압축</a:t>
            </a:r>
            <a:r>
              <a:rPr sz="1050" b="0" i="0" dirty="0">
                <a:solidFill>
                  <a:srgbClr val="FF0000"/>
                </a:solidFill>
              </a:rPr>
              <a:t> </a:t>
            </a:r>
            <a:r>
              <a:rPr sz="1050" b="0" i="0" dirty="0" err="1">
                <a:solidFill>
                  <a:srgbClr val="FF0000"/>
                </a:solidFill>
              </a:rPr>
              <a:t>지원</a:t>
            </a:r>
            <a:endParaRPr sz="1050" b="0" i="0" dirty="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365760" y="73152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03  Communication Protocols 폴더 분석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58368"/>
            <a:ext cx="9144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88CC"/>
                </a:solidFill>
              </a:rPr>
              <a:t>HTTP · MQTT · Java SDK · .NET 샘플 문서 모음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1430000" cy="411480"/>
          </a:xfrm>
          <a:prstGeom prst="rect">
            <a:avLst/>
          </a:prstGeom>
          <a:solidFill>
            <a:srgbClr val="0088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1152144"/>
            <a:ext cx="6400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📁 Communication Protocols/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600200"/>
            <a:ext cx="3657600" cy="3019425"/>
          </a:xfrm>
          <a:prstGeom prst="rect">
            <a:avLst/>
          </a:prstGeom>
          <a:solidFill>
            <a:srgbClr val="F0F4F8"/>
          </a:solidFill>
          <a:ln w="6350">
            <a:solidFill>
              <a:srgbClr val="008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365760" y="1600200"/>
            <a:ext cx="3657600" cy="347472"/>
          </a:xfrm>
          <a:prstGeom prst="rect">
            <a:avLst/>
          </a:prstGeom>
          <a:solidFill>
            <a:srgbClr val="0088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75488" y="1636776"/>
            <a:ext cx="3474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</a:rPr>
              <a:t>HTTP Protocol (v6.0)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984248"/>
            <a:ext cx="2879314" cy="9694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50" b="0">
                <a:solidFill>
                  <a:srgbClr val="1A233A"/>
                </a:solidFill>
              </a:rPr>
              <a:t>• HTTP protocol of Sony facial recognition terminal.md</a:t>
            </a:r>
          </a:p>
          <a:p>
            <a:pPr algn="l"/>
            <a:r>
              <a:rPr sz="950" b="0">
                <a:solidFill>
                  <a:srgbClr val="1A233A"/>
                </a:solidFill>
              </a:rPr>
              <a:t>• FC8200H 시리즈 HTTP 도킹 프로토콜 v6.0</a:t>
            </a:r>
          </a:p>
          <a:p>
            <a:pPr algn="l"/>
            <a:r>
              <a:rPr sz="950" b="0">
                <a:solidFill>
                  <a:srgbClr val="1A233A"/>
                </a:solidFill>
              </a:rPr>
              <a:t>• HTTP 1.1 / GZIP / TLS 1.2+1.3 지원</a:t>
            </a:r>
          </a:p>
          <a:p>
            <a:pPr algn="l"/>
            <a:r>
              <a:rPr sz="950" b="0">
                <a:solidFill>
                  <a:srgbClr val="1A233A"/>
                </a:solidFill>
              </a:rPr>
              <a:t>• API: Keepalive, 인원관리, 원격제어, 기록업로드</a:t>
            </a:r>
          </a:p>
          <a:p>
            <a:pPr algn="l"/>
            <a:r>
              <a:rPr sz="950" b="0">
                <a:solidFill>
                  <a:srgbClr val="1A233A"/>
                </a:solidFill>
              </a:rPr>
              <a:t>• JSON 기반 요청/응답 포맷</a:t>
            </a:r>
          </a:p>
          <a:p>
            <a:pPr algn="l"/>
            <a:r>
              <a:rPr sz="950" b="0">
                <a:solidFill>
                  <a:srgbClr val="1A233A"/>
                </a:solidFill>
              </a:rPr>
              <a:t>• 디바이스 → 서버 Push 아키텍처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0" y="1600200"/>
            <a:ext cx="3657600" cy="3019425"/>
          </a:xfrm>
          <a:prstGeom prst="rect">
            <a:avLst/>
          </a:prstGeom>
          <a:solidFill>
            <a:srgbClr val="F0F4F8"/>
          </a:solidFill>
          <a:ln w="6350">
            <a:solidFill>
              <a:srgbClr val="008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114800" y="1600200"/>
            <a:ext cx="3657600" cy="347472"/>
          </a:xfrm>
          <a:prstGeom prst="rect">
            <a:avLst/>
          </a:prstGeom>
          <a:solidFill>
            <a:srgbClr val="2E86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224528" y="1636776"/>
            <a:ext cx="3474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</a:rPr>
              <a:t>HTTPv2 &amp; Sequence Diagrams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24528" y="1984248"/>
            <a:ext cx="3013967" cy="9694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50" b="0">
                <a:solidFill>
                  <a:srgbClr val="1A233A"/>
                </a:solidFill>
              </a:rPr>
              <a:t>• HTTPv2_API_Sequence_Diagrams_EN.html</a:t>
            </a:r>
          </a:p>
          <a:p>
            <a:pPr algn="l"/>
            <a:r>
              <a:rPr sz="950" b="0">
                <a:solidFill>
                  <a:srgbClr val="1A233A"/>
                </a:solidFill>
              </a:rPr>
              <a:t>• HTTP V2 Docking protocol …pdf</a:t>
            </a:r>
          </a:p>
          <a:p>
            <a:pPr algn="l"/>
            <a:r>
              <a:rPr sz="950" b="0">
                <a:solidFill>
                  <a:srgbClr val="1A233A"/>
                </a:solidFill>
              </a:rPr>
              <a:t>• UI interface document of facial recognition browser.md</a:t>
            </a:r>
          </a:p>
          <a:p>
            <a:pPr algn="l"/>
            <a:r>
              <a:rPr sz="950" b="0">
                <a:solidFill>
                  <a:srgbClr val="1A233A"/>
                </a:solidFill>
              </a:rPr>
              <a:t>• HTTP V2 개선 API 및 시퀀스 다이어그램</a:t>
            </a:r>
          </a:p>
          <a:p>
            <a:pPr algn="l"/>
            <a:r>
              <a:rPr sz="950" b="0">
                <a:solidFill>
                  <a:srgbClr val="1A233A"/>
                </a:solidFill>
              </a:rPr>
              <a:t>• 브라우저 기반 UI 인터페이스 문서</a:t>
            </a:r>
          </a:p>
          <a:p>
            <a:pPr algn="l"/>
            <a:r>
              <a:rPr sz="950" b="0">
                <a:solidFill>
                  <a:srgbClr val="1A233A"/>
                </a:solidFill>
              </a:rPr>
              <a:t>• Push People Schematic Diagram.png 포함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863840" y="1600200"/>
            <a:ext cx="3931920" cy="1448562"/>
          </a:xfrm>
          <a:prstGeom prst="rect">
            <a:avLst/>
          </a:prstGeom>
          <a:solidFill>
            <a:srgbClr val="F0F4F8"/>
          </a:solidFill>
          <a:ln w="6350">
            <a:solidFill>
              <a:srgbClr val="008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7863840" y="1600200"/>
            <a:ext cx="3931920" cy="347472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973567" y="1636776"/>
            <a:ext cx="3931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</a:rPr>
              <a:t>MQTT Protocol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73567" y="1984248"/>
            <a:ext cx="2552302" cy="82330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50" b="0" dirty="0">
                <a:solidFill>
                  <a:srgbClr val="1A233A"/>
                </a:solidFill>
              </a:rPr>
              <a:t>• </a:t>
            </a:r>
            <a:r>
              <a:rPr sz="950" b="0" dirty="0" err="1">
                <a:solidFill>
                  <a:srgbClr val="1A233A"/>
                </a:solidFill>
              </a:rPr>
              <a:t>MQTT</a:t>
            </a:r>
            <a:r>
              <a:rPr sz="950" b="0" dirty="0">
                <a:solidFill>
                  <a:srgbClr val="1A233A"/>
                </a:solidFill>
              </a:rPr>
              <a:t> protocol interface document …pdf</a:t>
            </a:r>
          </a:p>
          <a:p>
            <a:pPr algn="l"/>
            <a:r>
              <a:rPr sz="950" b="0" dirty="0">
                <a:solidFill>
                  <a:srgbClr val="1A233A"/>
                </a:solidFill>
              </a:rPr>
              <a:t>• Face Communication Protocol </a:t>
            </a:r>
            <a:r>
              <a:rPr sz="950" b="0" dirty="0" err="1">
                <a:solidFill>
                  <a:srgbClr val="1A233A"/>
                </a:solidFill>
              </a:rPr>
              <a:t>2022.11.28.doc</a:t>
            </a:r>
            <a:endParaRPr sz="950" b="0" dirty="0">
              <a:solidFill>
                <a:srgbClr val="1A233A"/>
              </a:solidFill>
            </a:endParaRPr>
          </a:p>
          <a:p>
            <a:pPr algn="l"/>
            <a:r>
              <a:rPr sz="950" b="0" dirty="0">
                <a:solidFill>
                  <a:srgbClr val="1A233A"/>
                </a:solidFill>
              </a:rPr>
              <a:t>• </a:t>
            </a:r>
            <a:r>
              <a:rPr sz="950" b="0" dirty="0" err="1">
                <a:solidFill>
                  <a:srgbClr val="1A233A"/>
                </a:solidFill>
              </a:rPr>
              <a:t>MQTT</a:t>
            </a:r>
            <a:r>
              <a:rPr sz="950" b="0" dirty="0">
                <a:solidFill>
                  <a:srgbClr val="1A233A"/>
                </a:solidFill>
              </a:rPr>
              <a:t> </a:t>
            </a:r>
            <a:r>
              <a:rPr sz="950" b="0" dirty="0" err="1">
                <a:solidFill>
                  <a:srgbClr val="1A233A"/>
                </a:solidFill>
              </a:rPr>
              <a:t>기반</a:t>
            </a:r>
            <a:r>
              <a:rPr sz="950" b="0" dirty="0">
                <a:solidFill>
                  <a:srgbClr val="1A233A"/>
                </a:solidFill>
              </a:rPr>
              <a:t> </a:t>
            </a:r>
            <a:r>
              <a:rPr sz="950" b="0" dirty="0" err="1">
                <a:solidFill>
                  <a:srgbClr val="1A233A"/>
                </a:solidFill>
              </a:rPr>
              <a:t>얼굴인식</a:t>
            </a:r>
            <a:r>
              <a:rPr sz="950" b="0" dirty="0">
                <a:solidFill>
                  <a:srgbClr val="1A233A"/>
                </a:solidFill>
              </a:rPr>
              <a:t> </a:t>
            </a:r>
            <a:r>
              <a:rPr sz="950" b="0" dirty="0" err="1">
                <a:solidFill>
                  <a:srgbClr val="1A233A"/>
                </a:solidFill>
              </a:rPr>
              <a:t>단말기</a:t>
            </a:r>
            <a:r>
              <a:rPr sz="950" b="0" dirty="0">
                <a:solidFill>
                  <a:srgbClr val="1A233A"/>
                </a:solidFill>
              </a:rPr>
              <a:t> </a:t>
            </a:r>
            <a:r>
              <a:rPr sz="950" b="0" dirty="0" err="1">
                <a:solidFill>
                  <a:srgbClr val="1A233A"/>
                </a:solidFill>
              </a:rPr>
              <a:t>프로토콜</a:t>
            </a:r>
            <a:endParaRPr sz="950" b="0" dirty="0">
              <a:solidFill>
                <a:srgbClr val="1A233A"/>
              </a:solidFill>
            </a:endParaRPr>
          </a:p>
          <a:p>
            <a:pPr algn="l"/>
            <a:r>
              <a:rPr sz="950" b="0" dirty="0">
                <a:solidFill>
                  <a:srgbClr val="1A233A"/>
                </a:solidFill>
              </a:rPr>
              <a:t>• HTTP </a:t>
            </a:r>
            <a:r>
              <a:rPr sz="950" b="0" dirty="0" err="1">
                <a:solidFill>
                  <a:srgbClr val="1A233A"/>
                </a:solidFill>
              </a:rPr>
              <a:t>대안으로</a:t>
            </a:r>
            <a:r>
              <a:rPr sz="950" b="0" dirty="0">
                <a:solidFill>
                  <a:srgbClr val="1A233A"/>
                </a:solidFill>
              </a:rPr>
              <a:t> </a:t>
            </a:r>
            <a:r>
              <a:rPr sz="950" b="0" dirty="0" err="1">
                <a:solidFill>
                  <a:srgbClr val="1A233A"/>
                </a:solidFill>
              </a:rPr>
              <a:t>MQTT</a:t>
            </a:r>
            <a:r>
              <a:rPr sz="950" b="0" dirty="0">
                <a:solidFill>
                  <a:srgbClr val="1A233A"/>
                </a:solidFill>
              </a:rPr>
              <a:t> </a:t>
            </a:r>
            <a:r>
              <a:rPr sz="950" b="0" dirty="0" err="1">
                <a:solidFill>
                  <a:srgbClr val="1A233A"/>
                </a:solidFill>
              </a:rPr>
              <a:t>브로커</a:t>
            </a:r>
            <a:r>
              <a:rPr sz="950" b="0" dirty="0">
                <a:solidFill>
                  <a:srgbClr val="1A233A"/>
                </a:solidFill>
              </a:rPr>
              <a:t> </a:t>
            </a:r>
            <a:r>
              <a:rPr sz="950" b="0" dirty="0" err="1">
                <a:solidFill>
                  <a:srgbClr val="1A233A"/>
                </a:solidFill>
              </a:rPr>
              <a:t>연동</a:t>
            </a:r>
            <a:r>
              <a:rPr sz="950" b="0" dirty="0">
                <a:solidFill>
                  <a:srgbClr val="1A233A"/>
                </a:solidFill>
              </a:rPr>
              <a:t> </a:t>
            </a:r>
            <a:r>
              <a:rPr sz="950" b="0" dirty="0" err="1">
                <a:solidFill>
                  <a:srgbClr val="1A233A"/>
                </a:solidFill>
              </a:rPr>
              <a:t>가능</a:t>
            </a:r>
            <a:endParaRPr sz="950" b="0" dirty="0">
              <a:solidFill>
                <a:srgbClr val="1A233A"/>
              </a:solidFill>
            </a:endParaRPr>
          </a:p>
          <a:p>
            <a:pPr algn="l"/>
            <a:r>
              <a:rPr sz="950" b="0" dirty="0">
                <a:solidFill>
                  <a:srgbClr val="1A233A"/>
                </a:solidFill>
              </a:rPr>
              <a:t>• QoS </a:t>
            </a:r>
            <a:r>
              <a:rPr sz="950" b="0" dirty="0" err="1">
                <a:solidFill>
                  <a:srgbClr val="1A233A"/>
                </a:solidFill>
              </a:rPr>
              <a:t>레벨</a:t>
            </a:r>
            <a:r>
              <a:rPr sz="950" b="0" dirty="0">
                <a:solidFill>
                  <a:srgbClr val="1A233A"/>
                </a:solidFill>
              </a:rPr>
              <a:t>, </a:t>
            </a:r>
            <a:r>
              <a:rPr sz="950" b="0" dirty="0" err="1">
                <a:solidFill>
                  <a:srgbClr val="1A233A"/>
                </a:solidFill>
              </a:rPr>
              <a:t>토픽</a:t>
            </a:r>
            <a:r>
              <a:rPr sz="950" b="0" dirty="0">
                <a:solidFill>
                  <a:srgbClr val="1A233A"/>
                </a:solidFill>
              </a:rPr>
              <a:t> </a:t>
            </a:r>
            <a:r>
              <a:rPr sz="950" b="0" dirty="0" err="1">
                <a:solidFill>
                  <a:srgbClr val="1A233A"/>
                </a:solidFill>
              </a:rPr>
              <a:t>구조</a:t>
            </a:r>
            <a:r>
              <a:rPr sz="950" b="0" dirty="0">
                <a:solidFill>
                  <a:srgbClr val="1A233A"/>
                </a:solidFill>
              </a:rPr>
              <a:t>, </a:t>
            </a:r>
            <a:r>
              <a:rPr sz="950" b="0" dirty="0" err="1">
                <a:solidFill>
                  <a:srgbClr val="1A233A"/>
                </a:solidFill>
              </a:rPr>
              <a:t>페이로드</a:t>
            </a:r>
            <a:r>
              <a:rPr sz="950" b="0" dirty="0">
                <a:solidFill>
                  <a:srgbClr val="1A233A"/>
                </a:solidFill>
              </a:rPr>
              <a:t> </a:t>
            </a:r>
            <a:r>
              <a:rPr sz="950" b="0" dirty="0" err="1">
                <a:solidFill>
                  <a:srgbClr val="1A233A"/>
                </a:solidFill>
              </a:rPr>
              <a:t>포맷</a:t>
            </a:r>
            <a:endParaRPr sz="950" b="0" dirty="0">
              <a:solidFill>
                <a:srgbClr val="1A233A"/>
              </a:solidFill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7863840" y="3164205"/>
            <a:ext cx="3931920" cy="1455420"/>
          </a:xfrm>
          <a:prstGeom prst="rect">
            <a:avLst/>
          </a:prstGeom>
          <a:solidFill>
            <a:srgbClr val="F0F4F8"/>
          </a:solidFill>
          <a:ln w="6350">
            <a:solidFill>
              <a:srgbClr val="008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7863840" y="3164205"/>
            <a:ext cx="3931920" cy="347472"/>
          </a:xfrm>
          <a:prstGeom prst="rect">
            <a:avLst/>
          </a:prstGeom>
          <a:solidFill>
            <a:srgbClr val="6A0D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973567" y="3200781"/>
            <a:ext cx="3931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</a:rPr>
              <a:t>.NET Sample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73567" y="3500628"/>
            <a:ext cx="3187091" cy="6771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50" b="0" dirty="0">
                <a:solidFill>
                  <a:srgbClr val="1A233A"/>
                </a:solidFill>
              </a:rPr>
              <a:t>• .NET/sample/</a:t>
            </a:r>
            <a:r>
              <a:rPr sz="950" b="0" dirty="0" err="1">
                <a:solidFill>
                  <a:srgbClr val="1A233A"/>
                </a:solidFill>
              </a:rPr>
              <a:t>DoNetDrive.Protocol.Fingerprint</a:t>
            </a:r>
            <a:r>
              <a:rPr sz="950" b="0" dirty="0">
                <a:solidFill>
                  <a:srgbClr val="1A233A"/>
                </a:solidFill>
              </a:rPr>
              <a:t> and </a:t>
            </a:r>
            <a:r>
              <a:rPr sz="950" b="0" dirty="0" err="1">
                <a:solidFill>
                  <a:srgbClr val="1A233A"/>
                </a:solidFill>
              </a:rPr>
              <a:t>Face.rar</a:t>
            </a:r>
            <a:endParaRPr sz="950" b="0" dirty="0">
              <a:solidFill>
                <a:srgbClr val="1A233A"/>
              </a:solidFill>
            </a:endParaRPr>
          </a:p>
          <a:p>
            <a:pPr algn="l"/>
            <a:r>
              <a:rPr sz="950" b="0" dirty="0">
                <a:solidFill>
                  <a:srgbClr val="1A233A"/>
                </a:solidFill>
              </a:rPr>
              <a:t>• .NET </a:t>
            </a:r>
            <a:r>
              <a:rPr sz="950" b="0" dirty="0" err="1">
                <a:solidFill>
                  <a:srgbClr val="1A233A"/>
                </a:solidFill>
              </a:rPr>
              <a:t>기반</a:t>
            </a:r>
            <a:r>
              <a:rPr sz="950" b="0" dirty="0">
                <a:solidFill>
                  <a:srgbClr val="1A233A"/>
                </a:solidFill>
              </a:rPr>
              <a:t> </a:t>
            </a:r>
            <a:r>
              <a:rPr sz="950" b="0" dirty="0" err="1">
                <a:solidFill>
                  <a:srgbClr val="1A233A"/>
                </a:solidFill>
              </a:rPr>
              <a:t>지문+얼굴</a:t>
            </a:r>
            <a:r>
              <a:rPr sz="950" b="0" dirty="0">
                <a:solidFill>
                  <a:srgbClr val="1A233A"/>
                </a:solidFill>
              </a:rPr>
              <a:t> </a:t>
            </a:r>
            <a:r>
              <a:rPr sz="950" b="0" dirty="0" err="1">
                <a:solidFill>
                  <a:srgbClr val="1A233A"/>
                </a:solidFill>
              </a:rPr>
              <a:t>인식</a:t>
            </a:r>
            <a:r>
              <a:rPr sz="950" b="0" dirty="0">
                <a:solidFill>
                  <a:srgbClr val="1A233A"/>
                </a:solidFill>
              </a:rPr>
              <a:t> </a:t>
            </a:r>
            <a:r>
              <a:rPr sz="950" b="0" dirty="0" err="1">
                <a:solidFill>
                  <a:srgbClr val="1A233A"/>
                </a:solidFill>
              </a:rPr>
              <a:t>프로토콜</a:t>
            </a:r>
            <a:r>
              <a:rPr sz="950" b="0" dirty="0">
                <a:solidFill>
                  <a:srgbClr val="1A233A"/>
                </a:solidFill>
              </a:rPr>
              <a:t> </a:t>
            </a:r>
            <a:r>
              <a:rPr sz="950" b="0" dirty="0" err="1">
                <a:solidFill>
                  <a:srgbClr val="1A233A"/>
                </a:solidFill>
              </a:rPr>
              <a:t>샘플</a:t>
            </a:r>
            <a:endParaRPr sz="950" b="0" dirty="0">
              <a:solidFill>
                <a:srgbClr val="1A233A"/>
              </a:solidFill>
            </a:endParaRPr>
          </a:p>
          <a:p>
            <a:pPr algn="l"/>
            <a:r>
              <a:rPr sz="950" b="0" dirty="0">
                <a:solidFill>
                  <a:srgbClr val="1A233A"/>
                </a:solidFill>
              </a:rPr>
              <a:t>• C# / </a:t>
            </a:r>
            <a:r>
              <a:rPr sz="950" b="0" dirty="0" err="1">
                <a:solidFill>
                  <a:srgbClr val="1A233A"/>
                </a:solidFill>
              </a:rPr>
              <a:t>VB.NET</a:t>
            </a:r>
            <a:r>
              <a:rPr sz="950" b="0" dirty="0">
                <a:solidFill>
                  <a:srgbClr val="1A233A"/>
                </a:solidFill>
              </a:rPr>
              <a:t> </a:t>
            </a:r>
            <a:r>
              <a:rPr sz="950" b="0" dirty="0" err="1">
                <a:solidFill>
                  <a:srgbClr val="1A233A"/>
                </a:solidFill>
              </a:rPr>
              <a:t>에서</a:t>
            </a:r>
            <a:r>
              <a:rPr sz="950" b="0" dirty="0">
                <a:solidFill>
                  <a:srgbClr val="1A233A"/>
                </a:solidFill>
              </a:rPr>
              <a:t> </a:t>
            </a:r>
            <a:r>
              <a:rPr sz="950" b="0" dirty="0" err="1">
                <a:solidFill>
                  <a:srgbClr val="1A233A"/>
                </a:solidFill>
              </a:rPr>
              <a:t>직접</a:t>
            </a:r>
            <a:r>
              <a:rPr sz="950" b="0" dirty="0">
                <a:solidFill>
                  <a:srgbClr val="1A233A"/>
                </a:solidFill>
              </a:rPr>
              <a:t> </a:t>
            </a:r>
            <a:r>
              <a:rPr sz="950" b="0" dirty="0" err="1">
                <a:solidFill>
                  <a:srgbClr val="1A233A"/>
                </a:solidFill>
              </a:rPr>
              <a:t>활용</a:t>
            </a:r>
            <a:r>
              <a:rPr sz="950" b="0" dirty="0">
                <a:solidFill>
                  <a:srgbClr val="1A233A"/>
                </a:solidFill>
              </a:rPr>
              <a:t> </a:t>
            </a:r>
            <a:r>
              <a:rPr sz="950" b="0" dirty="0" err="1">
                <a:solidFill>
                  <a:srgbClr val="1A233A"/>
                </a:solidFill>
              </a:rPr>
              <a:t>가능</a:t>
            </a:r>
            <a:endParaRPr sz="950" b="0" dirty="0">
              <a:solidFill>
                <a:srgbClr val="1A233A"/>
              </a:solidFill>
            </a:endParaRPr>
          </a:p>
          <a:p>
            <a:pPr algn="l"/>
            <a:r>
              <a:rPr sz="950" b="0" dirty="0">
                <a:solidFill>
                  <a:srgbClr val="1A233A"/>
                </a:solidFill>
              </a:rPr>
              <a:t>• </a:t>
            </a:r>
            <a:r>
              <a:rPr sz="950" b="0" dirty="0" err="1">
                <a:solidFill>
                  <a:srgbClr val="1A233A"/>
                </a:solidFill>
              </a:rPr>
              <a:t>압축</a:t>
            </a:r>
            <a:r>
              <a:rPr sz="950" b="0" dirty="0">
                <a:solidFill>
                  <a:srgbClr val="1A233A"/>
                </a:solidFill>
              </a:rPr>
              <a:t> </a:t>
            </a:r>
            <a:r>
              <a:rPr sz="950" b="0" dirty="0" err="1">
                <a:solidFill>
                  <a:srgbClr val="1A233A"/>
                </a:solidFill>
              </a:rPr>
              <a:t>해제</a:t>
            </a:r>
            <a:r>
              <a:rPr sz="950" b="0" dirty="0">
                <a:solidFill>
                  <a:srgbClr val="1A233A"/>
                </a:solidFill>
              </a:rPr>
              <a:t> 후 Visual </a:t>
            </a:r>
            <a:r>
              <a:rPr sz="950" b="0" dirty="0" err="1">
                <a:solidFill>
                  <a:srgbClr val="1A233A"/>
                </a:solidFill>
              </a:rPr>
              <a:t>Studio에서</a:t>
            </a:r>
            <a:r>
              <a:rPr sz="950" b="0" dirty="0">
                <a:solidFill>
                  <a:srgbClr val="1A233A"/>
                </a:solidFill>
              </a:rPr>
              <a:t> </a:t>
            </a:r>
            <a:r>
              <a:rPr sz="950" b="0" dirty="0" err="1">
                <a:solidFill>
                  <a:srgbClr val="1A233A"/>
                </a:solidFill>
              </a:rPr>
              <a:t>오픈</a:t>
            </a:r>
            <a:endParaRPr sz="950" b="0" dirty="0">
              <a:solidFill>
                <a:srgbClr val="1A233A"/>
              </a:solidFill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365760" y="4770092"/>
            <a:ext cx="11430000" cy="1605889"/>
          </a:xfrm>
          <a:prstGeom prst="rect">
            <a:avLst/>
          </a:prstGeom>
          <a:solidFill>
            <a:srgbClr val="F0F4F8"/>
          </a:solidFill>
          <a:ln w="6350">
            <a:solidFill>
              <a:srgbClr val="008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365760" y="4770093"/>
            <a:ext cx="11430000" cy="347472"/>
          </a:xfrm>
          <a:prstGeom prst="rect">
            <a:avLst/>
          </a:prstGeom>
          <a:solidFill>
            <a:srgbClr val="CC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75488" y="4806669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</a:rPr>
              <a:t>Java SDK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5488" y="5154141"/>
            <a:ext cx="2350323" cy="106182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 dirty="0">
                <a:solidFill>
                  <a:srgbClr val="1A233A"/>
                </a:solidFill>
              </a:rPr>
              <a:t>• </a:t>
            </a:r>
            <a:r>
              <a:rPr sz="900" b="0" dirty="0" err="1">
                <a:solidFill>
                  <a:srgbClr val="1A233A"/>
                </a:solidFill>
              </a:rPr>
              <a:t>2.JAVA</a:t>
            </a:r>
            <a:r>
              <a:rPr sz="900" b="0" dirty="0">
                <a:solidFill>
                  <a:srgbClr val="1A233A"/>
                </a:solidFill>
              </a:rPr>
              <a:t>/ — Quick Start + </a:t>
            </a:r>
            <a:r>
              <a:rPr sz="900" b="0" dirty="0" err="1">
                <a:solidFill>
                  <a:srgbClr val="1A233A"/>
                </a:solidFill>
              </a:rPr>
              <a:t>javadoc</a:t>
            </a:r>
            <a:r>
              <a:rPr sz="900" b="0" dirty="0">
                <a:solidFill>
                  <a:srgbClr val="1A233A"/>
                </a:solidFill>
              </a:rPr>
              <a:t> + </a:t>
            </a:r>
            <a:r>
              <a:rPr sz="900" b="0" dirty="0" err="1">
                <a:solidFill>
                  <a:srgbClr val="1A233A"/>
                </a:solidFill>
              </a:rPr>
              <a:t>샘플코드</a:t>
            </a:r>
            <a:endParaRPr sz="900" b="0" dirty="0">
              <a:solidFill>
                <a:srgbClr val="1A233A"/>
              </a:solidFill>
            </a:endParaRPr>
          </a:p>
          <a:p>
            <a:pPr algn="l"/>
            <a:r>
              <a:rPr sz="900" b="0" dirty="0">
                <a:solidFill>
                  <a:srgbClr val="1A233A"/>
                </a:solidFill>
              </a:rPr>
              <a:t>• Quick </a:t>
            </a:r>
            <a:r>
              <a:rPr sz="900" b="0" dirty="0" err="1">
                <a:solidFill>
                  <a:srgbClr val="1A233A"/>
                </a:solidFill>
              </a:rPr>
              <a:t>Start.md</a:t>
            </a:r>
            <a:r>
              <a:rPr sz="900" b="0" dirty="0">
                <a:solidFill>
                  <a:srgbClr val="1A233A"/>
                </a:solidFill>
              </a:rPr>
              <a:t> — </a:t>
            </a:r>
            <a:r>
              <a:rPr sz="900" b="0" dirty="0" err="1">
                <a:solidFill>
                  <a:srgbClr val="1A233A"/>
                </a:solidFill>
              </a:rPr>
              <a:t>빠른</a:t>
            </a:r>
            <a:r>
              <a:rPr sz="900" b="0" dirty="0">
                <a:solidFill>
                  <a:srgbClr val="1A233A"/>
                </a:solidFill>
              </a:rPr>
              <a:t> </a:t>
            </a:r>
            <a:r>
              <a:rPr sz="900" b="0" dirty="0" err="1">
                <a:solidFill>
                  <a:srgbClr val="1A233A"/>
                </a:solidFill>
              </a:rPr>
              <a:t>시작</a:t>
            </a:r>
            <a:r>
              <a:rPr sz="900" b="0" dirty="0">
                <a:solidFill>
                  <a:srgbClr val="1A233A"/>
                </a:solidFill>
              </a:rPr>
              <a:t> </a:t>
            </a:r>
            <a:r>
              <a:rPr sz="900" b="0" dirty="0" err="1">
                <a:solidFill>
                  <a:srgbClr val="1A233A"/>
                </a:solidFill>
              </a:rPr>
              <a:t>가이드</a:t>
            </a:r>
            <a:endParaRPr sz="900" b="0" dirty="0">
              <a:solidFill>
                <a:srgbClr val="1A233A"/>
              </a:solidFill>
            </a:endParaRPr>
          </a:p>
          <a:p>
            <a:pPr algn="l"/>
            <a:r>
              <a:rPr sz="900" b="0" dirty="0">
                <a:solidFill>
                  <a:srgbClr val="1A233A"/>
                </a:solidFill>
              </a:rPr>
              <a:t>• </a:t>
            </a:r>
            <a:r>
              <a:rPr sz="900" b="0" dirty="0" err="1">
                <a:solidFill>
                  <a:srgbClr val="1A233A"/>
                </a:solidFill>
              </a:rPr>
              <a:t>javadoc</a:t>
            </a:r>
            <a:r>
              <a:rPr sz="900" b="0" dirty="0">
                <a:solidFill>
                  <a:srgbClr val="1A233A"/>
                </a:solidFill>
              </a:rPr>
              <a:t>/ — </a:t>
            </a:r>
            <a:r>
              <a:rPr sz="900" b="0" dirty="0" err="1">
                <a:solidFill>
                  <a:srgbClr val="1A233A"/>
                </a:solidFill>
              </a:rPr>
              <a:t>전체</a:t>
            </a:r>
            <a:r>
              <a:rPr sz="900" b="0" dirty="0">
                <a:solidFill>
                  <a:srgbClr val="1A233A"/>
                </a:solidFill>
              </a:rPr>
              <a:t> API </a:t>
            </a:r>
            <a:r>
              <a:rPr sz="900" b="0" dirty="0" err="1">
                <a:solidFill>
                  <a:srgbClr val="1A233A"/>
                </a:solidFill>
              </a:rPr>
              <a:t>레퍼런스</a:t>
            </a:r>
            <a:r>
              <a:rPr sz="900" b="0" dirty="0">
                <a:solidFill>
                  <a:srgbClr val="1A233A"/>
                </a:solidFill>
              </a:rPr>
              <a:t> HTML</a:t>
            </a:r>
          </a:p>
          <a:p>
            <a:pPr algn="l"/>
            <a:r>
              <a:rPr sz="900" b="0" dirty="0">
                <a:solidFill>
                  <a:srgbClr val="1A233A"/>
                </a:solidFill>
              </a:rPr>
              <a:t>• </a:t>
            </a:r>
            <a:r>
              <a:rPr sz="900" b="0" dirty="0" err="1">
                <a:solidFill>
                  <a:srgbClr val="1A233A"/>
                </a:solidFill>
              </a:rPr>
              <a:t>ConnectorAllocator</a:t>
            </a:r>
            <a:r>
              <a:rPr sz="900" b="0" dirty="0">
                <a:solidFill>
                  <a:srgbClr val="1A233A"/>
                </a:solidFill>
              </a:rPr>
              <a:t> </a:t>
            </a:r>
            <a:r>
              <a:rPr sz="900" b="0" dirty="0" err="1">
                <a:solidFill>
                  <a:srgbClr val="1A233A"/>
                </a:solidFill>
              </a:rPr>
              <a:t>기반</a:t>
            </a:r>
            <a:r>
              <a:rPr sz="900" b="0" dirty="0">
                <a:solidFill>
                  <a:srgbClr val="1A233A"/>
                </a:solidFill>
              </a:rPr>
              <a:t> </a:t>
            </a:r>
            <a:r>
              <a:rPr sz="900" b="0" dirty="0" err="1">
                <a:solidFill>
                  <a:srgbClr val="1A233A"/>
                </a:solidFill>
              </a:rPr>
              <a:t>통신</a:t>
            </a:r>
            <a:r>
              <a:rPr sz="900" b="0" dirty="0">
                <a:solidFill>
                  <a:srgbClr val="1A233A"/>
                </a:solidFill>
              </a:rPr>
              <a:t> </a:t>
            </a:r>
            <a:r>
              <a:rPr sz="900" b="0" dirty="0" err="1">
                <a:solidFill>
                  <a:srgbClr val="1A233A"/>
                </a:solidFill>
              </a:rPr>
              <a:t>구조</a:t>
            </a:r>
            <a:endParaRPr sz="900" b="0" dirty="0">
              <a:solidFill>
                <a:srgbClr val="1A233A"/>
              </a:solidFill>
            </a:endParaRPr>
          </a:p>
          <a:p>
            <a:pPr algn="l"/>
            <a:r>
              <a:rPr sz="900" b="0" dirty="0">
                <a:solidFill>
                  <a:srgbClr val="1A233A"/>
                </a:solidFill>
              </a:rPr>
              <a:t>• </a:t>
            </a:r>
            <a:r>
              <a:rPr sz="900" b="0" dirty="0" err="1">
                <a:solidFill>
                  <a:srgbClr val="1A233A"/>
                </a:solidFill>
              </a:rPr>
              <a:t>SpringBoot.Example</a:t>
            </a:r>
            <a:r>
              <a:rPr sz="900" b="0" dirty="0">
                <a:solidFill>
                  <a:srgbClr val="1A233A"/>
                </a:solidFill>
              </a:rPr>
              <a:t> — </a:t>
            </a:r>
            <a:r>
              <a:rPr sz="900" b="0" dirty="0" err="1">
                <a:solidFill>
                  <a:srgbClr val="1A233A"/>
                </a:solidFill>
              </a:rPr>
              <a:t>클라우드</a:t>
            </a:r>
            <a:r>
              <a:rPr sz="900" b="0" dirty="0">
                <a:solidFill>
                  <a:srgbClr val="1A233A"/>
                </a:solidFill>
              </a:rPr>
              <a:t> </a:t>
            </a:r>
            <a:r>
              <a:rPr sz="900" b="0" dirty="0" err="1">
                <a:solidFill>
                  <a:srgbClr val="1A233A"/>
                </a:solidFill>
              </a:rPr>
              <a:t>서버</a:t>
            </a:r>
            <a:r>
              <a:rPr sz="900" b="0" dirty="0">
                <a:solidFill>
                  <a:srgbClr val="1A233A"/>
                </a:solidFill>
              </a:rPr>
              <a:t> </a:t>
            </a:r>
            <a:r>
              <a:rPr sz="900" b="0" dirty="0" err="1">
                <a:solidFill>
                  <a:srgbClr val="1A233A"/>
                </a:solidFill>
              </a:rPr>
              <a:t>샘플</a:t>
            </a:r>
            <a:endParaRPr sz="900" b="0" dirty="0">
              <a:solidFill>
                <a:srgbClr val="1A233A"/>
              </a:solidFill>
            </a:endParaRPr>
          </a:p>
          <a:p>
            <a:pPr algn="l"/>
            <a:r>
              <a:rPr sz="900" b="0" dirty="0">
                <a:solidFill>
                  <a:srgbClr val="1A233A"/>
                </a:solidFill>
              </a:rPr>
              <a:t>• </a:t>
            </a:r>
            <a:r>
              <a:rPr sz="900" b="0" dirty="0" err="1">
                <a:solidFill>
                  <a:srgbClr val="1A233A"/>
                </a:solidFill>
              </a:rPr>
              <a:t>UDPServer.TCPServer.Example</a:t>
            </a:r>
            <a:r>
              <a:rPr sz="900" b="0" dirty="0">
                <a:solidFill>
                  <a:srgbClr val="1A233A"/>
                </a:solidFill>
              </a:rPr>
              <a:t> — </a:t>
            </a:r>
            <a:r>
              <a:rPr sz="900" b="0" dirty="0" err="1">
                <a:solidFill>
                  <a:srgbClr val="1A233A"/>
                </a:solidFill>
              </a:rPr>
              <a:t>로컬</a:t>
            </a:r>
            <a:r>
              <a:rPr sz="900" b="0" dirty="0">
                <a:solidFill>
                  <a:srgbClr val="1A233A"/>
                </a:solidFill>
              </a:rPr>
              <a:t> </a:t>
            </a:r>
            <a:r>
              <a:rPr sz="900" b="0" dirty="0" err="1">
                <a:solidFill>
                  <a:srgbClr val="1A233A"/>
                </a:solidFill>
              </a:rPr>
              <a:t>샘플</a:t>
            </a:r>
            <a:endParaRPr sz="900" b="0" dirty="0">
              <a:solidFill>
                <a:srgbClr val="1A233A"/>
              </a:solidFill>
            </a:endParaRPr>
          </a:p>
          <a:p>
            <a:pPr algn="l"/>
            <a:r>
              <a:rPr sz="900" b="0" dirty="0">
                <a:solidFill>
                  <a:srgbClr val="1A233A"/>
                </a:solidFill>
              </a:rPr>
              <a:t>• UDP/TCP Client </a:t>
            </a:r>
            <a:r>
              <a:rPr sz="900" b="0" dirty="0" err="1">
                <a:solidFill>
                  <a:srgbClr val="1A233A"/>
                </a:solidFill>
              </a:rPr>
              <a:t>예제</a:t>
            </a:r>
            <a:r>
              <a:rPr sz="900" b="0" dirty="0">
                <a:solidFill>
                  <a:srgbClr val="1A233A"/>
                </a:solidFill>
              </a:rPr>
              <a:t> </a:t>
            </a:r>
            <a:r>
              <a:rPr sz="900" b="0" dirty="0" err="1">
                <a:solidFill>
                  <a:srgbClr val="1A233A"/>
                </a:solidFill>
              </a:rPr>
              <a:t>별도</a:t>
            </a:r>
            <a:r>
              <a:rPr sz="900" b="0" dirty="0">
                <a:solidFill>
                  <a:srgbClr val="1A233A"/>
                </a:solidFill>
              </a:rPr>
              <a:t> </a:t>
            </a:r>
            <a:r>
              <a:rPr sz="900" b="0" dirty="0" err="1">
                <a:solidFill>
                  <a:srgbClr val="1A233A"/>
                </a:solidFill>
              </a:rPr>
              <a:t>제공</a:t>
            </a:r>
            <a:endParaRPr sz="900" b="0" dirty="0">
              <a:solidFill>
                <a:srgbClr val="1A233A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365760" y="73152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04  SDK 20250611 구조 분석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58368"/>
            <a:ext cx="9144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88CC"/>
                </a:solidFill>
              </a:rPr>
              <a:t>전통적인 Windows DLL/ActiveX 기반 SDK — SmackBio 디바이스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3749039" cy="4572000"/>
          </a:xfrm>
          <a:prstGeom prst="rect">
            <a:avLst/>
          </a:prstGeom>
          <a:solidFill>
            <a:srgbClr val="F0F4F8"/>
          </a:solidFill>
          <a:ln w="6350">
            <a:solidFill>
              <a:srgbClr val="008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1097280"/>
            <a:ext cx="3749039" cy="347472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75488" y="1133856"/>
            <a:ext cx="356615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 dirty="0" err="1">
                <a:solidFill>
                  <a:srgbClr val="FFFFFF"/>
                </a:solidFill>
              </a:rPr>
              <a:t>SBXPC</a:t>
            </a:r>
            <a:r>
              <a:rPr sz="1600" b="1" i="0" dirty="0">
                <a:solidFill>
                  <a:srgbClr val="FFFFFF"/>
                </a:solidFill>
              </a:rPr>
              <a:t>  (ActiveX OCX)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" y="1481328"/>
            <a:ext cx="3723070" cy="15164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200000"/>
              </a:lnSpc>
            </a:pPr>
            <a:r>
              <a:rPr sz="1200" b="0" dirty="0">
                <a:solidFill>
                  <a:srgbClr val="1A233A"/>
                </a:solidFill>
              </a:rPr>
              <a:t>• COM/ActiveX </a:t>
            </a:r>
            <a:r>
              <a:rPr sz="1200" b="0" dirty="0" err="1">
                <a:solidFill>
                  <a:srgbClr val="1A233A"/>
                </a:solidFill>
              </a:rPr>
              <a:t>컴포넌트</a:t>
            </a:r>
            <a:r>
              <a:rPr sz="1200" b="0" dirty="0">
                <a:solidFill>
                  <a:srgbClr val="1A233A"/>
                </a:solidFill>
              </a:rPr>
              <a:t> — </a:t>
            </a:r>
            <a:r>
              <a:rPr sz="1200" b="0" dirty="0" err="1">
                <a:solidFill>
                  <a:srgbClr val="1A233A"/>
                </a:solidFill>
              </a:rPr>
              <a:t>VB6</a:t>
            </a:r>
            <a:r>
              <a:rPr sz="1200" b="0" dirty="0">
                <a:solidFill>
                  <a:srgbClr val="1A233A"/>
                </a:solidFill>
              </a:rPr>
              <a:t>, Delphi </a:t>
            </a:r>
            <a:r>
              <a:rPr sz="1200" b="0" dirty="0" err="1">
                <a:solidFill>
                  <a:srgbClr val="1A233A"/>
                </a:solidFill>
              </a:rPr>
              <a:t>레거시</a:t>
            </a:r>
            <a:r>
              <a:rPr sz="1200" b="0" dirty="0">
                <a:solidFill>
                  <a:srgbClr val="1A233A"/>
                </a:solidFill>
              </a:rPr>
              <a:t> </a:t>
            </a:r>
            <a:r>
              <a:rPr sz="1200" b="0" dirty="0" err="1">
                <a:solidFill>
                  <a:srgbClr val="1A233A"/>
                </a:solidFill>
              </a:rPr>
              <a:t>지원</a:t>
            </a:r>
            <a:endParaRPr sz="1200" b="0" dirty="0">
              <a:solidFill>
                <a:srgbClr val="1A233A"/>
              </a:solidFill>
            </a:endParaRPr>
          </a:p>
          <a:p>
            <a:pPr algn="l">
              <a:lnSpc>
                <a:spcPct val="200000"/>
              </a:lnSpc>
            </a:pPr>
            <a:r>
              <a:rPr sz="1200" b="0" dirty="0">
                <a:solidFill>
                  <a:srgbClr val="1A233A"/>
                </a:solidFill>
              </a:rPr>
              <a:t>• </a:t>
            </a:r>
            <a:r>
              <a:rPr sz="1200" b="0" dirty="0" err="1">
                <a:solidFill>
                  <a:srgbClr val="1A233A"/>
                </a:solidFill>
              </a:rPr>
              <a:t>OnReceiveEventXML</a:t>
            </a:r>
            <a:r>
              <a:rPr sz="1200" b="0" dirty="0">
                <a:solidFill>
                  <a:srgbClr val="1A233A"/>
                </a:solidFill>
              </a:rPr>
              <a:t> </a:t>
            </a:r>
            <a:r>
              <a:rPr sz="1200" b="0" dirty="0" err="1">
                <a:solidFill>
                  <a:srgbClr val="1A233A"/>
                </a:solidFill>
              </a:rPr>
              <a:t>이벤트로</a:t>
            </a:r>
            <a:r>
              <a:rPr sz="1200" b="0" dirty="0">
                <a:solidFill>
                  <a:srgbClr val="1A233A"/>
                </a:solidFill>
              </a:rPr>
              <a:t> </a:t>
            </a:r>
            <a:r>
              <a:rPr sz="1200" b="0" dirty="0" err="1">
                <a:solidFill>
                  <a:srgbClr val="1A233A"/>
                </a:solidFill>
              </a:rPr>
              <a:t>디바이스</a:t>
            </a:r>
            <a:r>
              <a:rPr sz="1200" b="0" dirty="0">
                <a:solidFill>
                  <a:srgbClr val="1A233A"/>
                </a:solidFill>
              </a:rPr>
              <a:t> </a:t>
            </a:r>
            <a:r>
              <a:rPr sz="1200" b="0" dirty="0" err="1">
                <a:solidFill>
                  <a:srgbClr val="1A233A"/>
                </a:solidFill>
              </a:rPr>
              <a:t>이벤트</a:t>
            </a:r>
            <a:r>
              <a:rPr sz="1200" b="0" dirty="0">
                <a:solidFill>
                  <a:srgbClr val="1A233A"/>
                </a:solidFill>
              </a:rPr>
              <a:t> </a:t>
            </a:r>
            <a:r>
              <a:rPr sz="1200" b="0" dirty="0" err="1">
                <a:solidFill>
                  <a:srgbClr val="1A233A"/>
                </a:solidFill>
              </a:rPr>
              <a:t>수신</a:t>
            </a:r>
            <a:endParaRPr sz="1200" b="0" dirty="0">
              <a:solidFill>
                <a:srgbClr val="1A233A"/>
              </a:solidFill>
            </a:endParaRPr>
          </a:p>
          <a:p>
            <a:pPr algn="l">
              <a:lnSpc>
                <a:spcPct val="200000"/>
              </a:lnSpc>
            </a:pPr>
            <a:r>
              <a:rPr sz="1200" b="0" dirty="0">
                <a:solidFill>
                  <a:srgbClr val="1A233A"/>
                </a:solidFill>
              </a:rPr>
              <a:t>• </a:t>
            </a:r>
            <a:r>
              <a:rPr sz="1200" b="0" dirty="0" err="1">
                <a:solidFill>
                  <a:srgbClr val="1A233A"/>
                </a:solidFill>
              </a:rPr>
              <a:t>regsvr32</a:t>
            </a:r>
            <a:r>
              <a:rPr sz="1200" b="0" dirty="0">
                <a:solidFill>
                  <a:srgbClr val="1A233A"/>
                </a:solidFill>
              </a:rPr>
              <a:t> </a:t>
            </a:r>
            <a:r>
              <a:rPr sz="1200" b="0" dirty="0" err="1">
                <a:solidFill>
                  <a:srgbClr val="1A233A"/>
                </a:solidFill>
              </a:rPr>
              <a:t>SBXPC.ocx</a:t>
            </a:r>
            <a:r>
              <a:rPr sz="1200" b="0" dirty="0">
                <a:solidFill>
                  <a:srgbClr val="1A233A"/>
                </a:solidFill>
              </a:rPr>
              <a:t> </a:t>
            </a:r>
            <a:r>
              <a:rPr sz="1200" b="0" dirty="0" err="1">
                <a:solidFill>
                  <a:srgbClr val="1A233A"/>
                </a:solidFill>
              </a:rPr>
              <a:t>등록</a:t>
            </a:r>
            <a:r>
              <a:rPr sz="1200" b="0" dirty="0">
                <a:solidFill>
                  <a:srgbClr val="1A233A"/>
                </a:solidFill>
              </a:rPr>
              <a:t> 후 </a:t>
            </a:r>
            <a:r>
              <a:rPr sz="1200" b="0" dirty="0" err="1">
                <a:solidFill>
                  <a:srgbClr val="1A233A"/>
                </a:solidFill>
              </a:rPr>
              <a:t>사용</a:t>
            </a:r>
            <a:endParaRPr sz="1200" b="0" dirty="0">
              <a:solidFill>
                <a:srgbClr val="1A233A"/>
              </a:solidFill>
            </a:endParaRPr>
          </a:p>
          <a:p>
            <a:pPr algn="l">
              <a:lnSpc>
                <a:spcPct val="200000"/>
              </a:lnSpc>
            </a:pPr>
            <a:r>
              <a:rPr sz="1200" b="0" dirty="0">
                <a:solidFill>
                  <a:srgbClr val="1A233A"/>
                </a:solidFill>
              </a:rPr>
              <a:t>• XML </a:t>
            </a:r>
            <a:r>
              <a:rPr sz="1200" b="0" dirty="0" err="1">
                <a:solidFill>
                  <a:srgbClr val="1A233A"/>
                </a:solidFill>
              </a:rPr>
              <a:t>기반</a:t>
            </a:r>
            <a:r>
              <a:rPr sz="1200" b="0" dirty="0">
                <a:solidFill>
                  <a:srgbClr val="1A233A"/>
                </a:solidFill>
              </a:rPr>
              <a:t> </a:t>
            </a:r>
            <a:r>
              <a:rPr sz="1200" b="0" dirty="0" err="1">
                <a:solidFill>
                  <a:srgbClr val="1A233A"/>
                </a:solidFill>
              </a:rPr>
              <a:t>메시지</a:t>
            </a:r>
            <a:r>
              <a:rPr sz="1200" b="0" dirty="0">
                <a:solidFill>
                  <a:srgbClr val="1A233A"/>
                </a:solidFill>
              </a:rPr>
              <a:t> </a:t>
            </a:r>
            <a:r>
              <a:rPr sz="1200" b="0" dirty="0" err="1">
                <a:solidFill>
                  <a:srgbClr val="1A233A"/>
                </a:solidFill>
              </a:rPr>
              <a:t>프로토콜</a:t>
            </a:r>
            <a:endParaRPr sz="1200" b="0" dirty="0">
              <a:solidFill>
                <a:srgbClr val="1A233A"/>
              </a:solidFill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4297680" y="1097280"/>
            <a:ext cx="3749039" cy="4572000"/>
          </a:xfrm>
          <a:prstGeom prst="rect">
            <a:avLst/>
          </a:prstGeom>
          <a:solidFill>
            <a:srgbClr val="F0F4F8"/>
          </a:solidFill>
          <a:ln w="6350">
            <a:solidFill>
              <a:srgbClr val="008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297680" y="1097280"/>
            <a:ext cx="3749039" cy="347472"/>
          </a:xfrm>
          <a:prstGeom prst="rect">
            <a:avLst/>
          </a:prstGeom>
          <a:solidFill>
            <a:srgbClr val="0088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407408" y="1133856"/>
            <a:ext cx="356615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SBXPCDLL  (Native DLL)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07408" y="1481328"/>
            <a:ext cx="3449534" cy="15164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200000"/>
              </a:lnSpc>
            </a:pPr>
            <a:r>
              <a:rPr sz="1200" b="0">
                <a:solidFill>
                  <a:srgbClr val="1A233A"/>
                </a:solidFill>
              </a:rPr>
              <a:t>• C/C++ 네이티브 DLL — C#, Java, Delphi 직접 호출</a:t>
            </a:r>
          </a:p>
          <a:p>
            <a:pPr algn="l">
              <a:lnSpc>
                <a:spcPct val="200000"/>
              </a:lnSpc>
            </a:pPr>
            <a:r>
              <a:rPr sz="1200" b="0">
                <a:solidFill>
                  <a:srgbClr val="1A233A"/>
                </a:solidFill>
              </a:rPr>
              <a:t>• 32비트: SBXPCDLL.dll / 64비트: SBXPCDLL64.dll</a:t>
            </a:r>
          </a:p>
          <a:p>
            <a:pPr algn="l">
              <a:lnSpc>
                <a:spcPct val="200000"/>
              </a:lnSpc>
            </a:pPr>
            <a:r>
              <a:rPr sz="1200" b="0">
                <a:solidFill>
                  <a:srgbClr val="1A233A"/>
                </a:solidFill>
              </a:rPr>
              <a:t>• 콜백(Callback) 기반 이벤트 수신</a:t>
            </a:r>
          </a:p>
          <a:p>
            <a:pPr algn="l">
              <a:lnSpc>
                <a:spcPct val="200000"/>
              </a:lnSpc>
            </a:pPr>
            <a:r>
              <a:rPr sz="1200" b="0">
                <a:solidFill>
                  <a:srgbClr val="1A233A"/>
                </a:solidFill>
              </a:rPr>
              <a:t>• DllImport (P/Invoke) 로 C# 에서 호출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0" y="1097280"/>
            <a:ext cx="3749039" cy="4572000"/>
          </a:xfrm>
          <a:prstGeom prst="rect">
            <a:avLst/>
          </a:prstGeom>
          <a:solidFill>
            <a:srgbClr val="F0F4F8"/>
          </a:solidFill>
          <a:ln w="6350">
            <a:solidFill>
              <a:srgbClr val="008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229600" y="1097280"/>
            <a:ext cx="3749039" cy="347472"/>
          </a:xfrm>
          <a:prstGeom prst="rect">
            <a:avLst/>
          </a:prstGeom>
          <a:solidFill>
            <a:srgbClr val="2E86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339327" y="1133856"/>
            <a:ext cx="356615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샘플 프로젝트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39327" y="1481328"/>
            <a:ext cx="3201004" cy="225542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200000"/>
              </a:lnSpc>
            </a:pPr>
            <a:r>
              <a:rPr sz="1200" b="0">
                <a:solidFill>
                  <a:srgbClr val="1A233A"/>
                </a:solidFill>
              </a:rPr>
              <a:t>• C# WinForms — 가장 풍부한 예제</a:t>
            </a:r>
          </a:p>
          <a:p>
            <a:pPr algn="l">
              <a:lnSpc>
                <a:spcPct val="200000"/>
              </a:lnSpc>
            </a:pPr>
            <a:r>
              <a:rPr sz="1200" b="0">
                <a:solidFill>
                  <a:srgbClr val="1A233A"/>
                </a:solidFill>
              </a:rPr>
              <a:t>• VB.NET / VB6 / Delphi 샘플 제공</a:t>
            </a:r>
          </a:p>
          <a:p>
            <a:pPr algn="l">
              <a:lnSpc>
                <a:spcPct val="200000"/>
              </a:lnSpc>
            </a:pPr>
            <a:r>
              <a:rPr sz="1200" b="0">
                <a:solidFill>
                  <a:srgbClr val="1A233A"/>
                </a:solidFill>
              </a:rPr>
              <a:t>• Java 샘플 제공</a:t>
            </a:r>
          </a:p>
          <a:p>
            <a:pPr algn="l">
              <a:lnSpc>
                <a:spcPct val="200000"/>
              </a:lnSpc>
            </a:pPr>
            <a:r>
              <a:rPr sz="1200" b="0">
                <a:solidFill>
                  <a:srgbClr val="1A233A"/>
                </a:solidFill>
              </a:rPr>
              <a:t>• BigUser ID 변형 샘플 별도</a:t>
            </a:r>
          </a:p>
          <a:p>
            <a:pPr algn="l">
              <a:lnSpc>
                <a:spcPct val="200000"/>
              </a:lnSpc>
            </a:pPr>
            <a:r>
              <a:rPr sz="1200" b="0">
                <a:solidFill>
                  <a:srgbClr val="1A233A"/>
                </a:solidFill>
              </a:rPr>
              <a:t>• Sample_A30/A50/M30/M50/S100/S300/Multi</a:t>
            </a:r>
          </a:p>
          <a:p>
            <a:pPr algn="l">
              <a:lnSpc>
                <a:spcPct val="200000"/>
              </a:lnSpc>
            </a:pPr>
            <a:r>
              <a:rPr sz="1200" b="0">
                <a:solidFill>
                  <a:srgbClr val="1A233A"/>
                </a:solidFill>
              </a:rPr>
              <a:t>• Sample_A3-8190  ★ NEW (HTTP Server)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57607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33A"/>
                </a:solidFill>
              </a:rPr>
              <a:t>📦  bin/ 디렉토리 구조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05332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 err="1">
                <a:solidFill>
                  <a:srgbClr val="556575"/>
                </a:solidFill>
              </a:rPr>
              <a:t>x86</a:t>
            </a:r>
            <a:r>
              <a:rPr sz="1000" b="0" i="0" dirty="0">
                <a:solidFill>
                  <a:srgbClr val="556575"/>
                </a:solidFill>
              </a:rPr>
              <a:t>/: </a:t>
            </a:r>
            <a:r>
              <a:rPr sz="1000" b="0" i="0" dirty="0" err="1">
                <a:solidFill>
                  <a:srgbClr val="556575"/>
                </a:solidFill>
              </a:rPr>
              <a:t>SBXPCDLL.dll</a:t>
            </a:r>
            <a:r>
              <a:rPr sz="1000" b="0" i="0" dirty="0">
                <a:solidFill>
                  <a:srgbClr val="556575"/>
                </a:solidFill>
              </a:rPr>
              <a:t>  </a:t>
            </a:r>
            <a:r>
              <a:rPr sz="1000" b="0" i="0" dirty="0" err="1">
                <a:solidFill>
                  <a:srgbClr val="556575"/>
                </a:solidFill>
              </a:rPr>
              <a:t>SBXPC.ocx</a:t>
            </a:r>
            <a:r>
              <a:rPr sz="1000" b="0" i="0" dirty="0">
                <a:solidFill>
                  <a:srgbClr val="556575"/>
                </a:solidFill>
              </a:rPr>
              <a:t>  </a:t>
            </a:r>
            <a:r>
              <a:rPr sz="1000" b="0" i="0" dirty="0" err="1">
                <a:solidFill>
                  <a:srgbClr val="556575"/>
                </a:solidFill>
              </a:rPr>
              <a:t>SBPCCOMM.dll</a:t>
            </a:r>
            <a:r>
              <a:rPr sz="1000" b="0" i="0" dirty="0">
                <a:solidFill>
                  <a:srgbClr val="556575"/>
                </a:solidFill>
              </a:rPr>
              <a:t>  </a:t>
            </a:r>
            <a:r>
              <a:rPr sz="1000" b="0" i="0" dirty="0" err="1">
                <a:solidFill>
                  <a:srgbClr val="556575"/>
                </a:solidFill>
              </a:rPr>
              <a:t>GEN_FONT.dll</a:t>
            </a:r>
            <a:endParaRPr sz="1000" b="0" i="0" dirty="0">
              <a:solidFill>
                <a:srgbClr val="556575"/>
              </a:solidFill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502920" y="63093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 err="1">
                <a:solidFill>
                  <a:srgbClr val="556575"/>
                </a:solidFill>
              </a:rPr>
              <a:t>x64</a:t>
            </a:r>
            <a:r>
              <a:rPr sz="1000" b="0" i="0" dirty="0">
                <a:solidFill>
                  <a:srgbClr val="556575"/>
                </a:solidFill>
              </a:rPr>
              <a:t>/: </a:t>
            </a:r>
            <a:r>
              <a:rPr sz="1000" b="0" i="0" dirty="0" err="1">
                <a:solidFill>
                  <a:srgbClr val="556575"/>
                </a:solidFill>
              </a:rPr>
              <a:t>SBXPCDLL64.dll</a:t>
            </a:r>
            <a:r>
              <a:rPr sz="1000" b="0" i="0" dirty="0">
                <a:solidFill>
                  <a:srgbClr val="556575"/>
                </a:solidFill>
              </a:rPr>
              <a:t>  </a:t>
            </a:r>
            <a:r>
              <a:rPr sz="1000" b="0" i="0" dirty="0" err="1">
                <a:solidFill>
                  <a:srgbClr val="556575"/>
                </a:solidFill>
              </a:rPr>
              <a:t>SBPCCOMM64.dll</a:t>
            </a:r>
            <a:r>
              <a:rPr sz="1000" b="0" i="0" dirty="0">
                <a:solidFill>
                  <a:srgbClr val="556575"/>
                </a:solidFill>
              </a:rPr>
              <a:t>  </a:t>
            </a:r>
            <a:r>
              <a:rPr sz="1000" b="0" i="0" dirty="0" err="1">
                <a:solidFill>
                  <a:srgbClr val="556575"/>
                </a:solidFill>
              </a:rPr>
              <a:t>GEN_FONT64.dll</a:t>
            </a:r>
            <a:endParaRPr sz="1000" b="0" i="0" dirty="0">
              <a:solidFill>
                <a:srgbClr val="556575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365760" y="73152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05  WebSocket SDK 구조 분석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58368"/>
            <a:ext cx="9144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 dirty="0" err="1">
                <a:solidFill>
                  <a:schemeClr val="bg1"/>
                </a:solidFill>
              </a:rPr>
              <a:t>클라우드·웹</a:t>
            </a:r>
            <a:r>
              <a:rPr sz="1400" b="0" i="0" dirty="0">
                <a:solidFill>
                  <a:schemeClr val="bg1"/>
                </a:solidFill>
              </a:rPr>
              <a:t> </a:t>
            </a:r>
            <a:r>
              <a:rPr sz="1400" b="0" i="0" dirty="0" err="1">
                <a:solidFill>
                  <a:schemeClr val="bg1"/>
                </a:solidFill>
              </a:rPr>
              <a:t>환경에서</a:t>
            </a:r>
            <a:r>
              <a:rPr sz="1400" b="0" i="0" dirty="0">
                <a:solidFill>
                  <a:schemeClr val="bg1"/>
                </a:solidFill>
              </a:rPr>
              <a:t> </a:t>
            </a:r>
            <a:r>
              <a:rPr sz="1400" b="0" i="0" dirty="0" err="1">
                <a:solidFill>
                  <a:schemeClr val="bg1"/>
                </a:solidFill>
              </a:rPr>
              <a:t>디바이스를</a:t>
            </a:r>
            <a:r>
              <a:rPr sz="1400" b="0" i="0" dirty="0">
                <a:solidFill>
                  <a:schemeClr val="bg1"/>
                </a:solidFill>
              </a:rPr>
              <a:t> </a:t>
            </a:r>
            <a:r>
              <a:rPr sz="1400" b="0" i="0" dirty="0" err="1">
                <a:solidFill>
                  <a:schemeClr val="bg1"/>
                </a:solidFill>
              </a:rPr>
              <a:t>연결하는</a:t>
            </a:r>
            <a:r>
              <a:rPr sz="1400" b="0" i="0" dirty="0">
                <a:solidFill>
                  <a:schemeClr val="bg1"/>
                </a:solidFill>
              </a:rPr>
              <a:t> </a:t>
            </a:r>
            <a:r>
              <a:rPr sz="1400" b="0" i="0" dirty="0" err="1">
                <a:solidFill>
                  <a:schemeClr val="bg1"/>
                </a:solidFill>
              </a:rPr>
              <a:t>현대적</a:t>
            </a:r>
            <a:r>
              <a:rPr sz="1400" b="0" i="0" dirty="0">
                <a:solidFill>
                  <a:schemeClr val="bg1"/>
                </a:solidFill>
              </a:rPr>
              <a:t> SDK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3749039" cy="4572000"/>
          </a:xfrm>
          <a:prstGeom prst="rect">
            <a:avLst/>
          </a:prstGeom>
          <a:solidFill>
            <a:srgbClr val="F0F4F8"/>
          </a:solidFill>
          <a:ln w="6350">
            <a:solidFill>
              <a:srgbClr val="008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1097280"/>
            <a:ext cx="3749039" cy="347472"/>
          </a:xfrm>
          <a:prstGeom prst="rect">
            <a:avLst/>
          </a:prstGeom>
          <a:solidFill>
            <a:srgbClr val="0088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75488" y="1133856"/>
            <a:ext cx="356615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 dirty="0">
                <a:solidFill>
                  <a:srgbClr val="FFFFFF"/>
                </a:solidFill>
              </a:rPr>
              <a:t>C# / </a:t>
            </a:r>
            <a:r>
              <a:rPr sz="1400" b="1" i="0" dirty="0" err="1">
                <a:solidFill>
                  <a:srgbClr val="FFFFFF"/>
                </a:solidFill>
              </a:rPr>
              <a:t>ASP.NET</a:t>
            </a:r>
            <a:endParaRPr sz="1400" b="1" i="0" dirty="0">
              <a:solidFill>
                <a:srgbClr val="FFFFFF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75488" y="1481328"/>
            <a:ext cx="2793906" cy="225510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200000"/>
              </a:lnSpc>
            </a:pPr>
            <a:r>
              <a:rPr sz="1200" b="0" dirty="0">
                <a:solidFill>
                  <a:srgbClr val="1A233A"/>
                </a:solidFill>
              </a:rPr>
              <a:t>• </a:t>
            </a:r>
            <a:r>
              <a:rPr sz="1200" b="0" dirty="0" err="1">
                <a:solidFill>
                  <a:srgbClr val="1A233A"/>
                </a:solidFill>
              </a:rPr>
              <a:t>Microsoft.Web.WebSockets</a:t>
            </a:r>
            <a:r>
              <a:rPr sz="1200" b="0" dirty="0">
                <a:solidFill>
                  <a:srgbClr val="1A233A"/>
                </a:solidFill>
              </a:rPr>
              <a:t> </a:t>
            </a:r>
            <a:r>
              <a:rPr sz="1200" b="0" dirty="0" err="1">
                <a:solidFill>
                  <a:srgbClr val="1A233A"/>
                </a:solidFill>
              </a:rPr>
              <a:t>기반</a:t>
            </a:r>
            <a:endParaRPr sz="1200" b="0" dirty="0">
              <a:solidFill>
                <a:srgbClr val="1A233A"/>
              </a:solidFill>
            </a:endParaRPr>
          </a:p>
          <a:p>
            <a:pPr algn="l">
              <a:lnSpc>
                <a:spcPct val="200000"/>
              </a:lnSpc>
            </a:pPr>
            <a:r>
              <a:rPr sz="1200" b="0" dirty="0">
                <a:solidFill>
                  <a:srgbClr val="1A233A"/>
                </a:solidFill>
              </a:rPr>
              <a:t>• </a:t>
            </a:r>
            <a:r>
              <a:rPr sz="1200" b="0" dirty="0" err="1">
                <a:solidFill>
                  <a:srgbClr val="1A233A"/>
                </a:solidFill>
              </a:rPr>
              <a:t>SmackBio.WebSocketSDK</a:t>
            </a:r>
            <a:r>
              <a:rPr sz="1200" b="0" dirty="0">
                <a:solidFill>
                  <a:srgbClr val="1A233A"/>
                </a:solidFill>
              </a:rPr>
              <a:t> </a:t>
            </a:r>
            <a:r>
              <a:rPr sz="1200" b="0" dirty="0" err="1">
                <a:solidFill>
                  <a:srgbClr val="1A233A"/>
                </a:solidFill>
              </a:rPr>
              <a:t>라이브러리</a:t>
            </a:r>
            <a:endParaRPr sz="1200" b="0" dirty="0">
              <a:solidFill>
                <a:srgbClr val="1A233A"/>
              </a:solidFill>
            </a:endParaRPr>
          </a:p>
          <a:p>
            <a:pPr algn="l">
              <a:lnSpc>
                <a:spcPct val="200000"/>
              </a:lnSpc>
            </a:pPr>
            <a:r>
              <a:rPr sz="1200" b="0" dirty="0">
                <a:solidFill>
                  <a:srgbClr val="1A233A"/>
                </a:solidFill>
              </a:rPr>
              <a:t>• </a:t>
            </a:r>
            <a:r>
              <a:rPr sz="1200" b="0" dirty="0" err="1">
                <a:solidFill>
                  <a:srgbClr val="1A233A"/>
                </a:solidFill>
              </a:rPr>
              <a:t>IDeviceLoginManager</a:t>
            </a:r>
            <a:r>
              <a:rPr sz="1200" b="0" dirty="0">
                <a:solidFill>
                  <a:srgbClr val="1A233A"/>
                </a:solidFill>
              </a:rPr>
              <a:t> </a:t>
            </a:r>
            <a:r>
              <a:rPr sz="1200" b="0" dirty="0" err="1">
                <a:solidFill>
                  <a:srgbClr val="1A233A"/>
                </a:solidFill>
              </a:rPr>
              <a:t>인터페이스</a:t>
            </a:r>
            <a:r>
              <a:rPr sz="1200" b="0" dirty="0">
                <a:solidFill>
                  <a:srgbClr val="1A233A"/>
                </a:solidFill>
              </a:rPr>
              <a:t> </a:t>
            </a:r>
            <a:r>
              <a:rPr sz="1200" b="0" dirty="0" err="1">
                <a:solidFill>
                  <a:srgbClr val="1A233A"/>
                </a:solidFill>
              </a:rPr>
              <a:t>구현</a:t>
            </a:r>
            <a:endParaRPr sz="1200" b="0" dirty="0">
              <a:solidFill>
                <a:srgbClr val="1A233A"/>
              </a:solidFill>
            </a:endParaRPr>
          </a:p>
          <a:p>
            <a:pPr algn="l">
              <a:lnSpc>
                <a:spcPct val="200000"/>
              </a:lnSpc>
            </a:pPr>
            <a:r>
              <a:rPr sz="1200" b="0" dirty="0">
                <a:solidFill>
                  <a:srgbClr val="1A233A"/>
                </a:solidFill>
              </a:rPr>
              <a:t>• </a:t>
            </a:r>
            <a:r>
              <a:rPr sz="1200" b="0" dirty="0" err="1">
                <a:solidFill>
                  <a:srgbClr val="1A233A"/>
                </a:solidFill>
              </a:rPr>
              <a:t>SessionRegistry</a:t>
            </a:r>
            <a:r>
              <a:rPr sz="1200" b="0" dirty="0">
                <a:solidFill>
                  <a:srgbClr val="1A233A"/>
                </a:solidFill>
              </a:rPr>
              <a:t> </a:t>
            </a:r>
            <a:r>
              <a:rPr sz="1200" b="0" dirty="0" err="1">
                <a:solidFill>
                  <a:srgbClr val="1A233A"/>
                </a:solidFill>
              </a:rPr>
              <a:t>세션</a:t>
            </a:r>
            <a:r>
              <a:rPr sz="1200" b="0" dirty="0">
                <a:solidFill>
                  <a:srgbClr val="1A233A"/>
                </a:solidFill>
              </a:rPr>
              <a:t> </a:t>
            </a:r>
            <a:r>
              <a:rPr sz="1200" b="0" dirty="0" err="1">
                <a:solidFill>
                  <a:srgbClr val="1A233A"/>
                </a:solidFill>
              </a:rPr>
              <a:t>관리</a:t>
            </a:r>
            <a:endParaRPr sz="1200" b="0" dirty="0">
              <a:solidFill>
                <a:srgbClr val="1A233A"/>
              </a:solidFill>
            </a:endParaRPr>
          </a:p>
          <a:p>
            <a:pPr algn="l">
              <a:lnSpc>
                <a:spcPct val="200000"/>
              </a:lnSpc>
            </a:pPr>
            <a:r>
              <a:rPr sz="1200" b="0" dirty="0">
                <a:solidFill>
                  <a:srgbClr val="1A233A"/>
                </a:solidFill>
              </a:rPr>
              <a:t>• </a:t>
            </a:r>
            <a:r>
              <a:rPr sz="1200" b="0" dirty="0" err="1">
                <a:solidFill>
                  <a:srgbClr val="1A233A"/>
                </a:solidFill>
              </a:rPr>
              <a:t>SBWebSocketHandler</a:t>
            </a:r>
            <a:r>
              <a:rPr sz="1200" b="0" dirty="0">
                <a:solidFill>
                  <a:srgbClr val="1A233A"/>
                </a:solidFill>
              </a:rPr>
              <a:t> </a:t>
            </a:r>
            <a:r>
              <a:rPr sz="1200" b="0" dirty="0" err="1">
                <a:solidFill>
                  <a:srgbClr val="1A233A"/>
                </a:solidFill>
              </a:rPr>
              <a:t>핵심</a:t>
            </a:r>
            <a:r>
              <a:rPr sz="1200" b="0" dirty="0">
                <a:solidFill>
                  <a:srgbClr val="1A233A"/>
                </a:solidFill>
              </a:rPr>
              <a:t> </a:t>
            </a:r>
            <a:r>
              <a:rPr sz="1200" b="0" dirty="0" err="1">
                <a:solidFill>
                  <a:srgbClr val="1A233A"/>
                </a:solidFill>
              </a:rPr>
              <a:t>핸들러</a:t>
            </a:r>
            <a:endParaRPr sz="1200" b="0" dirty="0">
              <a:solidFill>
                <a:srgbClr val="1A233A"/>
              </a:solidFill>
            </a:endParaRPr>
          </a:p>
          <a:p>
            <a:pPr algn="l">
              <a:lnSpc>
                <a:spcPct val="200000"/>
              </a:lnSpc>
            </a:pPr>
            <a:r>
              <a:rPr sz="1200" b="0" dirty="0">
                <a:solidFill>
                  <a:srgbClr val="1A233A"/>
                </a:solidFill>
              </a:rPr>
              <a:t>• </a:t>
            </a:r>
            <a:r>
              <a:rPr sz="1200" b="0" dirty="0" err="1">
                <a:solidFill>
                  <a:srgbClr val="1A233A"/>
                </a:solidFill>
              </a:rPr>
              <a:t>온라인</a:t>
            </a:r>
            <a:r>
              <a:rPr sz="1200" b="0" dirty="0">
                <a:solidFill>
                  <a:srgbClr val="1A233A"/>
                </a:solidFill>
              </a:rPr>
              <a:t> </a:t>
            </a:r>
            <a:r>
              <a:rPr sz="1200" b="0" dirty="0" err="1">
                <a:solidFill>
                  <a:srgbClr val="1A233A"/>
                </a:solidFill>
              </a:rPr>
              <a:t>디바이스</a:t>
            </a:r>
            <a:r>
              <a:rPr sz="1200" b="0" dirty="0">
                <a:solidFill>
                  <a:srgbClr val="1A233A"/>
                </a:solidFill>
              </a:rPr>
              <a:t> / </a:t>
            </a:r>
            <a:r>
              <a:rPr sz="1200" b="0" dirty="0" err="1">
                <a:solidFill>
                  <a:srgbClr val="1A233A"/>
                </a:solidFill>
              </a:rPr>
              <a:t>로그</a:t>
            </a:r>
            <a:r>
              <a:rPr sz="1200" b="0" dirty="0">
                <a:solidFill>
                  <a:srgbClr val="1A233A"/>
                </a:solidFill>
              </a:rPr>
              <a:t> </a:t>
            </a:r>
            <a:r>
              <a:rPr sz="1200" b="0" dirty="0" err="1">
                <a:solidFill>
                  <a:srgbClr val="1A233A"/>
                </a:solidFill>
              </a:rPr>
              <a:t>조회</a:t>
            </a:r>
            <a:r>
              <a:rPr sz="1200" b="0" dirty="0">
                <a:solidFill>
                  <a:srgbClr val="1A233A"/>
                </a:solidFill>
              </a:rPr>
              <a:t> UI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7680" y="1097280"/>
            <a:ext cx="3749039" cy="4572000"/>
          </a:xfrm>
          <a:prstGeom prst="rect">
            <a:avLst/>
          </a:prstGeom>
          <a:solidFill>
            <a:srgbClr val="F0F4F8"/>
          </a:solidFill>
          <a:ln w="6350">
            <a:solidFill>
              <a:srgbClr val="008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297680" y="1097280"/>
            <a:ext cx="3749039" cy="347472"/>
          </a:xfrm>
          <a:prstGeom prst="rect">
            <a:avLst/>
          </a:prstGeom>
          <a:solidFill>
            <a:srgbClr val="777B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407408" y="1133856"/>
            <a:ext cx="356615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PHP  (Workerman)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07408" y="1481328"/>
            <a:ext cx="2496196" cy="225510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200000"/>
              </a:lnSpc>
            </a:pPr>
            <a:r>
              <a:rPr sz="1200" b="0">
                <a:solidFill>
                  <a:srgbClr val="1A233A"/>
                </a:solidFill>
              </a:rPr>
              <a:t>• Workerman WebSocket 서버</a:t>
            </a:r>
          </a:p>
          <a:p>
            <a:pPr algn="l">
              <a:lnSpc>
                <a:spcPct val="200000"/>
              </a:lnSpc>
            </a:pPr>
            <a:r>
              <a:rPr sz="1200" b="0">
                <a:solidFill>
                  <a:srgbClr val="1A233A"/>
                </a:solidFill>
              </a:rPr>
              <a:t>• ws_server.php — 서버 구동</a:t>
            </a:r>
          </a:p>
          <a:p>
            <a:pPr algn="l">
              <a:lnSpc>
                <a:spcPct val="200000"/>
              </a:lnSpc>
            </a:pPr>
            <a:r>
              <a:rPr sz="1200" b="0">
                <a:solidFill>
                  <a:srgbClr val="1A233A"/>
                </a:solidFill>
              </a:rPr>
              <a:t>• ws_connection.php — 연결 관리</a:t>
            </a:r>
          </a:p>
          <a:p>
            <a:pPr algn="l">
              <a:lnSpc>
                <a:spcPct val="200000"/>
              </a:lnSpc>
            </a:pPr>
            <a:r>
              <a:rPr sz="1200" b="0">
                <a:solidFill>
                  <a:srgbClr val="1A233A"/>
                </a:solidFill>
              </a:rPr>
              <a:t>• ws_dev_event.php — 이벤트 처리</a:t>
            </a:r>
          </a:p>
          <a:p>
            <a:pPr algn="l">
              <a:lnSpc>
                <a:spcPct val="200000"/>
              </a:lnSpc>
            </a:pPr>
            <a:r>
              <a:rPr sz="1200" b="0">
                <a:solidFill>
                  <a:srgbClr val="1A233A"/>
                </a:solidFill>
              </a:rPr>
              <a:t>• 0.download_workerman.bat 실행</a:t>
            </a:r>
          </a:p>
          <a:p>
            <a:pPr algn="l">
              <a:lnSpc>
                <a:spcPct val="200000"/>
              </a:lnSpc>
            </a:pPr>
            <a:r>
              <a:rPr sz="1200" b="0">
                <a:solidFill>
                  <a:srgbClr val="1A233A"/>
                </a:solidFill>
              </a:rPr>
              <a:t>• PHP 웹 프론트엔드 포함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0" y="1097280"/>
            <a:ext cx="3749039" cy="4572000"/>
          </a:xfrm>
          <a:prstGeom prst="rect">
            <a:avLst/>
          </a:prstGeom>
          <a:solidFill>
            <a:srgbClr val="F0F4F8"/>
          </a:solidFill>
          <a:ln w="6350">
            <a:solidFill>
              <a:srgbClr val="008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229600" y="1097280"/>
            <a:ext cx="3749039" cy="347472"/>
          </a:xfrm>
          <a:prstGeom prst="rect">
            <a:avLst/>
          </a:prstGeom>
          <a:solidFill>
            <a:srgbClr val="306F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339327" y="1133856"/>
            <a:ext cx="356615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Python / Django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39327" y="1481328"/>
            <a:ext cx="2517484" cy="225510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200000"/>
              </a:lnSpc>
            </a:pPr>
            <a:r>
              <a:rPr sz="1200" b="0">
                <a:solidFill>
                  <a:srgbClr val="1A233A"/>
                </a:solidFill>
              </a:rPr>
              <a:t>• Django 웹 프레임워크 기반</a:t>
            </a:r>
          </a:p>
          <a:p>
            <a:pPr algn="l">
              <a:lnSpc>
                <a:spcPct val="200000"/>
              </a:lnSpc>
            </a:pPr>
            <a:r>
              <a:rPr sz="1200" b="0">
                <a:solidFill>
                  <a:srgbClr val="1A233A"/>
                </a:solidFill>
              </a:rPr>
              <a:t>• sdkdemoapp 앱 구조</a:t>
            </a:r>
          </a:p>
          <a:p>
            <a:pPr algn="l">
              <a:lnSpc>
                <a:spcPct val="200000"/>
              </a:lnSpc>
            </a:pPr>
            <a:r>
              <a:rPr sz="1200" b="0">
                <a:solidFill>
                  <a:srgbClr val="1A233A"/>
                </a:solidFill>
              </a:rPr>
              <a:t>• biz/ 비즈니스 로직 분리</a:t>
            </a:r>
          </a:p>
          <a:p>
            <a:pPr algn="l">
              <a:lnSpc>
                <a:spcPct val="200000"/>
              </a:lnSpc>
            </a:pPr>
            <a:r>
              <a:rPr sz="1200" b="0">
                <a:solidFill>
                  <a:srgbClr val="1A233A"/>
                </a:solidFill>
              </a:rPr>
              <a:t>• REST API + WebSocket 혼용</a:t>
            </a:r>
          </a:p>
          <a:p>
            <a:pPr algn="l">
              <a:lnSpc>
                <a:spcPct val="200000"/>
              </a:lnSpc>
            </a:pPr>
            <a:r>
              <a:rPr sz="1200" b="0">
                <a:solidFill>
                  <a:srgbClr val="1A233A"/>
                </a:solidFill>
              </a:rPr>
              <a:t>• 2.run_web_app.bat 실행 스크립트</a:t>
            </a:r>
          </a:p>
          <a:p>
            <a:pPr algn="l">
              <a:lnSpc>
                <a:spcPct val="200000"/>
              </a:lnSpc>
            </a:pPr>
            <a:r>
              <a:rPr sz="1200" b="0">
                <a:solidFill>
                  <a:srgbClr val="1A233A"/>
                </a:solidFill>
              </a:rPr>
              <a:t>• Getting Started 문서 제공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365760" y="73152"/>
            <a:ext cx="9144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 dirty="0">
                <a:solidFill>
                  <a:srgbClr val="FFFFFF"/>
                </a:solidFill>
              </a:rPr>
              <a:t>06  </a:t>
            </a:r>
            <a:r>
              <a:rPr sz="2800" b="1" i="0" dirty="0" err="1">
                <a:solidFill>
                  <a:srgbClr val="FFFFFF"/>
                </a:solidFill>
              </a:rPr>
              <a:t>지원</a:t>
            </a:r>
            <a:r>
              <a:rPr sz="2800" b="1" i="0" dirty="0">
                <a:solidFill>
                  <a:srgbClr val="FFFFFF"/>
                </a:solidFill>
              </a:rPr>
              <a:t> </a:t>
            </a:r>
            <a:r>
              <a:rPr sz="2800" b="1" i="0" dirty="0" err="1">
                <a:solidFill>
                  <a:srgbClr val="FFFFFF"/>
                </a:solidFill>
              </a:rPr>
              <a:t>디바이스</a:t>
            </a:r>
            <a:r>
              <a:rPr sz="2800" b="1" i="0" dirty="0">
                <a:solidFill>
                  <a:srgbClr val="FFFFFF"/>
                </a:solidFill>
              </a:rPr>
              <a:t> </a:t>
            </a:r>
            <a:r>
              <a:rPr sz="2800" b="1" i="0" dirty="0" err="1">
                <a:solidFill>
                  <a:srgbClr val="FFFFFF"/>
                </a:solidFill>
              </a:rPr>
              <a:t>모델</a:t>
            </a:r>
            <a:endParaRPr sz="2800" b="1" i="0" dirty="0">
              <a:solidFill>
                <a:srgbClr val="FFFFFF"/>
              </a:solidFill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365760" y="658368"/>
            <a:ext cx="9144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 dirty="0" err="1">
                <a:solidFill>
                  <a:schemeClr val="bg1"/>
                </a:solidFill>
              </a:rPr>
              <a:t>SmackBio</a:t>
            </a:r>
            <a:r>
              <a:rPr sz="1400" b="0" i="0" dirty="0">
                <a:solidFill>
                  <a:schemeClr val="bg1"/>
                </a:solidFill>
              </a:rPr>
              <a:t> </a:t>
            </a:r>
            <a:r>
              <a:rPr sz="1400" b="0" i="0" dirty="0" err="1">
                <a:solidFill>
                  <a:schemeClr val="bg1"/>
                </a:solidFill>
              </a:rPr>
              <a:t>디바이스</a:t>
            </a:r>
            <a:r>
              <a:rPr sz="1400" b="0" i="0" dirty="0">
                <a:solidFill>
                  <a:schemeClr val="bg1"/>
                </a:solidFill>
              </a:rPr>
              <a:t> </a:t>
            </a:r>
            <a:r>
              <a:rPr sz="1400" b="0" i="0" dirty="0" err="1">
                <a:solidFill>
                  <a:schemeClr val="bg1"/>
                </a:solidFill>
              </a:rPr>
              <a:t>라인업</a:t>
            </a:r>
            <a:endParaRPr sz="1400" b="0" i="0" dirty="0">
              <a:solidFill>
                <a:schemeClr val="bg1"/>
              </a:solidFill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3749039" cy="2286000"/>
          </a:xfrm>
          <a:prstGeom prst="rect">
            <a:avLst/>
          </a:prstGeom>
          <a:solidFill>
            <a:srgbClr val="FFFFFF"/>
          </a:solidFill>
          <a:ln w="10160">
            <a:solidFill>
              <a:srgbClr val="008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1097280"/>
            <a:ext cx="3749039" cy="365760"/>
          </a:xfrm>
          <a:prstGeom prst="rect">
            <a:avLst/>
          </a:prstGeom>
          <a:solidFill>
            <a:srgbClr val="0088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1133856"/>
            <a:ext cx="3566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A30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99616"/>
            <a:ext cx="3566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A233A"/>
                </a:solidFill>
              </a:rPr>
              <a:t>소형 지문인식기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773936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6575"/>
                </a:solidFill>
              </a:rPr>
              <a:t>• 지문 1:N 인증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212848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6575"/>
                </a:solidFill>
              </a:rPr>
              <a:t>• 직렬/TCP-IP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651760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6575"/>
                </a:solidFill>
              </a:rPr>
              <a:t>• 경량 임베디드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97680" y="1097280"/>
            <a:ext cx="3749039" cy="2286000"/>
          </a:xfrm>
          <a:prstGeom prst="rect">
            <a:avLst/>
          </a:prstGeom>
          <a:solidFill>
            <a:srgbClr val="FFFFFF"/>
          </a:solidFill>
          <a:ln w="10160">
            <a:solidFill>
              <a:srgbClr val="008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297680" y="1097280"/>
            <a:ext cx="3749039" cy="365760"/>
          </a:xfrm>
          <a:prstGeom prst="rect">
            <a:avLst/>
          </a:prstGeom>
          <a:solidFill>
            <a:srgbClr val="0088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389120" y="1133856"/>
            <a:ext cx="3566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A50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1499616"/>
            <a:ext cx="3566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A233A"/>
                </a:solidFill>
              </a:rPr>
              <a:t>고급 지문인식기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1773936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6575"/>
                </a:solidFill>
              </a:rPr>
              <a:t>• A30 + 향상 속도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20" y="2212848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6575"/>
                </a:solidFill>
              </a:rPr>
              <a:t>• 더 큰 등록용량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0" y="1097280"/>
            <a:ext cx="3749039" cy="2286000"/>
          </a:xfrm>
          <a:prstGeom prst="rect">
            <a:avLst/>
          </a:prstGeom>
          <a:solidFill>
            <a:srgbClr val="FFFFFF"/>
          </a:solidFill>
          <a:ln w="10160">
            <a:solidFill>
              <a:srgbClr val="2E86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8229600" y="1097280"/>
            <a:ext cx="3749039" cy="365760"/>
          </a:xfrm>
          <a:prstGeom prst="rect">
            <a:avLst/>
          </a:prstGeom>
          <a:solidFill>
            <a:srgbClr val="2E86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321040" y="1133856"/>
            <a:ext cx="3566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M30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40" y="1499616"/>
            <a:ext cx="3566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A233A"/>
                </a:solidFill>
              </a:rPr>
              <a:t>멀티모달 인증기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1040" y="1773936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6575"/>
                </a:solidFill>
              </a:rPr>
              <a:t>• 지문+PIN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21040" y="2212848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6575"/>
                </a:solidFill>
              </a:rPr>
              <a:t>• 도어 제어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40" y="2651760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6575"/>
                </a:solidFill>
              </a:rPr>
              <a:t>• Bell 타이머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3657600"/>
            <a:ext cx="3749039" cy="2286000"/>
          </a:xfrm>
          <a:prstGeom prst="rect">
            <a:avLst/>
          </a:prstGeom>
          <a:solidFill>
            <a:srgbClr val="FFFFFF"/>
          </a:solidFill>
          <a:ln w="10160">
            <a:solidFill>
              <a:srgbClr val="2E86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365760" y="3657600"/>
            <a:ext cx="3749039" cy="365760"/>
          </a:xfrm>
          <a:prstGeom prst="rect">
            <a:avLst/>
          </a:prstGeom>
          <a:solidFill>
            <a:srgbClr val="2E86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57200" y="3694176"/>
            <a:ext cx="3566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M50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4059936"/>
            <a:ext cx="3566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A233A"/>
                </a:solidFill>
              </a:rPr>
              <a:t>멀티모달 고급형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4334256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6575"/>
                </a:solidFill>
              </a:rPr>
              <a:t>• M30+BigUser ID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4773168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6575"/>
                </a:solidFill>
              </a:rPr>
              <a:t>• GPS 로그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97680" y="3657600"/>
            <a:ext cx="3749039" cy="2286000"/>
          </a:xfrm>
          <a:prstGeom prst="rect">
            <a:avLst/>
          </a:prstGeom>
          <a:solidFill>
            <a:srgbClr val="FFFFFF"/>
          </a:solidFill>
          <a:ln w="10160">
            <a:solidFill>
              <a:srgbClr val="5565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4297680" y="3657600"/>
            <a:ext cx="3749039" cy="365760"/>
          </a:xfrm>
          <a:prstGeom prst="rect">
            <a:avLst/>
          </a:prstGeom>
          <a:solidFill>
            <a:srgbClr val="5565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4389120" y="3694176"/>
            <a:ext cx="3566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S100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89120" y="4059936"/>
            <a:ext cx="3566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A233A"/>
                </a:solidFill>
              </a:rPr>
              <a:t>스마트 출입 단말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89120" y="4334256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6575"/>
                </a:solidFill>
              </a:rPr>
              <a:t>• 스마트카드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89120" y="4773168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6575"/>
                </a:solidFill>
              </a:rPr>
              <a:t>• 얼굴 옵션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389120" y="5212080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6575"/>
                </a:solidFill>
              </a:rPr>
              <a:t>• 고용량 DB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229600" y="3657600"/>
            <a:ext cx="3749039" cy="2286000"/>
          </a:xfrm>
          <a:prstGeom prst="rect">
            <a:avLst/>
          </a:prstGeom>
          <a:solidFill>
            <a:srgbClr val="FFFFFF"/>
          </a:solidFill>
          <a:ln w="10160">
            <a:solidFill>
              <a:srgbClr val="1A23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8229600" y="3657600"/>
            <a:ext cx="3749039" cy="365760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8321040" y="3694176"/>
            <a:ext cx="3566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S300/SB3600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21040" y="4059936"/>
            <a:ext cx="3566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A233A"/>
                </a:solidFill>
              </a:rPr>
              <a:t>엔터프라이즈 단말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21040" y="4334256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6575"/>
                </a:solidFill>
              </a:rPr>
              <a:t>• 최대 사용자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21040" y="4773168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6575"/>
                </a:solidFill>
              </a:rPr>
              <a:t>• 36자 ID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21040" y="5212080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6575"/>
                </a:solidFill>
              </a:rPr>
              <a:t>• 12자리 ID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02920" y="6199632"/>
            <a:ext cx="1115568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 i="0" dirty="0">
                <a:solidFill>
                  <a:srgbClr val="FF0000"/>
                </a:solidFill>
              </a:rPr>
              <a:t>★  BOWE </a:t>
            </a:r>
            <a:r>
              <a:rPr sz="1100" b="1" i="0" dirty="0" err="1">
                <a:solidFill>
                  <a:srgbClr val="FF0000"/>
                </a:solidFill>
              </a:rPr>
              <a:t>A3</a:t>
            </a:r>
            <a:r>
              <a:rPr sz="1100" b="1" i="0" dirty="0">
                <a:solidFill>
                  <a:srgbClr val="FF0000"/>
                </a:solidFill>
              </a:rPr>
              <a:t>-8190   —  </a:t>
            </a:r>
            <a:r>
              <a:rPr sz="1100" b="1" i="0" dirty="0" err="1">
                <a:solidFill>
                  <a:srgbClr val="FF0000"/>
                </a:solidFill>
              </a:rPr>
              <a:t>얼굴인식+지문+카드+비밀번호+QR코드</a:t>
            </a:r>
            <a:r>
              <a:rPr sz="1100" b="1" i="0" dirty="0">
                <a:solidFill>
                  <a:srgbClr val="FF0000"/>
                </a:solidFill>
              </a:rPr>
              <a:t>  |  HTTP Push </a:t>
            </a:r>
            <a:r>
              <a:rPr sz="1100" b="1" i="0" dirty="0" err="1">
                <a:solidFill>
                  <a:srgbClr val="FF0000"/>
                </a:solidFill>
              </a:rPr>
              <a:t>프로토콜</a:t>
            </a:r>
            <a:r>
              <a:rPr sz="1100" b="1" i="0" dirty="0">
                <a:solidFill>
                  <a:srgbClr val="FF0000"/>
                </a:solidFill>
              </a:rPr>
              <a:t>  |  </a:t>
            </a:r>
            <a:r>
              <a:rPr sz="1100" b="1" i="0" dirty="0" err="1">
                <a:solidFill>
                  <a:srgbClr val="FF0000"/>
                </a:solidFill>
              </a:rPr>
              <a:t>최대</a:t>
            </a:r>
            <a:r>
              <a:rPr sz="1100" b="1" i="0" dirty="0">
                <a:solidFill>
                  <a:srgbClr val="FF0000"/>
                </a:solidFill>
              </a:rPr>
              <a:t> </a:t>
            </a:r>
            <a:r>
              <a:rPr sz="1100" b="1" i="0" dirty="0" err="1">
                <a:solidFill>
                  <a:srgbClr val="FF0000"/>
                </a:solidFill>
              </a:rPr>
              <a:t>5,000명</a:t>
            </a:r>
            <a:r>
              <a:rPr sz="1100" b="1" i="0" dirty="0">
                <a:solidFill>
                  <a:srgbClr val="FF0000"/>
                </a:solidFill>
              </a:rPr>
              <a:t>  |  </a:t>
            </a:r>
            <a:r>
              <a:rPr sz="1100" b="1" i="0" dirty="0" err="1">
                <a:solidFill>
                  <a:srgbClr val="FF0000"/>
                </a:solidFill>
              </a:rPr>
              <a:t>체온</a:t>
            </a:r>
            <a:r>
              <a:rPr sz="1100" b="1" i="0" dirty="0">
                <a:solidFill>
                  <a:srgbClr val="FF0000"/>
                </a:solidFill>
              </a:rPr>
              <a:t> </a:t>
            </a:r>
            <a:r>
              <a:rPr sz="1100" b="1" i="0" dirty="0" err="1">
                <a:solidFill>
                  <a:srgbClr val="FF0000"/>
                </a:solidFill>
              </a:rPr>
              <a:t>측정</a:t>
            </a:r>
            <a:r>
              <a:rPr sz="1100" b="1" i="0" dirty="0">
                <a:solidFill>
                  <a:srgbClr val="FF0000"/>
                </a:solidFill>
              </a:rPr>
              <a:t>  |  </a:t>
            </a:r>
            <a:r>
              <a:rPr sz="1100" b="1" i="0" dirty="0" err="1">
                <a:solidFill>
                  <a:srgbClr val="FF0000"/>
                </a:solidFill>
              </a:rPr>
              <a:t>엘리베이터</a:t>
            </a:r>
            <a:r>
              <a:rPr sz="1100" b="1" i="0" dirty="0">
                <a:solidFill>
                  <a:srgbClr val="FF0000"/>
                </a:solidFill>
              </a:rPr>
              <a:t> </a:t>
            </a:r>
            <a:r>
              <a:rPr sz="1100" b="1" i="0" dirty="0" err="1">
                <a:solidFill>
                  <a:srgbClr val="FF0000"/>
                </a:solidFill>
              </a:rPr>
              <a:t>권한</a:t>
            </a:r>
            <a:r>
              <a:rPr sz="1100" b="1" i="0" dirty="0">
                <a:solidFill>
                  <a:srgbClr val="FF0000"/>
                </a:solidFill>
              </a:rPr>
              <a:t> </a:t>
            </a:r>
            <a:r>
              <a:rPr sz="1100" b="1" i="0" dirty="0" err="1">
                <a:solidFill>
                  <a:srgbClr val="FF0000"/>
                </a:solidFill>
              </a:rPr>
              <a:t>제어</a:t>
            </a:r>
            <a:endParaRPr sz="1100" b="1" i="0" dirty="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365760" y="73152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07  S/W 개발 전체 흐름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58368"/>
            <a:ext cx="9144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 dirty="0" err="1">
                <a:solidFill>
                  <a:schemeClr val="bg1"/>
                </a:solidFill>
              </a:rPr>
              <a:t>3가지</a:t>
            </a:r>
            <a:r>
              <a:rPr sz="1400" b="0" i="0" dirty="0">
                <a:solidFill>
                  <a:schemeClr val="bg1"/>
                </a:solidFill>
              </a:rPr>
              <a:t> SDK </a:t>
            </a:r>
            <a:r>
              <a:rPr sz="1400" b="0" i="0" dirty="0" err="1">
                <a:solidFill>
                  <a:schemeClr val="bg1"/>
                </a:solidFill>
              </a:rPr>
              <a:t>유형</a:t>
            </a:r>
            <a:r>
              <a:rPr sz="1400" b="0" i="0" dirty="0">
                <a:solidFill>
                  <a:schemeClr val="bg1"/>
                </a:solidFill>
              </a:rPr>
              <a:t> </a:t>
            </a:r>
            <a:r>
              <a:rPr sz="1400" b="0" i="0" dirty="0" err="1">
                <a:solidFill>
                  <a:schemeClr val="bg1"/>
                </a:solidFill>
              </a:rPr>
              <a:t>아키텍처</a:t>
            </a:r>
            <a:r>
              <a:rPr sz="1400" b="0" i="0" dirty="0">
                <a:solidFill>
                  <a:schemeClr val="bg1"/>
                </a:solidFill>
              </a:rPr>
              <a:t> — </a:t>
            </a:r>
            <a:r>
              <a:rPr sz="1400" b="0" i="0" dirty="0" err="1">
                <a:solidFill>
                  <a:schemeClr val="bg1"/>
                </a:solidFill>
              </a:rPr>
              <a:t>용도별</a:t>
            </a:r>
            <a:r>
              <a:rPr sz="1400" b="0" i="0" dirty="0">
                <a:solidFill>
                  <a:schemeClr val="bg1"/>
                </a:solidFill>
              </a:rPr>
              <a:t> </a:t>
            </a:r>
            <a:r>
              <a:rPr sz="1400" b="0" i="0" dirty="0" err="1">
                <a:solidFill>
                  <a:schemeClr val="bg1"/>
                </a:solidFill>
              </a:rPr>
              <a:t>선택</a:t>
            </a:r>
            <a:r>
              <a:rPr sz="1400" b="0" i="0" dirty="0">
                <a:solidFill>
                  <a:schemeClr val="bg1"/>
                </a:solidFill>
              </a:rPr>
              <a:t> </a:t>
            </a:r>
            <a:r>
              <a:rPr sz="1400" b="0" i="0" dirty="0" err="1">
                <a:solidFill>
                  <a:schemeClr val="bg1"/>
                </a:solidFill>
              </a:rPr>
              <a:t>가이드</a:t>
            </a:r>
            <a:endParaRPr sz="1400" b="0" i="0" dirty="0">
              <a:solidFill>
                <a:schemeClr val="bg1"/>
              </a:solidFill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320040" y="1097280"/>
            <a:ext cx="3749039" cy="384048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11479" y="1133856"/>
            <a:ext cx="3657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① Traditional SDK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536192"/>
            <a:ext cx="3749039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93192" y="1581912"/>
            <a:ext cx="361187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1A233A"/>
                </a:solidFill>
              </a:rPr>
              <a:t>응용 프로그램
(C# / VB.NET / Java / Delphi)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65960" y="221284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1A233A"/>
                </a:solidFill>
              </a:rPr>
              <a:t>▼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2487168"/>
            <a:ext cx="3749039" cy="59436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93192" y="2532888"/>
            <a:ext cx="361187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1A233A"/>
                </a:solidFill>
              </a:rPr>
              <a:t>SBXPCDLL.dll / SBXPC.ocx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65960" y="3118104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1A233A"/>
                </a:solidFill>
              </a:rPr>
              <a:t>▼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3401568"/>
            <a:ext cx="3749039" cy="64008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93192" y="3447288"/>
            <a:ext cx="361187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1A233A"/>
                </a:solidFill>
              </a:rPr>
              <a:t>통신 계층
(Serial / TCP-IP / P2P)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65960" y="4078224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1A233A"/>
                </a:solidFill>
              </a:rPr>
              <a:t>▼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" y="4352544"/>
            <a:ext cx="3749039" cy="658368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>
                <a:solidFill>
                  <a:srgbClr val="FFFFFF"/>
                </a:solidFill>
              </a:rPr>
              <a:t>SmackBio </a:t>
            </a:r>
            <a:r>
              <a:rPr lang="ko-KR" altLang="en-US" sz="1400">
                <a:solidFill>
                  <a:srgbClr val="FFFFFF"/>
                </a:solidFill>
              </a:rPr>
              <a:t>디바이스
</a:t>
            </a:r>
            <a:r>
              <a:rPr lang="en-US" altLang="ko-KR" sz="1400">
                <a:solidFill>
                  <a:srgbClr val="FFFFFF"/>
                </a:solidFill>
              </a:rPr>
              <a:t>(A30/A50/M30/M50/S300)</a:t>
            </a:r>
            <a:endParaRPr lang="en-US" altLang="ko-KR" sz="1400" dirty="0">
              <a:solidFill>
                <a:srgbClr val="FFFFFF"/>
              </a:solidFill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320040" y="5120640"/>
            <a:ext cx="3749039" cy="658368"/>
          </a:xfrm>
          <a:prstGeom prst="rect">
            <a:avLst/>
          </a:prstGeom>
          <a:solidFill>
            <a:srgbClr val="EE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ct val="150000"/>
              </a:lnSpc>
              <a:defRPr/>
            </a:pPr>
            <a:r>
              <a:rPr kumimoji="0" lang="ko-KR" altLang="en-US" sz="900" b="1" i="0" u="none" strike="noStrike" kern="1200" cap="none" spc="0" normalizeH="0" baseline="0" noProof="0" dirty="0">
                <a:ln>
                  <a:noFill/>
                </a:ln>
                <a:solidFill>
                  <a:srgbClr val="556575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적합한 용도</a:t>
            </a:r>
            <a:r>
              <a:rPr kumimoji="0" lang="en-US" altLang="ko-KR" sz="900" b="1" i="0" u="none" strike="noStrike" kern="1200" cap="none" spc="0" normalizeH="0" baseline="0" noProof="0" dirty="0">
                <a:ln>
                  <a:noFill/>
                </a:ln>
                <a:solidFill>
                  <a:srgbClr val="556575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:</a:t>
            </a:r>
          </a:p>
          <a:p>
            <a:pPr>
              <a:lnSpc>
                <a:spcPct val="150000"/>
              </a:lnSpc>
              <a:defRPr/>
            </a:pPr>
            <a:r>
              <a:rPr lang="ko-KR" altLang="en-US" sz="900" dirty="0">
                <a:solidFill>
                  <a:srgbClr val="1A233A"/>
                </a:solidFill>
              </a:rPr>
              <a:t>엔터프라이즈</a:t>
            </a:r>
            <a:r>
              <a:rPr lang="en-US" altLang="ko-KR" sz="900" dirty="0">
                <a:solidFill>
                  <a:srgbClr val="1A233A"/>
                </a:solidFill>
              </a:rPr>
              <a:t>·</a:t>
            </a:r>
            <a:r>
              <a:rPr lang="ko-KR" altLang="en-US" sz="900" dirty="0" err="1">
                <a:solidFill>
                  <a:srgbClr val="1A233A"/>
                </a:solidFill>
              </a:rPr>
              <a:t>온프레미스</a:t>
            </a:r>
            <a:endParaRPr lang="en-US" altLang="ko-KR" sz="900" dirty="0">
              <a:solidFill>
                <a:srgbClr val="1A233A"/>
              </a:solidFill>
            </a:endParaRPr>
          </a:p>
          <a:p>
            <a:pPr>
              <a:defRPr/>
            </a:pPr>
            <a:r>
              <a:rPr lang="ko-KR" altLang="en-US" sz="900" dirty="0">
                <a:solidFill>
                  <a:srgbClr val="1A233A"/>
                </a:solidFill>
              </a:rPr>
              <a:t>오프라인 환경 완벽 지원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51959" y="1097280"/>
            <a:ext cx="3749039" cy="384048"/>
          </a:xfrm>
          <a:prstGeom prst="rect">
            <a:avLst/>
          </a:prstGeom>
          <a:solidFill>
            <a:srgbClr val="0088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343399" y="1133856"/>
            <a:ext cx="3657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② WebSocket SDK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51959" y="1536192"/>
            <a:ext cx="3749039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325112" y="1581912"/>
            <a:ext cx="361187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1A233A"/>
                </a:solidFill>
              </a:rPr>
              <a:t>웹 브라우저 / 클라이언트
(ASP.NET / PHP / Python)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97879" y="221284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0088CC"/>
                </a:solidFill>
              </a:rPr>
              <a:t>▼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51959" y="2487168"/>
            <a:ext cx="3749039" cy="59436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325112" y="2532888"/>
            <a:ext cx="361187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1A233A"/>
                </a:solidFill>
              </a:rPr>
              <a:t>SBWebSocketHandler
IDeviceLoginManager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97879" y="3118104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0088CC"/>
                </a:solidFill>
              </a:rPr>
              <a:t>▼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251959" y="3401568"/>
            <a:ext cx="3749039" cy="64008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325112" y="3447288"/>
            <a:ext cx="361187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1A233A"/>
                </a:solidFill>
              </a:rPr>
              <a:t>WebSocket Server
(클라우드/원격)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97879" y="4078224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0088CC"/>
                </a:solidFill>
              </a:rPr>
              <a:t>▼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251959" y="4352544"/>
            <a:ext cx="3749039" cy="658368"/>
          </a:xfrm>
          <a:prstGeom prst="rect">
            <a:avLst/>
          </a:prstGeom>
          <a:solidFill>
            <a:srgbClr val="0088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>
                <a:solidFill>
                  <a:srgbClr val="FFFFFF"/>
                </a:solidFill>
              </a:rPr>
              <a:t>SmackBio</a:t>
            </a:r>
            <a:r>
              <a:rPr lang="ko-KR" altLang="en-US" sz="1400">
                <a:solidFill>
                  <a:srgbClr val="FFFFFF"/>
                </a:solidFill>
              </a:rPr>
              <a:t> 디바이스
</a:t>
            </a:r>
            <a:r>
              <a:rPr lang="en-US" altLang="ko-KR" sz="1400">
                <a:solidFill>
                  <a:srgbClr val="FFFFFF"/>
                </a:solidFill>
              </a:rPr>
              <a:t>(WebSocket </a:t>
            </a:r>
            <a:r>
              <a:rPr lang="ko-KR" altLang="en-US" sz="1400">
                <a:solidFill>
                  <a:srgbClr val="FFFFFF"/>
                </a:solidFill>
              </a:rPr>
              <a:t>클라이언트</a:t>
            </a:r>
            <a:r>
              <a:rPr lang="en-US" altLang="ko-KR" sz="1400">
                <a:solidFill>
                  <a:srgbClr val="FFFFFF"/>
                </a:solidFill>
              </a:rPr>
              <a:t>)</a:t>
            </a:r>
            <a:endParaRPr lang="en-US" altLang="ko-KR" sz="1400" dirty="0">
              <a:solidFill>
                <a:srgbClr val="FFFFFF"/>
              </a:solidFill>
            </a:endParaRPr>
          </a:p>
        </p:txBody>
      </p:sp>
      <p:sp>
        <p:nvSpPr>
          <p:cNvPr id="34" name="Rectangle 33"/>
          <p:cNvSpPr/>
          <p:nvPr/>
        </p:nvSpPr>
        <p:spPr>
          <a:xfrm>
            <a:off x="4251959" y="5120640"/>
            <a:ext cx="3749039" cy="658368"/>
          </a:xfrm>
          <a:prstGeom prst="rect">
            <a:avLst/>
          </a:prstGeom>
          <a:solidFill>
            <a:srgbClr val="EE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1" i="0" u="none" strike="noStrike" kern="1200" cap="none" spc="0" normalizeH="0" baseline="0" noProof="0" dirty="0">
                <a:ln>
                  <a:noFill/>
                </a:ln>
                <a:solidFill>
                  <a:srgbClr val="556575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적합한 용도</a:t>
            </a:r>
            <a:r>
              <a:rPr kumimoji="0" lang="en-US" altLang="ko-KR" sz="900" b="1" i="0" u="none" strike="noStrike" kern="1200" cap="none" spc="0" normalizeH="0" baseline="0" noProof="0" dirty="0">
                <a:ln>
                  <a:noFill/>
                </a:ln>
                <a:solidFill>
                  <a:srgbClr val="556575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:</a:t>
            </a:r>
          </a:p>
          <a:p>
            <a:pPr>
              <a:lnSpc>
                <a:spcPct val="150000"/>
              </a:lnSpc>
              <a:defRPr/>
            </a:pPr>
            <a:r>
              <a:rPr lang="ko-KR" altLang="en-US" sz="900" dirty="0">
                <a:solidFill>
                  <a:srgbClr val="1A233A"/>
                </a:solidFill>
              </a:rPr>
              <a:t>클라우드</a:t>
            </a:r>
            <a:r>
              <a:rPr lang="en-US" altLang="ko-KR" sz="900" dirty="0">
                <a:solidFill>
                  <a:srgbClr val="1A233A"/>
                </a:solidFill>
              </a:rPr>
              <a:t>·</a:t>
            </a:r>
            <a:r>
              <a:rPr lang="ko-KR" altLang="en-US" sz="900" dirty="0">
                <a:solidFill>
                  <a:srgbClr val="1A233A"/>
                </a:solidFill>
              </a:rPr>
              <a:t>원격 모니터링</a:t>
            </a:r>
            <a:endParaRPr lang="en-US" altLang="ko-KR" sz="900" dirty="0">
              <a:solidFill>
                <a:srgbClr val="1A233A"/>
              </a:solidFill>
            </a:endParaRPr>
          </a:p>
          <a:p>
            <a:pPr>
              <a:defRPr/>
            </a:pPr>
            <a:r>
              <a:rPr lang="ko-KR" altLang="en-US" sz="900" dirty="0">
                <a:solidFill>
                  <a:srgbClr val="1A233A"/>
                </a:solidFill>
              </a:rPr>
              <a:t>실시간 웹 </a:t>
            </a:r>
            <a:r>
              <a:rPr lang="en-US" altLang="ko-KR" sz="900" dirty="0">
                <a:solidFill>
                  <a:srgbClr val="1A233A"/>
                </a:solidFill>
              </a:rPr>
              <a:t>UI </a:t>
            </a:r>
            <a:r>
              <a:rPr lang="ko-KR" altLang="en-US" sz="900" dirty="0">
                <a:solidFill>
                  <a:srgbClr val="1A233A"/>
                </a:solidFill>
              </a:rPr>
              <a:t>지원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183879" y="1097280"/>
            <a:ext cx="3749039" cy="384048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8275319" y="1133856"/>
            <a:ext cx="3657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③ HTTP Push (A3-8190)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183879" y="1536192"/>
            <a:ext cx="3749039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8257031" y="1581912"/>
            <a:ext cx="361187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1A233A"/>
                </a:solidFill>
              </a:rPr>
              <a:t>PC HTTP 서버
(C# HttpListener / ASP.NET)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829800" y="221284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6B35"/>
                </a:solidFill>
              </a:rPr>
              <a:t>▼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183879" y="2487168"/>
            <a:ext cx="3749039" cy="59436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8257031" y="2532888"/>
            <a:ext cx="361187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1A233A"/>
                </a:solidFill>
              </a:rPr>
              <a:t>A3HttpListener
JSON REST API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829800" y="3118104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6B35"/>
                </a:solidFill>
              </a:rPr>
              <a:t>▼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183879" y="3401568"/>
            <a:ext cx="3749039" cy="64008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8257031" y="3447288"/>
            <a:ext cx="361187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1A233A"/>
                </a:solidFill>
              </a:rPr>
              <a:t>HTTP(S) 프로토콜
(디바이스 → 서버 Push)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829800" y="4078224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6B35"/>
                </a:solidFill>
              </a:rPr>
              <a:t>▼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183879" y="4352544"/>
            <a:ext cx="3749039" cy="658368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>
                <a:solidFill>
                  <a:srgbClr val="FFFFFF"/>
                </a:solidFill>
              </a:rPr>
              <a:t>BOWE A3-8190
(</a:t>
            </a:r>
            <a:r>
              <a:rPr lang="ko-KR" altLang="en-US" sz="1400">
                <a:solidFill>
                  <a:srgbClr val="FFFFFF"/>
                </a:solidFill>
              </a:rPr>
              <a:t>얼굴</a:t>
            </a:r>
            <a:r>
              <a:rPr lang="en-US" altLang="ko-KR" sz="1400">
                <a:solidFill>
                  <a:srgbClr val="FFFFFF"/>
                </a:solidFill>
              </a:rPr>
              <a:t>/</a:t>
            </a:r>
            <a:r>
              <a:rPr lang="ko-KR" altLang="en-US" sz="1400">
                <a:solidFill>
                  <a:srgbClr val="FFFFFF"/>
                </a:solidFill>
              </a:rPr>
              <a:t>지문</a:t>
            </a:r>
            <a:r>
              <a:rPr lang="en-US" altLang="ko-KR" sz="1400">
                <a:solidFill>
                  <a:srgbClr val="FFFFFF"/>
                </a:solidFill>
              </a:rPr>
              <a:t>/</a:t>
            </a:r>
            <a:r>
              <a:rPr lang="ko-KR" altLang="en-US" sz="1400">
                <a:solidFill>
                  <a:srgbClr val="FFFFFF"/>
                </a:solidFill>
              </a:rPr>
              <a:t>카드</a:t>
            </a:r>
            <a:r>
              <a:rPr lang="en-US" altLang="ko-KR" sz="1400">
                <a:solidFill>
                  <a:srgbClr val="FFFFFF"/>
                </a:solidFill>
              </a:rPr>
              <a:t>/QR)</a:t>
            </a:r>
            <a:endParaRPr lang="en-US" altLang="ko-KR" sz="1400" dirty="0">
              <a:solidFill>
                <a:srgbClr val="FFFFFF"/>
              </a:solidFill>
            </a:endParaRPr>
          </a:p>
        </p:txBody>
      </p:sp>
      <p:sp>
        <p:nvSpPr>
          <p:cNvPr id="50" name="Rectangle 49"/>
          <p:cNvSpPr/>
          <p:nvPr/>
        </p:nvSpPr>
        <p:spPr>
          <a:xfrm>
            <a:off x="8183879" y="5120640"/>
            <a:ext cx="3749039" cy="658368"/>
          </a:xfrm>
          <a:prstGeom prst="rect">
            <a:avLst/>
          </a:prstGeom>
          <a:solidFill>
            <a:srgbClr val="EE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1" i="0" u="none" strike="noStrike" kern="1200" cap="none" spc="0" normalizeH="0" baseline="0" noProof="0" dirty="0">
                <a:ln>
                  <a:noFill/>
                </a:ln>
                <a:solidFill>
                  <a:srgbClr val="55657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  <a:cs typeface="+mn-cs"/>
              </a:rPr>
              <a:t>적합한 용도</a:t>
            </a:r>
            <a:r>
              <a:rPr kumimoji="0" lang="en-US" altLang="ko-KR" sz="900" b="1" i="0" u="none" strike="noStrike" kern="1200" cap="none" spc="0" normalizeH="0" baseline="0" noProof="0" dirty="0">
                <a:ln>
                  <a:noFill/>
                </a:ln>
                <a:solidFill>
                  <a:srgbClr val="55657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  <a:cs typeface="+mn-cs"/>
              </a:rPr>
              <a:t>:</a:t>
            </a:r>
          </a:p>
          <a:p>
            <a:pPr lvl="0">
              <a:lnSpc>
                <a:spcPct val="150000"/>
              </a:lnSpc>
              <a:defRPr/>
            </a:pPr>
            <a:r>
              <a:rPr lang="en-US" altLang="ko-KR" sz="900" dirty="0">
                <a:solidFill>
                  <a:srgbClr val="1A233A"/>
                </a:solidFill>
              </a:rPr>
              <a:t>HTTP </a:t>
            </a:r>
            <a:r>
              <a:rPr lang="ko-KR" altLang="en-US" sz="900" dirty="0">
                <a:solidFill>
                  <a:srgbClr val="1A233A"/>
                </a:solidFill>
              </a:rPr>
              <a:t>기반 얼굴인식 단말</a:t>
            </a: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srgbClr val="1A233A"/>
              </a:solidFill>
              <a:effectLst/>
              <a:uLnTx/>
              <a:uFillTx/>
              <a:latin typeface="Calibri"/>
              <a:ea typeface="맑은 고딕" panose="020B0503020000020004" pitchFamily="50" charset="-127"/>
              <a:cs typeface="+mn-cs"/>
            </a:endParaRPr>
          </a:p>
          <a:p>
            <a:pPr lvl="0">
              <a:defRPr/>
            </a:pPr>
            <a:r>
              <a:rPr lang="en-US" altLang="ko-KR" sz="900" dirty="0">
                <a:solidFill>
                  <a:srgbClr val="1A233A"/>
                </a:solidFill>
              </a:rPr>
              <a:t>Keepalive + </a:t>
            </a:r>
            <a:r>
              <a:rPr lang="ko-KR" altLang="en-US" sz="900" dirty="0">
                <a:solidFill>
                  <a:srgbClr val="1A233A"/>
                </a:solidFill>
              </a:rPr>
              <a:t>인원관리 </a:t>
            </a:r>
            <a:r>
              <a:rPr lang="en-US" altLang="ko-KR" sz="900" dirty="0">
                <a:solidFill>
                  <a:srgbClr val="1A233A"/>
                </a:solidFill>
              </a:rPr>
              <a:t>+ </a:t>
            </a:r>
            <a:r>
              <a:rPr lang="ko-KR" altLang="en-US" sz="900" dirty="0">
                <a:solidFill>
                  <a:srgbClr val="1A233A"/>
                </a:solidFill>
              </a:rPr>
              <a:t>기록</a:t>
            </a:r>
            <a:endParaRPr kumimoji="0" lang="ko-KR" altLang="en-US" sz="900" b="0" i="0" u="none" strike="noStrike" kern="1200" cap="none" spc="0" normalizeH="0" baseline="0" noProof="0" dirty="0">
              <a:ln>
                <a:noFill/>
              </a:ln>
              <a:solidFill>
                <a:srgbClr val="1A233A"/>
              </a:solidFill>
              <a:effectLst/>
              <a:uLnTx/>
              <a:uFillTx/>
              <a:latin typeface="Calibri"/>
              <a:ea typeface="맑은 고딕" panose="020B0503020000020004" pitchFamily="50" charset="-127"/>
              <a:cs typeface="+mn-cs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365760" y="73152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08  A3-8190 HTTP 통신 구조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58368"/>
            <a:ext cx="43891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chemeClr val="bg1"/>
                </a:solidFill>
              </a:rPr>
              <a:t>Keepalive · 인원관리 · 출입기록 통신 흐름 (HTTP v6.0)</a:t>
            </a:r>
          </a:p>
        </p:txBody>
      </p:sp>
      <p:pic>
        <p:nvPicPr>
          <p:cNvPr id="140" name="그림 139">
            <a:extLst>
              <a:ext uri="{FF2B5EF4-FFF2-40B4-BE49-F238E27FC236}">
                <a16:creationId xmlns:a16="http://schemas.microsoft.com/office/drawing/2014/main" id="{5604418E-C82B-D6F4-EEB6-FABB1D9BB3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0171" y="1069846"/>
            <a:ext cx="5239385" cy="3114433"/>
          </a:xfrm>
          <a:prstGeom prst="rect">
            <a:avLst/>
          </a:prstGeom>
        </p:spPr>
      </p:pic>
      <p:pic>
        <p:nvPicPr>
          <p:cNvPr id="142" name="그림 141">
            <a:extLst>
              <a:ext uri="{FF2B5EF4-FFF2-40B4-BE49-F238E27FC236}">
                <a16:creationId xmlns:a16="http://schemas.microsoft.com/office/drawing/2014/main" id="{226A1AE9-77AC-6E30-F7DC-5EDF2976AC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846" y="1069846"/>
            <a:ext cx="6116347" cy="322348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F3C0A23-DEFD-EBEF-A77F-DC9511683F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594C583-B64F-1CE2-40CF-C9DB318B2E16}"/>
              </a:ext>
            </a:extLst>
          </p:cNvPr>
          <p:cNvSpPr txBox="1"/>
          <p:nvPr/>
        </p:nvSpPr>
        <p:spPr>
          <a:xfrm>
            <a:off x="365760" y="73152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08  A3-8190 HTTP 통신 구조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8F1242A-9974-30E5-C0D8-1720CA19F4E7}"/>
              </a:ext>
            </a:extLst>
          </p:cNvPr>
          <p:cNvSpPr txBox="1"/>
          <p:nvPr/>
        </p:nvSpPr>
        <p:spPr>
          <a:xfrm>
            <a:off x="365760" y="658368"/>
            <a:ext cx="43891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chemeClr val="bg1"/>
                </a:solidFill>
              </a:rPr>
              <a:t>Keepalive · 인원관리 · 출입기록 통신 흐름 (HTTP v6.0)</a:t>
            </a:r>
          </a:p>
        </p:txBody>
      </p:sp>
      <p:pic>
        <p:nvPicPr>
          <p:cNvPr id="144" name="그림 143">
            <a:extLst>
              <a:ext uri="{FF2B5EF4-FFF2-40B4-BE49-F238E27FC236}">
                <a16:creationId xmlns:a16="http://schemas.microsoft.com/office/drawing/2014/main" id="{037B61DD-1E26-15EB-9D5D-B29C097D5F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16891"/>
            <a:ext cx="3333750" cy="2305050"/>
          </a:xfrm>
          <a:prstGeom prst="rect">
            <a:avLst/>
          </a:prstGeom>
        </p:spPr>
      </p:pic>
      <p:pic>
        <p:nvPicPr>
          <p:cNvPr id="146" name="그림 145">
            <a:extLst>
              <a:ext uri="{FF2B5EF4-FFF2-40B4-BE49-F238E27FC236}">
                <a16:creationId xmlns:a16="http://schemas.microsoft.com/office/drawing/2014/main" id="{234F9D51-E979-5547-7C8E-8527826BC8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30141" y="1278376"/>
            <a:ext cx="5027630" cy="2609531"/>
          </a:xfrm>
          <a:prstGeom prst="rect">
            <a:avLst/>
          </a:prstGeom>
        </p:spPr>
      </p:pic>
      <p:sp>
        <p:nvSpPr>
          <p:cNvPr id="148" name="TextBox 147">
            <a:extLst>
              <a:ext uri="{FF2B5EF4-FFF2-40B4-BE49-F238E27FC236}">
                <a16:creationId xmlns:a16="http://schemas.microsoft.com/office/drawing/2014/main" id="{8F6C0338-3D70-B48D-8F07-7B9072D33DDC}"/>
              </a:ext>
            </a:extLst>
          </p:cNvPr>
          <p:cNvSpPr txBox="1"/>
          <p:nvPr/>
        </p:nvSpPr>
        <p:spPr>
          <a:xfrm>
            <a:off x="4203065" y="3672463"/>
            <a:ext cx="3963035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800" b="1" i="0" dirty="0">
                <a:solidFill>
                  <a:srgbClr val="59636E"/>
                </a:solidFill>
                <a:effectLst/>
                <a:latin typeface="Mona Sans VF"/>
              </a:rPr>
              <a:t>우선순위</a:t>
            </a:r>
            <a:r>
              <a:rPr lang="en-US" altLang="ko-KR" sz="800" b="0" i="0" dirty="0">
                <a:solidFill>
                  <a:srgbClr val="59636E"/>
                </a:solidFill>
                <a:effectLst/>
                <a:latin typeface="Mona Sans VF"/>
              </a:rPr>
              <a:t>: </a:t>
            </a:r>
            <a:r>
              <a:rPr lang="en-US" altLang="ko-KR" sz="800" b="0" i="0" dirty="0" err="1">
                <a:solidFill>
                  <a:srgbClr val="59636E"/>
                </a:solidFill>
                <a:effectLst/>
                <a:latin typeface="Monaspace Neon"/>
              </a:rPr>
              <a:t>UploadWorkParameter</a:t>
            </a:r>
            <a:r>
              <a:rPr lang="en-US" altLang="ko-KR" sz="800" b="0" i="0" dirty="0">
                <a:solidFill>
                  <a:srgbClr val="59636E"/>
                </a:solidFill>
                <a:effectLst/>
                <a:latin typeface="Monaspace Neon"/>
              </a:rPr>
              <a:t> &gt; Remote &gt; </a:t>
            </a:r>
            <a:r>
              <a:rPr lang="en-US" altLang="ko-KR" sz="800" b="0" i="0" dirty="0" err="1">
                <a:solidFill>
                  <a:srgbClr val="59636E"/>
                </a:solidFill>
                <a:effectLst/>
                <a:latin typeface="Monaspace Neon"/>
              </a:rPr>
              <a:t>SyncParameter</a:t>
            </a:r>
            <a:r>
              <a:rPr lang="en-US" altLang="ko-KR" sz="800" b="0" i="0" dirty="0">
                <a:solidFill>
                  <a:srgbClr val="59636E"/>
                </a:solidFill>
                <a:effectLst/>
                <a:latin typeface="Monaspace Neon"/>
              </a:rPr>
              <a:t> &gt; </a:t>
            </a:r>
            <a:r>
              <a:rPr lang="en-US" altLang="ko-KR" sz="800" b="0" i="0" dirty="0" err="1">
                <a:solidFill>
                  <a:srgbClr val="59636E"/>
                </a:solidFill>
                <a:effectLst/>
                <a:latin typeface="Monaspace Neon"/>
              </a:rPr>
              <a:t>DeletePeople</a:t>
            </a:r>
            <a:r>
              <a:rPr lang="en-US" altLang="ko-KR" sz="800" b="0" i="0" dirty="0">
                <a:solidFill>
                  <a:srgbClr val="59636E"/>
                </a:solidFill>
                <a:effectLst/>
                <a:latin typeface="Monaspace Neon"/>
              </a:rPr>
              <a:t> &gt; </a:t>
            </a:r>
            <a:r>
              <a:rPr lang="en-US" altLang="ko-KR" sz="800" b="0" i="0" dirty="0" err="1">
                <a:solidFill>
                  <a:srgbClr val="59636E"/>
                </a:solidFill>
                <a:effectLst/>
                <a:latin typeface="Monaspace Neon"/>
              </a:rPr>
              <a:t>AddPeople</a:t>
            </a:r>
            <a:endParaRPr lang="ko-KR" altLang="en-US" sz="800" dirty="0"/>
          </a:p>
        </p:txBody>
      </p:sp>
      <p:pic>
        <p:nvPicPr>
          <p:cNvPr id="150" name="그림 149">
            <a:extLst>
              <a:ext uri="{FF2B5EF4-FFF2-40B4-BE49-F238E27FC236}">
                <a16:creationId xmlns:a16="http://schemas.microsoft.com/office/drawing/2014/main" id="{65433BA1-25DD-EBFA-DA97-71BAE4033E6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4354168"/>
            <a:ext cx="3837305" cy="2086302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000E2383-103F-36A1-FC5A-110701EF060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68495" y="4354168"/>
            <a:ext cx="4048487" cy="23963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415024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365760" y="73152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09  A3-8190 Visual Studio 예제 구성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58368"/>
            <a:ext cx="9144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chemeClr val="bg1"/>
                </a:solidFill>
              </a:rPr>
              <a:t>C# WinForms · HttpListener · .NET Framework 4.8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5029200" cy="5166360"/>
          </a:xfrm>
          <a:prstGeom prst="rect">
            <a:avLst/>
          </a:prstGeom>
          <a:solidFill>
            <a:srgbClr val="FFFFFF"/>
          </a:solidFill>
          <a:ln w="6350">
            <a:solidFill>
              <a:srgbClr val="1A23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1143000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33A"/>
                </a:solidFill>
              </a:rPr>
              <a:t>📁 프로젝트 구조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554480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FF6B35"/>
                </a:solidFill>
              </a:rPr>
              <a:t>Sample_A3-8190/</a:t>
            </a:r>
          </a:p>
          <a:p>
            <a:pPr algn="l"/>
            <a:r>
              <a:rPr sz="950" b="1">
                <a:solidFill>
                  <a:srgbClr val="1A233A"/>
                </a:solidFill>
              </a:rPr>
              <a:t>  └─ C#_A3-8190_HTTPServer/</a:t>
            </a:r>
          </a:p>
          <a:p>
            <a:pPr algn="l"/>
            <a:r>
              <a:rPr sz="950" b="0">
                <a:solidFill>
                  <a:srgbClr val="556575"/>
                </a:solidFill>
              </a:rPr>
              <a:t>       ├─ A3-8190_HTTPServer.sln</a:t>
            </a:r>
          </a:p>
          <a:p>
            <a:pPr algn="l"/>
            <a:r>
              <a:rPr sz="950" b="0">
                <a:solidFill>
                  <a:srgbClr val="1A233A"/>
                </a:solidFill>
              </a:rPr>
              <a:t>       └─ A3-8190_HTTPServer/</a:t>
            </a:r>
          </a:p>
          <a:p>
            <a:pPr algn="l"/>
            <a:r>
              <a:rPr sz="950" b="0">
                <a:solidFill>
                  <a:srgbClr val="CC3333"/>
                </a:solidFill>
              </a:rPr>
              <a:t>            ├─ app.manifest  ← 관리자권한</a:t>
            </a:r>
          </a:p>
          <a:p>
            <a:pPr algn="l"/>
            <a:r>
              <a:rPr sz="950" b="0">
                <a:solidFill>
                  <a:srgbClr val="556575"/>
                </a:solidFill>
              </a:rPr>
              <a:t>            ├─ Program.cs</a:t>
            </a:r>
          </a:p>
          <a:p>
            <a:pPr algn="l"/>
            <a:r>
              <a:rPr sz="950" b="0">
                <a:solidFill>
                  <a:srgbClr val="0088CC"/>
                </a:solidFill>
              </a:rPr>
              <a:t>            ├─ frmMain.cs/.Designer   메인폼</a:t>
            </a:r>
          </a:p>
          <a:p>
            <a:pPr algn="l"/>
            <a:r>
              <a:rPr sz="950" b="0">
                <a:solidFill>
                  <a:srgbClr val="2E8648"/>
                </a:solidFill>
              </a:rPr>
              <a:t>            ├─ frmPersonnel.cs        인원관리</a:t>
            </a:r>
          </a:p>
          <a:p>
            <a:pPr algn="l"/>
            <a:r>
              <a:rPr sz="950" b="0">
                <a:solidFill>
                  <a:srgbClr val="2E8648"/>
                </a:solidFill>
              </a:rPr>
              <a:t>            ├─ frmRecords.cs          출입기록</a:t>
            </a:r>
          </a:p>
          <a:p>
            <a:pPr algn="l"/>
            <a:r>
              <a:rPr sz="950" b="0">
                <a:solidFill>
                  <a:srgbClr val="556575"/>
                </a:solidFill>
              </a:rPr>
              <a:t>            ├─ Models/Models.cs       데이터모델</a:t>
            </a:r>
          </a:p>
          <a:p>
            <a:pPr algn="l"/>
            <a:r>
              <a:rPr sz="950" b="0">
                <a:solidFill>
                  <a:srgbClr val="1A233A"/>
                </a:solidFill>
              </a:rPr>
              <a:t>            └─ HttpServer/</a:t>
            </a:r>
          </a:p>
          <a:p>
            <a:pPr algn="l"/>
            <a:r>
              <a:rPr sz="950" b="0">
                <a:solidFill>
                  <a:srgbClr val="FF6B35"/>
                </a:solidFill>
              </a:rPr>
              <a:t>                 └─ A3HttpListener.cs  핵심로직</a:t>
            </a:r>
          </a:p>
        </p:txBody>
      </p:sp>
      <p:sp>
        <p:nvSpPr>
          <p:cNvPr id="8" name="Rectangle 7"/>
          <p:cNvSpPr/>
          <p:nvPr/>
        </p:nvSpPr>
        <p:spPr>
          <a:xfrm>
            <a:off x="5577840" y="1097280"/>
            <a:ext cx="6309360" cy="2478024"/>
          </a:xfrm>
          <a:prstGeom prst="rect">
            <a:avLst/>
          </a:prstGeom>
          <a:solidFill>
            <a:srgbClr val="FFFFFF"/>
          </a:solidFill>
          <a:ln w="6350">
            <a:solidFill>
              <a:srgbClr val="008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715000" y="1143000"/>
            <a:ext cx="5943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88CC"/>
                </a:solidFill>
              </a:rPr>
              <a:t>🔧 핵심 클래스: A3HttpListener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15000" y="1554480"/>
            <a:ext cx="5943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233A"/>
                </a:solidFill>
              </a:rPr>
              <a:t>• HttpListener 기반 자체 HTTP 서버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15000" y="1847088"/>
            <a:ext cx="5943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 dirty="0">
                <a:solidFill>
                  <a:srgbClr val="1A233A"/>
                </a:solidFill>
              </a:rPr>
              <a:t>• </a:t>
            </a:r>
            <a:r>
              <a:rPr sz="950" b="0" i="0" dirty="0" err="1">
                <a:solidFill>
                  <a:srgbClr val="1A233A"/>
                </a:solidFill>
              </a:rPr>
              <a:t>멀티스레드</a:t>
            </a:r>
            <a:r>
              <a:rPr sz="950" b="0" i="0" dirty="0">
                <a:solidFill>
                  <a:srgbClr val="1A233A"/>
                </a:solidFill>
              </a:rPr>
              <a:t>: </a:t>
            </a:r>
            <a:r>
              <a:rPr sz="950" b="0" i="0" dirty="0" err="1">
                <a:solidFill>
                  <a:srgbClr val="1A233A"/>
                </a:solidFill>
              </a:rPr>
              <a:t>ThreadPool.QueueUserWorkItem</a:t>
            </a:r>
            <a:endParaRPr sz="950" b="0" i="0" dirty="0">
              <a:solidFill>
                <a:srgbClr val="1A233A"/>
              </a:solidFill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715000" y="2139696"/>
            <a:ext cx="5943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 dirty="0">
                <a:solidFill>
                  <a:srgbClr val="1A233A"/>
                </a:solidFill>
              </a:rPr>
              <a:t>• Keepalive </a:t>
            </a:r>
            <a:r>
              <a:rPr sz="950" b="0" i="0" dirty="0" err="1">
                <a:solidFill>
                  <a:srgbClr val="1A233A"/>
                </a:solidFill>
              </a:rPr>
              <a:t>응답에</a:t>
            </a:r>
            <a:r>
              <a:rPr sz="950" b="0" i="0" dirty="0">
                <a:solidFill>
                  <a:srgbClr val="1A233A"/>
                </a:solidFill>
              </a:rPr>
              <a:t> </a:t>
            </a:r>
            <a:r>
              <a:rPr sz="950" b="0" i="0" dirty="0" err="1">
                <a:solidFill>
                  <a:srgbClr val="1A233A"/>
                </a:solidFill>
              </a:rPr>
              <a:t>AddPeople</a:t>
            </a:r>
            <a:r>
              <a:rPr sz="950" b="0" i="0" dirty="0">
                <a:solidFill>
                  <a:srgbClr val="1A233A"/>
                </a:solidFill>
              </a:rPr>
              <a:t>/Remote </a:t>
            </a:r>
            <a:r>
              <a:rPr sz="950" b="0" i="0" dirty="0" err="1">
                <a:solidFill>
                  <a:srgbClr val="1A233A"/>
                </a:solidFill>
              </a:rPr>
              <a:t>플래그</a:t>
            </a:r>
            <a:r>
              <a:rPr sz="950" b="0" i="0" dirty="0">
                <a:solidFill>
                  <a:srgbClr val="1A233A"/>
                </a:solidFill>
              </a:rPr>
              <a:t> </a:t>
            </a:r>
            <a:r>
              <a:rPr sz="950" b="0" i="0" dirty="0" err="1">
                <a:solidFill>
                  <a:srgbClr val="1A233A"/>
                </a:solidFill>
              </a:rPr>
              <a:t>설정</a:t>
            </a:r>
            <a:endParaRPr sz="950" b="0" i="0" dirty="0">
              <a:solidFill>
                <a:srgbClr val="1A233A"/>
              </a:solidFill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5715000" y="2432304"/>
            <a:ext cx="5943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233A"/>
                </a:solidFill>
              </a:rPr>
              <a:t>• JavaScriptSerializer (System.Web.Extensions)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15000" y="2724912"/>
            <a:ext cx="5943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233A"/>
                </a:solidFill>
              </a:rPr>
              <a:t>• PersonnelList / DeleteList / Records 공유 상태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15000" y="3017520"/>
            <a:ext cx="5943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233A"/>
                </a:solidFill>
              </a:rPr>
              <a:t>• 이벤트: OnLog / OnKeepalive / OnRecord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15000" y="3310128"/>
            <a:ext cx="5943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 dirty="0">
                <a:solidFill>
                  <a:srgbClr val="1A233A"/>
                </a:solidFill>
              </a:rPr>
              <a:t>• </a:t>
            </a:r>
            <a:r>
              <a:rPr sz="950" b="0" i="0" dirty="0" err="1">
                <a:solidFill>
                  <a:srgbClr val="1A233A"/>
                </a:solidFill>
              </a:rPr>
              <a:t>QueueAddPeople</a:t>
            </a:r>
            <a:r>
              <a:rPr sz="950" b="0" i="0" dirty="0">
                <a:solidFill>
                  <a:srgbClr val="1A233A"/>
                </a:solidFill>
              </a:rPr>
              <a:t>() / </a:t>
            </a:r>
            <a:r>
              <a:rPr sz="950" b="0" i="0" dirty="0" err="1">
                <a:solidFill>
                  <a:srgbClr val="1A233A"/>
                </a:solidFill>
              </a:rPr>
              <a:t>QueueRemoteCommand</a:t>
            </a:r>
            <a:r>
              <a:rPr sz="950" b="0" i="0" dirty="0">
                <a:solidFill>
                  <a:srgbClr val="1A233A"/>
                </a:solidFill>
              </a:rPr>
              <a:t>() </a:t>
            </a:r>
            <a:r>
              <a:rPr sz="950" b="0" i="0" dirty="0" err="1">
                <a:solidFill>
                  <a:srgbClr val="1A233A"/>
                </a:solidFill>
              </a:rPr>
              <a:t>메서드</a:t>
            </a:r>
            <a:endParaRPr sz="950" b="0" i="0" dirty="0">
              <a:solidFill>
                <a:srgbClr val="1A233A"/>
              </a:solidFill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5715000" y="3689826"/>
            <a:ext cx="5943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233A"/>
                </a:solidFill>
              </a:rPr>
              <a:t>• multipart/form-data 파서 내장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577840" y="3634962"/>
            <a:ext cx="6309360" cy="1188720"/>
          </a:xfrm>
          <a:prstGeom prst="rect">
            <a:avLst/>
          </a:prstGeom>
          <a:solidFill>
            <a:srgbClr val="FFFFFF"/>
          </a:solidFill>
          <a:ln w="6350">
            <a:solidFill>
              <a:srgbClr val="2E86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715000" y="3680682"/>
            <a:ext cx="5943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8648"/>
                </a:solidFill>
              </a:rPr>
              <a:t>🖥️ frmMain — 메인 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15000" y="4046442"/>
            <a:ext cx="2880360" cy="238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56575"/>
                </a:solidFill>
              </a:rPr>
              <a:t>• 포트 설정 + 서버 시작/중지 버튼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15000" y="4320762"/>
            <a:ext cx="2880360" cy="238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 dirty="0">
                <a:solidFill>
                  <a:srgbClr val="556575"/>
                </a:solidFill>
              </a:rPr>
              <a:t>• </a:t>
            </a:r>
            <a:r>
              <a:rPr sz="950" b="0" i="0" dirty="0" err="1">
                <a:solidFill>
                  <a:srgbClr val="556575"/>
                </a:solidFill>
              </a:rPr>
              <a:t>연결된</a:t>
            </a:r>
            <a:r>
              <a:rPr sz="950" b="0" i="0" dirty="0">
                <a:solidFill>
                  <a:srgbClr val="556575"/>
                </a:solidFill>
              </a:rPr>
              <a:t> </a:t>
            </a:r>
            <a:r>
              <a:rPr sz="950" b="0" i="0" dirty="0" err="1">
                <a:solidFill>
                  <a:srgbClr val="556575"/>
                </a:solidFill>
              </a:rPr>
              <a:t>디바이스</a:t>
            </a:r>
            <a:r>
              <a:rPr sz="950" b="0" i="0" dirty="0">
                <a:solidFill>
                  <a:srgbClr val="556575"/>
                </a:solidFill>
              </a:rPr>
              <a:t> </a:t>
            </a:r>
            <a:r>
              <a:rPr sz="950" b="0" i="0" dirty="0" err="1">
                <a:solidFill>
                  <a:srgbClr val="556575"/>
                </a:solidFill>
              </a:rPr>
              <a:t>ListView</a:t>
            </a:r>
            <a:r>
              <a:rPr sz="950" b="0" i="0" dirty="0">
                <a:solidFill>
                  <a:srgbClr val="556575"/>
                </a:solidFill>
              </a:rPr>
              <a:t> (SN, </a:t>
            </a:r>
            <a:r>
              <a:rPr sz="950" b="0" i="0" dirty="0" err="1">
                <a:solidFill>
                  <a:srgbClr val="556575"/>
                </a:solidFill>
              </a:rPr>
              <a:t>릴레이</a:t>
            </a:r>
            <a:r>
              <a:rPr sz="950" b="0" i="0" dirty="0">
                <a:solidFill>
                  <a:srgbClr val="556575"/>
                </a:solidFill>
              </a:rPr>
              <a:t>, </a:t>
            </a:r>
            <a:r>
              <a:rPr sz="950" b="0" i="0" dirty="0" err="1">
                <a:solidFill>
                  <a:srgbClr val="556575"/>
                </a:solidFill>
              </a:rPr>
              <a:t>도어</a:t>
            </a:r>
            <a:r>
              <a:rPr sz="950" b="0" i="0" dirty="0">
                <a:solidFill>
                  <a:srgbClr val="556575"/>
                </a:solidFill>
              </a:rPr>
              <a:t>, </a:t>
            </a:r>
            <a:r>
              <a:rPr sz="950" b="0" i="0" dirty="0" err="1">
                <a:solidFill>
                  <a:srgbClr val="556575"/>
                </a:solidFill>
              </a:rPr>
              <a:t>알람</a:t>
            </a:r>
            <a:r>
              <a:rPr sz="950" b="0" i="0" dirty="0">
                <a:solidFill>
                  <a:srgbClr val="556575"/>
                </a:solidFill>
              </a:rPr>
              <a:t>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95360" y="4018619"/>
            <a:ext cx="3341914" cy="238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56575"/>
                </a:solidFill>
              </a:rPr>
              <a:t>• 원격 제어: 문열기/상시개방/문닫기/재시작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577840" y="4878154"/>
            <a:ext cx="3017520" cy="1367197"/>
          </a:xfrm>
          <a:prstGeom prst="rect">
            <a:avLst/>
          </a:prstGeom>
          <a:solidFill>
            <a:srgbClr val="FFFFFF"/>
          </a:solidFill>
          <a:ln w="6350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715000" y="4873752"/>
            <a:ext cx="2834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6B35"/>
                </a:solidFill>
              </a:rPr>
              <a:t>👤 frmPersonnel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715000" y="5266944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56575"/>
                </a:solidFill>
              </a:rPr>
              <a:t>• 인원 추가 / 삭제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715000" y="5541264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56575"/>
                </a:solidFill>
              </a:rPr>
              <a:t>• 디바이스로 전송 예약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715000" y="5815583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56575"/>
                </a:solidFill>
              </a:rPr>
              <a:t>• UserID/이름/부서/카드 입력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732520" y="4878154"/>
            <a:ext cx="3154680" cy="1367197"/>
          </a:xfrm>
          <a:prstGeom prst="rect">
            <a:avLst/>
          </a:prstGeom>
          <a:solidFill>
            <a:srgbClr val="FFFFFF"/>
          </a:solidFill>
          <a:ln w="6350">
            <a:solidFill>
              <a:srgbClr val="CC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869680" y="4873752"/>
            <a:ext cx="2926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C3333"/>
                </a:solidFill>
              </a:rPr>
              <a:t>📋 frmRecords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69680" y="5266944"/>
            <a:ext cx="2926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56575"/>
                </a:solidFill>
              </a:rPr>
              <a:t>• 실시간 출입 기록 표시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869680" y="5541264"/>
            <a:ext cx="2926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56575"/>
                </a:solidFill>
              </a:rPr>
              <a:t>• 입실/퇴실 색상 구분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69680" y="5815583"/>
            <a:ext cx="2926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56575"/>
                </a:solidFill>
              </a:rPr>
              <a:t>• CSV 내보내기 (UTF-8 BOM)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6364224"/>
            <a:ext cx="724988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 dirty="0"/>
              <a:t>🚀 </a:t>
            </a:r>
            <a:r>
              <a:rPr sz="1000" b="0" i="0" dirty="0" err="1"/>
              <a:t>빌드</a:t>
            </a:r>
            <a:r>
              <a:rPr sz="1000" b="0" i="0" dirty="0"/>
              <a:t>: </a:t>
            </a:r>
            <a:r>
              <a:rPr sz="1000" b="0" i="0" dirty="0" err="1"/>
              <a:t>VS에서</a:t>
            </a:r>
            <a:r>
              <a:rPr sz="1000" b="0" i="0" dirty="0"/>
              <a:t> .</a:t>
            </a:r>
            <a:r>
              <a:rPr sz="1000" b="0" i="0" dirty="0" err="1"/>
              <a:t>sln</a:t>
            </a:r>
            <a:r>
              <a:rPr sz="1000" b="0" i="0" dirty="0"/>
              <a:t> </a:t>
            </a:r>
            <a:r>
              <a:rPr sz="1000" b="0" i="0" dirty="0" err="1"/>
              <a:t>열기</a:t>
            </a:r>
            <a:r>
              <a:rPr sz="1000" b="0" i="0" dirty="0"/>
              <a:t> → </a:t>
            </a:r>
            <a:r>
              <a:rPr sz="1000" b="0" i="0" dirty="0" err="1"/>
              <a:t>Ctrl+Shift+B</a:t>
            </a:r>
            <a:r>
              <a:rPr sz="1000" b="0" i="0" dirty="0"/>
              <a:t>  |  </a:t>
            </a:r>
            <a:r>
              <a:rPr sz="1000" b="0" i="0" dirty="0" err="1"/>
              <a:t>실행</a:t>
            </a:r>
            <a:r>
              <a:rPr sz="1000" b="0" i="0" dirty="0"/>
              <a:t>: </a:t>
            </a:r>
            <a:r>
              <a:rPr sz="1000" b="0" i="0" dirty="0" err="1"/>
              <a:t>관리자</a:t>
            </a:r>
            <a:r>
              <a:rPr sz="1000" b="0" i="0" dirty="0"/>
              <a:t> </a:t>
            </a:r>
            <a:r>
              <a:rPr sz="1000" b="0" i="0" dirty="0" err="1"/>
              <a:t>권한</a:t>
            </a:r>
            <a:r>
              <a:rPr sz="1000" b="0" i="0" dirty="0"/>
              <a:t> </a:t>
            </a:r>
            <a:r>
              <a:rPr sz="1000" b="0" i="0" dirty="0" err="1"/>
              <a:t>필요</a:t>
            </a:r>
            <a:r>
              <a:rPr sz="1000" b="0" i="0" dirty="0"/>
              <a:t> (</a:t>
            </a:r>
            <a:r>
              <a:rPr sz="1000" b="0" i="0" dirty="0" err="1"/>
              <a:t>app.manifest</a:t>
            </a:r>
            <a:r>
              <a:rPr sz="1000" b="0" i="0" dirty="0"/>
              <a:t> </a:t>
            </a:r>
            <a:r>
              <a:rPr sz="1000" b="0" i="0" dirty="0" err="1"/>
              <a:t>requestedExecutionLevel</a:t>
            </a:r>
            <a:r>
              <a:rPr sz="1000" b="0" i="0" dirty="0"/>
              <a:t>=</a:t>
            </a:r>
            <a:r>
              <a:rPr sz="1000" b="0" i="0" dirty="0" err="1"/>
              <a:t>requireAdministrator</a:t>
            </a:r>
            <a:r>
              <a:rPr sz="1000" b="0" i="0" dirty="0"/>
              <a:t>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95360" y="4292939"/>
            <a:ext cx="3341914" cy="238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 dirty="0">
                <a:solidFill>
                  <a:srgbClr val="556575"/>
                </a:solidFill>
              </a:rPr>
              <a:t>• </a:t>
            </a:r>
            <a:r>
              <a:rPr sz="950" b="0" i="0" dirty="0" err="1">
                <a:solidFill>
                  <a:srgbClr val="556575"/>
                </a:solidFill>
              </a:rPr>
              <a:t>인원관리</a:t>
            </a:r>
            <a:r>
              <a:rPr sz="950" b="0" i="0" dirty="0">
                <a:solidFill>
                  <a:srgbClr val="556575"/>
                </a:solidFill>
              </a:rPr>
              <a:t>(</a:t>
            </a:r>
            <a:r>
              <a:rPr sz="950" b="0" i="0" dirty="0" err="1">
                <a:solidFill>
                  <a:srgbClr val="556575"/>
                </a:solidFill>
              </a:rPr>
              <a:t>frmPersonnel</a:t>
            </a:r>
            <a:r>
              <a:rPr sz="950" b="0" i="0" dirty="0">
                <a:solidFill>
                  <a:srgbClr val="556575"/>
                </a:solidFill>
              </a:rPr>
              <a:t>) / </a:t>
            </a:r>
            <a:r>
              <a:rPr sz="950" b="0" i="0" dirty="0" err="1">
                <a:solidFill>
                  <a:srgbClr val="556575"/>
                </a:solidFill>
              </a:rPr>
              <a:t>출입기록</a:t>
            </a:r>
            <a:r>
              <a:rPr sz="950" b="0" i="0" dirty="0">
                <a:solidFill>
                  <a:srgbClr val="556575"/>
                </a:solidFill>
              </a:rPr>
              <a:t>(</a:t>
            </a:r>
            <a:r>
              <a:rPr sz="950" b="0" i="0" dirty="0" err="1">
                <a:solidFill>
                  <a:srgbClr val="556575"/>
                </a:solidFill>
              </a:rPr>
              <a:t>frmRecords</a:t>
            </a:r>
            <a:r>
              <a:rPr sz="950" b="0" i="0" dirty="0">
                <a:solidFill>
                  <a:srgbClr val="556575"/>
                </a:solidFill>
              </a:rPr>
              <a:t>) 창 </a:t>
            </a:r>
            <a:r>
              <a:rPr sz="950" b="0" i="0" dirty="0" err="1">
                <a:solidFill>
                  <a:srgbClr val="556575"/>
                </a:solidFill>
              </a:rPr>
              <a:t>열기</a:t>
            </a:r>
            <a:endParaRPr sz="950" b="0" i="0" dirty="0">
              <a:solidFill>
                <a:srgbClr val="556575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365760" y="73152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10-A  새 프로젝트 생성 절차  ①  Traditional SDK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58368"/>
            <a:ext cx="9144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chemeClr val="bg1"/>
                </a:solidFill>
              </a:rPr>
              <a:t>SBXPCDLL / SBXPC.ocx 를 사용하는 Windows 네이티브 애플리케이션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5669280" cy="2423160"/>
          </a:xfrm>
          <a:prstGeom prst="rect">
            <a:avLst/>
          </a:prstGeom>
          <a:solidFill>
            <a:srgbClr val="FFFFFF"/>
          </a:solidFill>
          <a:ln w="6350">
            <a:solidFill>
              <a:srgbClr val="1A23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1097280"/>
            <a:ext cx="914400" cy="2423160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11480" y="1188720"/>
            <a:ext cx="8412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Step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1887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33A"/>
                </a:solidFill>
              </a:rPr>
              <a:t>개발 환경 준비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600200"/>
            <a:ext cx="4572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56575"/>
                </a:solidFill>
              </a:rPr>
              <a:t>• Visual Studio (C# / VB.NET) 또는 선호 IDE 설치
• SDK bin/ 디렉토리에서 필요한 파일 복사
  x86: SBXPCDLL.dll, SBXPC.ocx, SBPCCOMM.dll, GEN_FONT.dll
  x64: SBXPCDLL64.dll, SBPCCOMM64.dll, GEN_FONT64.dll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1097280"/>
            <a:ext cx="5669280" cy="2423160"/>
          </a:xfrm>
          <a:prstGeom prst="rect">
            <a:avLst/>
          </a:prstGeom>
          <a:solidFill>
            <a:srgbClr val="FFFFFF"/>
          </a:solidFill>
          <a:ln w="6350">
            <a:solidFill>
              <a:srgbClr val="1A23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263640" y="1097280"/>
            <a:ext cx="914400" cy="2423160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309360" y="1188720"/>
            <a:ext cx="8412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Step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69480" y="11887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33A"/>
                </a:solidFill>
              </a:rPr>
              <a:t>프로젝트 생성 및 DLL 참조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69480" y="1600200"/>
            <a:ext cx="4572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56575"/>
                </a:solidFill>
              </a:rPr>
              <a:t>• 새 Windows Forms / Console 프로젝트 생성
• [DLL 방식] DllImport로 SBXPCDLL(_64).dll 참조
• [OCX 방식] 도구상자 → COM 컴포넌트 → SBXPC.ocx 등록
  regsvr32 SBXPC.ocx 명령으로 시스템 등록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3749039"/>
            <a:ext cx="5669280" cy="2423160"/>
          </a:xfrm>
          <a:prstGeom prst="rect">
            <a:avLst/>
          </a:prstGeom>
          <a:solidFill>
            <a:srgbClr val="FFFFFF"/>
          </a:solidFill>
          <a:ln w="6350">
            <a:solidFill>
              <a:srgbClr val="1A23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65760" y="3749039"/>
            <a:ext cx="914400" cy="2423160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11480" y="3840479"/>
            <a:ext cx="8412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Step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40479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33A"/>
                </a:solidFill>
              </a:rPr>
              <a:t>디바이스 타입 설정 및 연결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59"/>
            <a:ext cx="4572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56575"/>
                </a:solidFill>
              </a:rPr>
              <a:t>• _SetMachineType(num, "S300")  — 대상 모델 지정
• 직렬: _ConnectSerial(num, comPort, baudRate)
• TCP/IP: _ConnectTcpip(num, ipAddr, port, password)
• P2P: _ConnectP2p(num, cloudId, ...)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63640" y="3749039"/>
            <a:ext cx="5669280" cy="2423160"/>
          </a:xfrm>
          <a:prstGeom prst="rect">
            <a:avLst/>
          </a:prstGeom>
          <a:solidFill>
            <a:srgbClr val="FFFFFF"/>
          </a:solidFill>
          <a:ln w="6350">
            <a:solidFill>
              <a:srgbClr val="1A23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263640" y="3749039"/>
            <a:ext cx="914400" cy="2423160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309360" y="3840479"/>
            <a:ext cx="8412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Step 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69480" y="3840479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33A"/>
                </a:solidFill>
              </a:rPr>
              <a:t>이벤트 캡처 및 비즈니스 로직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69480" y="4251959"/>
            <a:ext cx="4572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56575"/>
                </a:solidFill>
              </a:rPr>
              <a:t>• _StartEventCapture(commType, p1, p2, callback, ctx)
• 콜백에서 XML 파싱 → _XML_ParseString() 활용
• 등록: _GetEnrollData() / _SetEnrollData()
• 로그: _ReadGeneralLogData() → _GetGeneralLogData()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365760" y="73152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10-B  새 프로젝트 생성 절차  ②  WebSocket SDK (C#/.NET)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58368"/>
            <a:ext cx="9144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chemeClr val="bg1"/>
                </a:solidFill>
              </a:rPr>
              <a:t>SmackBio.WebSocketSDK 라이브러리 기반 ASP.NET 웹 서버 구축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5669280" cy="2423160"/>
          </a:xfrm>
          <a:prstGeom prst="rect">
            <a:avLst/>
          </a:prstGeom>
          <a:solidFill>
            <a:srgbClr val="FFFFFF"/>
          </a:solidFill>
          <a:ln w="6350">
            <a:solidFill>
              <a:srgbClr val="008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1097280"/>
            <a:ext cx="914400" cy="2423160"/>
          </a:xfrm>
          <a:prstGeom prst="rect">
            <a:avLst/>
          </a:prstGeom>
          <a:solidFill>
            <a:srgbClr val="0088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11480" y="1188720"/>
            <a:ext cx="8412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Step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1887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33A"/>
                </a:solidFill>
              </a:rPr>
              <a:t>솔루션 설정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600200"/>
            <a:ext cx="4572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 dirty="0">
                <a:solidFill>
                  <a:srgbClr val="556575"/>
                </a:solidFill>
              </a:rPr>
              <a:t>• </a:t>
            </a:r>
            <a:r>
              <a:rPr sz="950" b="0" i="0" dirty="0" err="1">
                <a:solidFill>
                  <a:srgbClr val="556575"/>
                </a:solidFill>
              </a:rPr>
              <a:t>ASP.NET</a:t>
            </a:r>
            <a:r>
              <a:rPr sz="950" b="0" i="0" dirty="0">
                <a:solidFill>
                  <a:srgbClr val="556575"/>
                </a:solidFill>
              </a:rPr>
              <a:t> Web Application </a:t>
            </a:r>
            <a:r>
              <a:rPr sz="950" b="0" i="0" dirty="0" err="1">
                <a:solidFill>
                  <a:srgbClr val="556575"/>
                </a:solidFill>
              </a:rPr>
              <a:t>프로젝트</a:t>
            </a:r>
            <a:r>
              <a:rPr sz="950" b="0" i="0" dirty="0">
                <a:solidFill>
                  <a:srgbClr val="556575"/>
                </a:solidFill>
              </a:rPr>
              <a:t> </a:t>
            </a:r>
            <a:r>
              <a:rPr sz="950" b="0" i="0" dirty="0" err="1">
                <a:solidFill>
                  <a:srgbClr val="556575"/>
                </a:solidFill>
              </a:rPr>
              <a:t>생성</a:t>
            </a:r>
            <a:r>
              <a:rPr sz="950" b="0" i="0" dirty="0">
                <a:solidFill>
                  <a:srgbClr val="556575"/>
                </a:solidFill>
              </a:rPr>
              <a:t>
• </a:t>
            </a:r>
            <a:r>
              <a:rPr sz="950" b="0" i="0" dirty="0" err="1">
                <a:solidFill>
                  <a:srgbClr val="556575"/>
                </a:solidFill>
              </a:rPr>
              <a:t>SmackBio.WebSocketSDK.csproj</a:t>
            </a:r>
            <a:r>
              <a:rPr sz="950" b="0" i="0" dirty="0">
                <a:solidFill>
                  <a:srgbClr val="556575"/>
                </a:solidFill>
              </a:rPr>
              <a:t> </a:t>
            </a:r>
            <a:r>
              <a:rPr sz="950" b="0" i="0" dirty="0" err="1">
                <a:solidFill>
                  <a:srgbClr val="556575"/>
                </a:solidFill>
              </a:rPr>
              <a:t>솔루션에</a:t>
            </a:r>
            <a:r>
              <a:rPr sz="950" b="0" i="0" dirty="0">
                <a:solidFill>
                  <a:srgbClr val="556575"/>
                </a:solidFill>
              </a:rPr>
              <a:t> </a:t>
            </a:r>
            <a:r>
              <a:rPr sz="950" b="0" i="0" dirty="0" err="1">
                <a:solidFill>
                  <a:srgbClr val="556575"/>
                </a:solidFill>
              </a:rPr>
              <a:t>추가</a:t>
            </a:r>
            <a:r>
              <a:rPr sz="950" b="0" i="0" dirty="0">
                <a:solidFill>
                  <a:srgbClr val="556575"/>
                </a:solidFill>
              </a:rPr>
              <a:t>
• </a:t>
            </a:r>
            <a:r>
              <a:rPr sz="950" b="0" i="0" dirty="0" err="1">
                <a:solidFill>
                  <a:srgbClr val="556575"/>
                </a:solidFill>
              </a:rPr>
              <a:t>Microsoft.Web.WebSockets</a:t>
            </a:r>
            <a:r>
              <a:rPr sz="950" b="0" i="0" dirty="0">
                <a:solidFill>
                  <a:srgbClr val="556575"/>
                </a:solidFill>
              </a:rPr>
              <a:t> NuGet </a:t>
            </a:r>
            <a:r>
              <a:rPr sz="950" b="0" i="0" dirty="0" err="1">
                <a:solidFill>
                  <a:srgbClr val="556575"/>
                </a:solidFill>
              </a:rPr>
              <a:t>패키지</a:t>
            </a:r>
            <a:r>
              <a:rPr sz="950" b="0" i="0" dirty="0">
                <a:solidFill>
                  <a:srgbClr val="556575"/>
                </a:solidFill>
              </a:rPr>
              <a:t> </a:t>
            </a:r>
            <a:r>
              <a:rPr sz="950" b="0" i="0" dirty="0" err="1">
                <a:solidFill>
                  <a:srgbClr val="556575"/>
                </a:solidFill>
              </a:rPr>
              <a:t>설치</a:t>
            </a:r>
            <a:endParaRPr sz="950" b="0" i="0" dirty="0">
              <a:solidFill>
                <a:srgbClr val="556575"/>
              </a:solidFill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6263640" y="1097280"/>
            <a:ext cx="5669280" cy="2423160"/>
          </a:xfrm>
          <a:prstGeom prst="rect">
            <a:avLst/>
          </a:prstGeom>
          <a:solidFill>
            <a:srgbClr val="FFFFFF"/>
          </a:solidFill>
          <a:ln w="6350">
            <a:solidFill>
              <a:srgbClr val="008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263640" y="1097280"/>
            <a:ext cx="914400" cy="2423160"/>
          </a:xfrm>
          <a:prstGeom prst="rect">
            <a:avLst/>
          </a:prstGeom>
          <a:solidFill>
            <a:srgbClr val="0088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309360" y="1188720"/>
            <a:ext cx="8412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Step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69480" y="11887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33A"/>
                </a:solidFill>
              </a:rPr>
              <a:t>IDeviceLoginManager 구현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69480" y="1600200"/>
            <a:ext cx="4572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56575"/>
                </a:solidFill>
              </a:rPr>
              <a:t>• GetRegisterInfo(terminalType, serialNo) → 토큰 반환
• Verify(serialNo, token) → bool 반환
• OnDeviceEvent(xml) → 출입·관리자 로그 처리
• Web.config에 deviceLoginManager 등록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3749039"/>
            <a:ext cx="5669280" cy="2423160"/>
          </a:xfrm>
          <a:prstGeom prst="rect">
            <a:avLst/>
          </a:prstGeom>
          <a:solidFill>
            <a:srgbClr val="FFFFFF"/>
          </a:solidFill>
          <a:ln w="6350">
            <a:solidFill>
              <a:srgbClr val="008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65760" y="3749039"/>
            <a:ext cx="914400" cy="2423160"/>
          </a:xfrm>
          <a:prstGeom prst="rect">
            <a:avLst/>
          </a:prstGeom>
          <a:solidFill>
            <a:srgbClr val="0088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11480" y="3840479"/>
            <a:ext cx="8412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Step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40479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33A"/>
                </a:solidFill>
              </a:rPr>
              <a:t>WebSocket 엔드포인트 등록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59"/>
            <a:ext cx="4572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56575"/>
                </a:solidFill>
              </a:rPr>
              <a:t>• GenericHandler.ashx 또는 Global.asax에서 경로 매핑
• SessionRegistry로 연결된 디바이스 목록 관리
• check_cloud_id / valid_cloud_id 설정
• Web.config — connectionStrings DB 연결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63640" y="3749039"/>
            <a:ext cx="5669280" cy="2423160"/>
          </a:xfrm>
          <a:prstGeom prst="rect">
            <a:avLst/>
          </a:prstGeom>
          <a:solidFill>
            <a:srgbClr val="FFFFFF"/>
          </a:solidFill>
          <a:ln w="6350">
            <a:solidFill>
              <a:srgbClr val="008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263640" y="3749039"/>
            <a:ext cx="914400" cy="2423160"/>
          </a:xfrm>
          <a:prstGeom prst="rect">
            <a:avLst/>
          </a:prstGeom>
          <a:solidFill>
            <a:srgbClr val="0088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309360" y="3840479"/>
            <a:ext cx="8412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Step 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69480" y="3840479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33A"/>
                </a:solidFill>
              </a:rPr>
              <a:t>UI 페이지 개발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69480" y="4251959"/>
            <a:ext cx="4572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56575"/>
                </a:solidFill>
              </a:rPr>
              <a:t>• ViewOnlineDevices.aspx — 온라인 디바이스 목록
• ViewDeviceEvents.aspx — 실시간 이벤트 조회
• session.ExecuteCommand(page, xmlCmd, onResp)
• Cmd/ 폴더: CmdGetTime, CmdSetTime 등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365760" y="73152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10-C  새 프로젝트 생성 절차  ③  A3-8190 HTTP Server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58368"/>
            <a:ext cx="9144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chemeClr val="bg1"/>
                </a:solidFill>
              </a:rPr>
              <a:t>HttpListener 기반 C# WinForms HTTP 서버 — BOWE A3-8190 연동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5669280" cy="2423160"/>
          </a:xfrm>
          <a:prstGeom prst="rect">
            <a:avLst/>
          </a:prstGeom>
          <a:solidFill>
            <a:srgbClr val="FFFFFF"/>
          </a:solidFill>
          <a:ln w="6350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1097280"/>
            <a:ext cx="914400" cy="24231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11480" y="1188720"/>
            <a:ext cx="8412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Step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1887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33A"/>
                </a:solidFill>
              </a:rPr>
              <a:t>환경 준비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600200"/>
            <a:ext cx="4572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56575"/>
                </a:solidFill>
              </a:rPr>
              <a:t>• Visual Studio 2019/2022 설치
• .NET Framework 4.8 타겟
• 관리자 권한 실행 (app.manifest 설정)
• 참조: System.Web.Extensions (GAC 내장)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1097280"/>
            <a:ext cx="5669280" cy="2423160"/>
          </a:xfrm>
          <a:prstGeom prst="rect">
            <a:avLst/>
          </a:prstGeom>
          <a:solidFill>
            <a:srgbClr val="FFFFFF"/>
          </a:solidFill>
          <a:ln w="6350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263640" y="1097280"/>
            <a:ext cx="914400" cy="24231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309360" y="1188720"/>
            <a:ext cx="8412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Step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69480" y="11887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33A"/>
                </a:solidFill>
              </a:rPr>
              <a:t>솔루션 열기 / 새 프로젝트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69480" y="1600200"/>
            <a:ext cx="4572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 dirty="0">
                <a:solidFill>
                  <a:srgbClr val="556575"/>
                </a:solidFill>
              </a:rPr>
              <a:t>• </a:t>
            </a:r>
            <a:r>
              <a:rPr sz="950" b="0" i="0" dirty="0" err="1">
                <a:solidFill>
                  <a:srgbClr val="556575"/>
                </a:solidFill>
              </a:rPr>
              <a:t>A3-8190_HTTPServer.sln</a:t>
            </a:r>
            <a:r>
              <a:rPr sz="950" b="0" i="0" dirty="0">
                <a:solidFill>
                  <a:srgbClr val="556575"/>
                </a:solidFill>
              </a:rPr>
              <a:t> </a:t>
            </a:r>
            <a:r>
              <a:rPr sz="950" b="0" i="0" dirty="0" err="1">
                <a:solidFill>
                  <a:srgbClr val="556575"/>
                </a:solidFill>
              </a:rPr>
              <a:t>오픈</a:t>
            </a:r>
            <a:r>
              <a:rPr sz="950" b="0" i="0" dirty="0">
                <a:solidFill>
                  <a:srgbClr val="556575"/>
                </a:solidFill>
              </a:rPr>
              <a:t> (</a:t>
            </a:r>
            <a:r>
              <a:rPr sz="950" b="0" i="0" dirty="0" err="1">
                <a:solidFill>
                  <a:srgbClr val="556575"/>
                </a:solidFill>
              </a:rPr>
              <a:t>예제</a:t>
            </a:r>
            <a:r>
              <a:rPr sz="950" b="0" i="0" dirty="0">
                <a:solidFill>
                  <a:srgbClr val="556575"/>
                </a:solidFill>
              </a:rPr>
              <a:t> </a:t>
            </a:r>
            <a:r>
              <a:rPr sz="950" b="0" i="0" dirty="0" err="1">
                <a:solidFill>
                  <a:srgbClr val="556575"/>
                </a:solidFill>
              </a:rPr>
              <a:t>바로</a:t>
            </a:r>
            <a:r>
              <a:rPr sz="950" b="0" i="0" dirty="0">
                <a:solidFill>
                  <a:srgbClr val="556575"/>
                </a:solidFill>
              </a:rPr>
              <a:t> </a:t>
            </a:r>
            <a:r>
              <a:rPr sz="950" b="0" i="0" dirty="0" err="1">
                <a:solidFill>
                  <a:srgbClr val="556575"/>
                </a:solidFill>
              </a:rPr>
              <a:t>사용</a:t>
            </a:r>
            <a:r>
              <a:rPr sz="950" b="0" i="0" dirty="0">
                <a:solidFill>
                  <a:srgbClr val="556575"/>
                </a:solidFill>
              </a:rPr>
              <a:t>)
  </a:t>
            </a:r>
            <a:r>
              <a:rPr sz="950" b="0" i="0" dirty="0" err="1">
                <a:solidFill>
                  <a:srgbClr val="556575"/>
                </a:solidFill>
              </a:rPr>
              <a:t>또는</a:t>
            </a:r>
            <a:r>
              <a:rPr sz="950" b="0" i="0" dirty="0">
                <a:solidFill>
                  <a:srgbClr val="556575"/>
                </a:solidFill>
              </a:rPr>
              <a:t> 새 WinForms </a:t>
            </a:r>
            <a:r>
              <a:rPr sz="950" b="0" i="0" dirty="0" err="1">
                <a:solidFill>
                  <a:srgbClr val="556575"/>
                </a:solidFill>
              </a:rPr>
              <a:t>프로젝트</a:t>
            </a:r>
            <a:r>
              <a:rPr sz="950" b="0" i="0" dirty="0">
                <a:solidFill>
                  <a:srgbClr val="556575"/>
                </a:solidFill>
              </a:rPr>
              <a:t> </a:t>
            </a:r>
            <a:r>
              <a:rPr sz="950" b="0" i="0" dirty="0" err="1">
                <a:solidFill>
                  <a:srgbClr val="556575"/>
                </a:solidFill>
              </a:rPr>
              <a:t>생성</a:t>
            </a:r>
            <a:r>
              <a:rPr sz="950" b="0" i="0" dirty="0">
                <a:solidFill>
                  <a:srgbClr val="556575"/>
                </a:solidFill>
              </a:rPr>
              <a:t> 후
• </a:t>
            </a:r>
            <a:r>
              <a:rPr sz="950" b="0" i="0" dirty="0" err="1">
                <a:solidFill>
                  <a:srgbClr val="556575"/>
                </a:solidFill>
              </a:rPr>
              <a:t>A3HttpListener.cs</a:t>
            </a:r>
            <a:r>
              <a:rPr sz="950" b="0" i="0" dirty="0">
                <a:solidFill>
                  <a:srgbClr val="556575"/>
                </a:solidFill>
              </a:rPr>
              <a:t> 와 </a:t>
            </a:r>
            <a:r>
              <a:rPr sz="950" b="0" i="0" dirty="0" err="1">
                <a:solidFill>
                  <a:srgbClr val="556575"/>
                </a:solidFill>
              </a:rPr>
              <a:t>Models.cs</a:t>
            </a:r>
            <a:r>
              <a:rPr sz="950" b="0" i="0" dirty="0">
                <a:solidFill>
                  <a:srgbClr val="556575"/>
                </a:solidFill>
              </a:rPr>
              <a:t> </a:t>
            </a:r>
            <a:r>
              <a:rPr sz="950" b="0" i="0" dirty="0" err="1">
                <a:solidFill>
                  <a:srgbClr val="556575"/>
                </a:solidFill>
              </a:rPr>
              <a:t>복사</a:t>
            </a:r>
            <a:r>
              <a:rPr sz="950" b="0" i="0" dirty="0">
                <a:solidFill>
                  <a:srgbClr val="556575"/>
                </a:solidFill>
              </a:rPr>
              <a:t>
• </a:t>
            </a:r>
            <a:r>
              <a:rPr sz="950" b="0" i="0" dirty="0" err="1">
                <a:solidFill>
                  <a:srgbClr val="556575"/>
                </a:solidFill>
              </a:rPr>
              <a:t>app.manifest</a:t>
            </a:r>
            <a:r>
              <a:rPr sz="950" b="0" i="0" dirty="0">
                <a:solidFill>
                  <a:srgbClr val="556575"/>
                </a:solidFill>
              </a:rPr>
              <a:t>: </a:t>
            </a:r>
            <a:r>
              <a:rPr sz="950" b="0" i="0" dirty="0" err="1">
                <a:solidFill>
                  <a:srgbClr val="556575"/>
                </a:solidFill>
              </a:rPr>
              <a:t>requireAdministrator</a:t>
            </a:r>
            <a:r>
              <a:rPr sz="950" b="0" i="0" dirty="0">
                <a:solidFill>
                  <a:srgbClr val="556575"/>
                </a:solidFill>
              </a:rPr>
              <a:t> </a:t>
            </a:r>
            <a:r>
              <a:rPr sz="950" b="0" i="0" dirty="0" err="1">
                <a:solidFill>
                  <a:srgbClr val="556575"/>
                </a:solidFill>
              </a:rPr>
              <a:t>설정</a:t>
            </a:r>
            <a:endParaRPr sz="950" b="0" i="0" dirty="0">
              <a:solidFill>
                <a:srgbClr val="556575"/>
              </a:solidFill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365760" y="3749039"/>
            <a:ext cx="5669280" cy="2423160"/>
          </a:xfrm>
          <a:prstGeom prst="rect">
            <a:avLst/>
          </a:prstGeom>
          <a:solidFill>
            <a:srgbClr val="FFFFFF"/>
          </a:solidFill>
          <a:ln w="6350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65760" y="3749039"/>
            <a:ext cx="914400" cy="24231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11480" y="3840479"/>
            <a:ext cx="8412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Step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40479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33A"/>
                </a:solidFill>
              </a:rPr>
              <a:t>HTTP 서버 구성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59"/>
            <a:ext cx="4572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56575"/>
                </a:solidFill>
              </a:rPr>
              <a:t>• A3HttpListener 인스턴스 생성
• OnLog / OnKeepalive / OnRecord 이벤트 연결
• server.Start(port) 로 서버 시작
• HttpListener Prefix: http://+:{port}/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63640" y="3749039"/>
            <a:ext cx="5669280" cy="2423160"/>
          </a:xfrm>
          <a:prstGeom prst="rect">
            <a:avLst/>
          </a:prstGeom>
          <a:solidFill>
            <a:srgbClr val="FFFFFF"/>
          </a:solidFill>
          <a:ln w="6350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263640" y="3749039"/>
            <a:ext cx="914400" cy="24231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309360" y="3840479"/>
            <a:ext cx="8412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Step 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69480" y="3840479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33A"/>
                </a:solidFill>
              </a:rPr>
              <a:t>디바이스 연동 및 비즈니스 로직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69480" y="4251959"/>
            <a:ext cx="4572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56575"/>
                </a:solidFill>
              </a:rPr>
              <a:t>• A3-8190 웹 설정에서 서버 IP:PORT 입력
• server.QueueAddPeople(sn, count) — 인원 전송
• server.QueueRemoteCommand(sn, cmd) — 원격 제어
• OnRecord 이벤트에서 출입 기록 처리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365760" y="73152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11  플랫폼별 빠른 시작 체크리스트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58368"/>
            <a:ext cx="9144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chemeClr val="bg1"/>
                </a:solidFill>
              </a:rPr>
              <a:t>언어·프레임워크별 필수 준비 항목 요약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2834640" cy="5212080"/>
          </a:xfrm>
          <a:prstGeom prst="rect">
            <a:avLst/>
          </a:prstGeom>
          <a:solidFill>
            <a:srgbClr val="FFFFFF"/>
          </a:solidFill>
          <a:ln w="7620">
            <a:solidFill>
              <a:srgbClr val="1A23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1097280"/>
            <a:ext cx="2834640" cy="384048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11430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</a:rPr>
              <a:t>C# Traditional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54480"/>
            <a:ext cx="26517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233A"/>
                </a:solidFill>
              </a:rPr>
              <a:t>☐  Visual Studio 2019/2022 설치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21408"/>
            <a:ext cx="26517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233A"/>
                </a:solidFill>
              </a:rPr>
              <a:t>☐  SBXPCDLL.dll / SBXPCDLL64.dll 복사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88336"/>
            <a:ext cx="26517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233A"/>
                </a:solidFill>
              </a:rPr>
              <a:t>☐  x86 또는 x64 플랫폼 선택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255263"/>
            <a:ext cx="26517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233A"/>
                </a:solidFill>
              </a:rPr>
              <a:t>☐  DllImport 선언 추가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822191"/>
            <a:ext cx="26517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233A"/>
                </a:solidFill>
              </a:rPr>
              <a:t>☐  _SetMachineType() 호출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389120"/>
            <a:ext cx="26517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233A"/>
                </a:solidFill>
              </a:rPr>
              <a:t>☐  연결 방식 선택 (Serial/TCP-IP/P2P)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956048"/>
            <a:ext cx="26517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233A"/>
                </a:solidFill>
              </a:rPr>
              <a:t>☐  이벤트 콜백 함수 구현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5522976"/>
            <a:ext cx="26517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233A"/>
                </a:solidFill>
              </a:rPr>
              <a:t>☐  샘플: Sample_S300/C#_SBXPCDLL_Sample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10128" y="1097280"/>
            <a:ext cx="2834640" cy="5212080"/>
          </a:xfrm>
          <a:prstGeom prst="rect">
            <a:avLst/>
          </a:prstGeom>
          <a:solidFill>
            <a:srgbClr val="FFFFFF"/>
          </a:solidFill>
          <a:ln w="7620">
            <a:solidFill>
              <a:srgbClr val="008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3310128" y="1097280"/>
            <a:ext cx="2834640" cy="384048"/>
          </a:xfrm>
          <a:prstGeom prst="rect">
            <a:avLst/>
          </a:prstGeom>
          <a:solidFill>
            <a:srgbClr val="0088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401568" y="11430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</a:rPr>
              <a:t>C# WebSocket SDK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01568" y="1554480"/>
            <a:ext cx="26517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233A"/>
                </a:solidFill>
              </a:rPr>
              <a:t>☐  ASP.NET Web Application 생성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01568" y="2121408"/>
            <a:ext cx="26517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233A"/>
                </a:solidFill>
              </a:rPr>
              <a:t>☐  SmackBio.WebSocketSDK 프로젝트 참조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01568" y="2688336"/>
            <a:ext cx="26517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233A"/>
                </a:solidFill>
              </a:rPr>
              <a:t>☐  Microsoft.Web.WebSockets 설치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01568" y="3255263"/>
            <a:ext cx="26517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233A"/>
                </a:solidFill>
              </a:rPr>
              <a:t>☐  IDeviceLoginManager 구현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01568" y="3822191"/>
            <a:ext cx="26517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233A"/>
                </a:solidFill>
              </a:rPr>
              <a:t>☐  Web.config deviceLoginManager 등록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01568" y="4389120"/>
            <a:ext cx="26517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233A"/>
                </a:solidFill>
              </a:rPr>
              <a:t>☐  WebSocket 핸들러 경로 설정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01568" y="4956048"/>
            <a:ext cx="26517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233A"/>
                </a:solidFill>
              </a:rPr>
              <a:t>☐  DB 연결 문자열 설정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01568" y="5522976"/>
            <a:ext cx="26517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233A"/>
                </a:solidFill>
              </a:rPr>
              <a:t>☐  샘플: WebSocketSDK/WebSocketSDK/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54496" y="1097280"/>
            <a:ext cx="2834640" cy="5212080"/>
          </a:xfrm>
          <a:prstGeom prst="rect">
            <a:avLst/>
          </a:prstGeom>
          <a:solidFill>
            <a:srgbClr val="FFFFFF"/>
          </a:solidFill>
          <a:ln w="7620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6254496" y="1097280"/>
            <a:ext cx="2834640" cy="384048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345936" y="11430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</a:rPr>
              <a:t>A3-8190 HTTP  ★NEW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45936" y="1554480"/>
            <a:ext cx="26517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233A"/>
                </a:solidFill>
              </a:rPr>
              <a:t>☐  Visual Studio 2019/2022 설치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45936" y="2121408"/>
            <a:ext cx="26517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233A"/>
                </a:solidFill>
              </a:rPr>
              <a:t>☐  A3-8190_HTTPServer.sln 열기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45936" y="2688336"/>
            <a:ext cx="26517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 dirty="0">
                <a:solidFill>
                  <a:srgbClr val="1A233A"/>
                </a:solidFill>
              </a:rPr>
              <a:t>☐  </a:t>
            </a:r>
            <a:r>
              <a:rPr sz="950" b="0" i="0" dirty="0" err="1">
                <a:solidFill>
                  <a:srgbClr val="1A233A"/>
                </a:solidFill>
              </a:rPr>
              <a:t>빌드</a:t>
            </a:r>
            <a:r>
              <a:rPr sz="950" b="0" i="0" dirty="0">
                <a:solidFill>
                  <a:srgbClr val="1A233A"/>
                </a:solidFill>
              </a:rPr>
              <a:t> (</a:t>
            </a:r>
            <a:r>
              <a:rPr sz="950" b="0" i="0" dirty="0" err="1">
                <a:solidFill>
                  <a:srgbClr val="1A233A"/>
                </a:solidFill>
              </a:rPr>
              <a:t>Ctrl+Shift+B</a:t>
            </a:r>
            <a:r>
              <a:rPr sz="950" b="0" i="0" dirty="0">
                <a:solidFill>
                  <a:srgbClr val="1A233A"/>
                </a:solidFill>
              </a:rPr>
              <a:t>, .NET 4.8)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45936" y="3255263"/>
            <a:ext cx="26517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 dirty="0">
                <a:solidFill>
                  <a:srgbClr val="1A233A"/>
                </a:solidFill>
              </a:rPr>
              <a:t>☐  </a:t>
            </a:r>
            <a:r>
              <a:rPr sz="950" b="0" i="0" dirty="0" err="1">
                <a:solidFill>
                  <a:srgbClr val="1A233A"/>
                </a:solidFill>
              </a:rPr>
              <a:t>관리자</a:t>
            </a:r>
            <a:r>
              <a:rPr sz="950" b="0" i="0" dirty="0">
                <a:solidFill>
                  <a:srgbClr val="1A233A"/>
                </a:solidFill>
              </a:rPr>
              <a:t> </a:t>
            </a:r>
            <a:r>
              <a:rPr sz="950" b="0" i="0" dirty="0" err="1">
                <a:solidFill>
                  <a:srgbClr val="1A233A"/>
                </a:solidFill>
              </a:rPr>
              <a:t>권한으로</a:t>
            </a:r>
            <a:r>
              <a:rPr sz="950" b="0" i="0" dirty="0">
                <a:solidFill>
                  <a:srgbClr val="1A233A"/>
                </a:solidFill>
              </a:rPr>
              <a:t> </a:t>
            </a:r>
            <a:r>
              <a:rPr sz="950" b="0" i="0" dirty="0" err="1">
                <a:solidFill>
                  <a:srgbClr val="1A233A"/>
                </a:solidFill>
              </a:rPr>
              <a:t>실행</a:t>
            </a:r>
            <a:endParaRPr sz="950" b="0" i="0" dirty="0">
              <a:solidFill>
                <a:srgbClr val="1A233A"/>
              </a:solidFill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6345936" y="3822191"/>
            <a:ext cx="26517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233A"/>
                </a:solidFill>
              </a:rPr>
              <a:t>☐  포트 설정 후 서버 시작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45936" y="4389120"/>
            <a:ext cx="26517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233A"/>
                </a:solidFill>
              </a:rPr>
              <a:t>☐  A3-8190에서 서버 IP:포트 설정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45936" y="4956048"/>
            <a:ext cx="26517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233A"/>
                </a:solidFill>
              </a:rPr>
              <a:t>☐  인원 추가 후 디바이스 전송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45936" y="5522976"/>
            <a:ext cx="26517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233A"/>
                </a:solidFill>
              </a:rPr>
              <a:t>☐  출입 기록 실시간 확인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198864" y="1097280"/>
            <a:ext cx="2834640" cy="5212080"/>
          </a:xfrm>
          <a:prstGeom prst="rect">
            <a:avLst/>
          </a:prstGeom>
          <a:solidFill>
            <a:srgbClr val="FFFFFF"/>
          </a:solidFill>
          <a:ln w="7620">
            <a:solidFill>
              <a:srgbClr val="777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9198864" y="1097280"/>
            <a:ext cx="2834640" cy="384048"/>
          </a:xfrm>
          <a:prstGeom prst="rect">
            <a:avLst/>
          </a:prstGeom>
          <a:solidFill>
            <a:srgbClr val="777B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9290304" y="11430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</a:rPr>
              <a:t>PHP (Workerman)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290304" y="1554480"/>
            <a:ext cx="26517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233A"/>
                </a:solidFill>
              </a:rPr>
              <a:t>☐  PHP 7+ 및 Composer 설치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290304" y="2121408"/>
            <a:ext cx="26517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233A"/>
                </a:solidFill>
              </a:rPr>
              <a:t>☐  0.download_workerman.bat 실행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290304" y="2688336"/>
            <a:ext cx="26517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233A"/>
                </a:solidFill>
              </a:rPr>
              <a:t>☐  config.inc.php 설정 편집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90304" y="3255263"/>
            <a:ext cx="26517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233A"/>
                </a:solidFill>
              </a:rPr>
              <a:t>☐  ws_dev_event.php 이벤트 핸들러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290304" y="3822191"/>
            <a:ext cx="26517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233A"/>
                </a:solidFill>
              </a:rPr>
              <a:t>☐  DB 스키마 생성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290304" y="4389120"/>
            <a:ext cx="26517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233A"/>
                </a:solidFill>
              </a:rPr>
              <a:t>☐  1.run_ws_server.bat 서버 실행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290304" y="4956048"/>
            <a:ext cx="26517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233A"/>
                </a:solidFill>
              </a:rPr>
              <a:t>☐  2.run_web_server.bat 웹 실행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290304" y="5522976"/>
            <a:ext cx="26517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233A"/>
                </a:solidFill>
              </a:rPr>
              <a:t>☐  샘플: WebSocketSDK_PHP/wwwroot/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365760" y="73152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12  결론 및 권장 사항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58368"/>
            <a:ext cx="9144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 dirty="0">
                <a:solidFill>
                  <a:schemeClr val="bg1"/>
                </a:solidFill>
              </a:rPr>
              <a:t>SDK </a:t>
            </a:r>
            <a:r>
              <a:rPr sz="1400" b="0" i="0" dirty="0" err="1">
                <a:solidFill>
                  <a:schemeClr val="bg1"/>
                </a:solidFill>
              </a:rPr>
              <a:t>선택</a:t>
            </a:r>
            <a:r>
              <a:rPr sz="1400" b="0" i="0" dirty="0">
                <a:solidFill>
                  <a:schemeClr val="bg1"/>
                </a:solidFill>
              </a:rPr>
              <a:t> </a:t>
            </a:r>
            <a:r>
              <a:rPr sz="1400" b="0" i="0" dirty="0" err="1">
                <a:solidFill>
                  <a:schemeClr val="bg1"/>
                </a:solidFill>
              </a:rPr>
              <a:t>가이드</a:t>
            </a:r>
            <a:r>
              <a:rPr sz="1400" b="0" i="0" dirty="0">
                <a:solidFill>
                  <a:schemeClr val="bg1"/>
                </a:solidFill>
              </a:rPr>
              <a:t> 및 </a:t>
            </a:r>
            <a:r>
              <a:rPr sz="1400" b="0" i="0" dirty="0" err="1">
                <a:solidFill>
                  <a:schemeClr val="bg1"/>
                </a:solidFill>
              </a:rPr>
              <a:t>통합</a:t>
            </a:r>
            <a:r>
              <a:rPr sz="1400" b="0" i="0" dirty="0">
                <a:solidFill>
                  <a:schemeClr val="bg1"/>
                </a:solidFill>
              </a:rPr>
              <a:t> </a:t>
            </a:r>
            <a:r>
              <a:rPr sz="1400" b="0" i="0" dirty="0" err="1">
                <a:solidFill>
                  <a:schemeClr val="bg1"/>
                </a:solidFill>
              </a:rPr>
              <a:t>요약</a:t>
            </a:r>
            <a:endParaRPr sz="1400" b="0" i="0" dirty="0">
              <a:solidFill>
                <a:schemeClr val="bg1"/>
              </a:solidFill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3749039" cy="2541069"/>
          </a:xfrm>
          <a:prstGeom prst="rect">
            <a:avLst/>
          </a:prstGeom>
          <a:solidFill>
            <a:srgbClr val="FFFFFF"/>
          </a:solidFill>
          <a:ln w="10160">
            <a:solidFill>
              <a:srgbClr val="1A23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1097280"/>
            <a:ext cx="3749039" cy="457200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75488" y="1161288"/>
            <a:ext cx="3566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🏢  엔터프라이즈 / 온프레미스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" y="1627632"/>
            <a:ext cx="3566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33A"/>
                </a:solidFill>
              </a:rPr>
              <a:t>Traditional SDK (SBXPCDLL) 권장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2029968"/>
            <a:ext cx="2161169" cy="70788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 dirty="0">
                <a:solidFill>
                  <a:srgbClr val="556575"/>
                </a:solidFill>
              </a:rPr>
              <a:t>• </a:t>
            </a:r>
            <a:r>
              <a:rPr sz="1000" b="0" i="0" dirty="0" err="1">
                <a:solidFill>
                  <a:srgbClr val="556575"/>
                </a:solidFill>
              </a:rPr>
              <a:t>직접</a:t>
            </a:r>
            <a:r>
              <a:rPr sz="1000" b="0" i="0" dirty="0">
                <a:solidFill>
                  <a:srgbClr val="556575"/>
                </a:solidFill>
              </a:rPr>
              <a:t> </a:t>
            </a:r>
            <a:r>
              <a:rPr sz="1000" b="0" i="0" dirty="0" err="1">
                <a:solidFill>
                  <a:srgbClr val="556575"/>
                </a:solidFill>
              </a:rPr>
              <a:t>시리얼·TCP-IP</a:t>
            </a:r>
            <a:r>
              <a:rPr sz="1000" b="0" i="0" dirty="0">
                <a:solidFill>
                  <a:srgbClr val="556575"/>
                </a:solidFill>
              </a:rPr>
              <a:t> </a:t>
            </a:r>
            <a:r>
              <a:rPr sz="1000" b="0" i="0" dirty="0" err="1">
                <a:solidFill>
                  <a:srgbClr val="556575"/>
                </a:solidFill>
              </a:rPr>
              <a:t>연결로</a:t>
            </a:r>
            <a:r>
              <a:rPr sz="1000" b="0" i="0" dirty="0">
                <a:solidFill>
                  <a:srgbClr val="556575"/>
                </a:solidFill>
              </a:rPr>
              <a:t> </a:t>
            </a:r>
            <a:r>
              <a:rPr sz="1000" b="0" i="0" dirty="0" err="1">
                <a:solidFill>
                  <a:srgbClr val="556575"/>
                </a:solidFill>
              </a:rPr>
              <a:t>저지연</a:t>
            </a:r>
            <a:r>
              <a:rPr sz="1000" b="0" i="0" dirty="0">
                <a:solidFill>
                  <a:srgbClr val="556575"/>
                </a:solidFill>
              </a:rPr>
              <a:t>
• </a:t>
            </a:r>
            <a:r>
              <a:rPr sz="1000" b="0" i="0" dirty="0" err="1">
                <a:solidFill>
                  <a:srgbClr val="556575"/>
                </a:solidFill>
              </a:rPr>
              <a:t>기존</a:t>
            </a:r>
            <a:r>
              <a:rPr sz="1000" b="0" i="0" dirty="0">
                <a:solidFill>
                  <a:srgbClr val="556575"/>
                </a:solidFill>
              </a:rPr>
              <a:t> Windows </a:t>
            </a:r>
            <a:r>
              <a:rPr sz="1000" b="0" i="0" dirty="0" err="1">
                <a:solidFill>
                  <a:srgbClr val="556575"/>
                </a:solidFill>
              </a:rPr>
              <a:t>인프라와</a:t>
            </a:r>
            <a:r>
              <a:rPr sz="1000" b="0" i="0" dirty="0">
                <a:solidFill>
                  <a:srgbClr val="556575"/>
                </a:solidFill>
              </a:rPr>
              <a:t> </a:t>
            </a:r>
            <a:r>
              <a:rPr sz="1000" b="0" i="0" dirty="0" err="1">
                <a:solidFill>
                  <a:srgbClr val="556575"/>
                </a:solidFill>
              </a:rPr>
              <a:t>통합</a:t>
            </a:r>
            <a:r>
              <a:rPr sz="1000" b="0" i="0" dirty="0">
                <a:solidFill>
                  <a:srgbClr val="556575"/>
                </a:solidFill>
              </a:rPr>
              <a:t> </a:t>
            </a:r>
            <a:r>
              <a:rPr sz="1000" b="0" i="0" dirty="0" err="1">
                <a:solidFill>
                  <a:srgbClr val="556575"/>
                </a:solidFill>
              </a:rPr>
              <a:t>용이</a:t>
            </a:r>
            <a:r>
              <a:rPr sz="1000" b="0" i="0" dirty="0">
                <a:solidFill>
                  <a:srgbClr val="556575"/>
                </a:solidFill>
              </a:rPr>
              <a:t>
• C# WinForms </a:t>
            </a:r>
            <a:r>
              <a:rPr sz="1000" b="0" i="0" dirty="0" err="1">
                <a:solidFill>
                  <a:srgbClr val="556575"/>
                </a:solidFill>
              </a:rPr>
              <a:t>샘플이</a:t>
            </a:r>
            <a:r>
              <a:rPr sz="1000" b="0" i="0" dirty="0">
                <a:solidFill>
                  <a:srgbClr val="556575"/>
                </a:solidFill>
              </a:rPr>
              <a:t> </a:t>
            </a:r>
            <a:r>
              <a:rPr sz="1000" b="0" i="0" dirty="0" err="1">
                <a:solidFill>
                  <a:srgbClr val="556575"/>
                </a:solidFill>
              </a:rPr>
              <a:t>가장</a:t>
            </a:r>
            <a:r>
              <a:rPr sz="1000" b="0" i="0" dirty="0">
                <a:solidFill>
                  <a:srgbClr val="556575"/>
                </a:solidFill>
              </a:rPr>
              <a:t> </a:t>
            </a:r>
            <a:r>
              <a:rPr sz="1000" b="0" i="0" dirty="0" err="1">
                <a:solidFill>
                  <a:srgbClr val="556575"/>
                </a:solidFill>
              </a:rPr>
              <a:t>풍부</a:t>
            </a:r>
            <a:r>
              <a:rPr sz="1000" b="0" i="0" dirty="0">
                <a:solidFill>
                  <a:srgbClr val="556575"/>
                </a:solidFill>
              </a:rPr>
              <a:t>
• </a:t>
            </a:r>
            <a:r>
              <a:rPr sz="1000" b="0" i="0" dirty="0" err="1">
                <a:solidFill>
                  <a:srgbClr val="556575"/>
                </a:solidFill>
              </a:rPr>
              <a:t>오프라인</a:t>
            </a:r>
            <a:r>
              <a:rPr sz="1000" b="0" i="0" dirty="0">
                <a:solidFill>
                  <a:srgbClr val="556575"/>
                </a:solidFill>
              </a:rPr>
              <a:t> </a:t>
            </a:r>
            <a:r>
              <a:rPr sz="1000" b="0" i="0" dirty="0" err="1">
                <a:solidFill>
                  <a:srgbClr val="556575"/>
                </a:solidFill>
              </a:rPr>
              <a:t>환경</a:t>
            </a:r>
            <a:r>
              <a:rPr sz="1000" b="0" i="0" dirty="0">
                <a:solidFill>
                  <a:srgbClr val="556575"/>
                </a:solidFill>
              </a:rPr>
              <a:t> </a:t>
            </a:r>
            <a:r>
              <a:rPr sz="1000" b="0" i="0" dirty="0" err="1">
                <a:solidFill>
                  <a:srgbClr val="556575"/>
                </a:solidFill>
              </a:rPr>
              <a:t>완벽</a:t>
            </a:r>
            <a:r>
              <a:rPr sz="1000" b="0" i="0" dirty="0">
                <a:solidFill>
                  <a:srgbClr val="556575"/>
                </a:solidFill>
              </a:rPr>
              <a:t> </a:t>
            </a:r>
            <a:r>
              <a:rPr sz="1000" b="0" i="0" dirty="0" err="1">
                <a:solidFill>
                  <a:srgbClr val="556575"/>
                </a:solidFill>
              </a:rPr>
              <a:t>지원</a:t>
            </a:r>
            <a:endParaRPr sz="1000" b="0" i="0" dirty="0">
              <a:solidFill>
                <a:srgbClr val="556575"/>
              </a:solidFill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4297680" y="1097280"/>
            <a:ext cx="3749039" cy="2541069"/>
          </a:xfrm>
          <a:prstGeom prst="rect">
            <a:avLst/>
          </a:prstGeom>
          <a:solidFill>
            <a:srgbClr val="FFFFFF"/>
          </a:solidFill>
          <a:ln w="10160">
            <a:solidFill>
              <a:srgbClr val="008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297680" y="1097280"/>
            <a:ext cx="3749039" cy="457200"/>
          </a:xfrm>
          <a:prstGeom prst="rect">
            <a:avLst/>
          </a:prstGeom>
          <a:solidFill>
            <a:srgbClr val="0088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407408" y="1161288"/>
            <a:ext cx="3566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🌐  클라우드 / 원격 모니터링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07408" y="1627632"/>
            <a:ext cx="3566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88CC"/>
                </a:solidFill>
              </a:rPr>
              <a:t>WebSocket SDK 권장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07408" y="2029968"/>
            <a:ext cx="2148345" cy="70788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556575"/>
                </a:solidFill>
              </a:rPr>
              <a:t>• 디바이스가 서버에 자동 연결
• 브라우저 기반 실시간 모니터링
• C# ASP.NET이 가장 완성도 높음
• PHP/Python 옵션으로 유연한 배포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0" y="1097280"/>
            <a:ext cx="3749039" cy="2541069"/>
          </a:xfrm>
          <a:prstGeom prst="rect">
            <a:avLst/>
          </a:prstGeom>
          <a:solidFill>
            <a:srgbClr val="FFFFFF"/>
          </a:solidFill>
          <a:ln w="10160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229600" y="1097280"/>
            <a:ext cx="3749039" cy="4572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339327" y="1161288"/>
            <a:ext cx="3566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📷  얼굴인식 출입 단말 (BOWE)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39327" y="1627632"/>
            <a:ext cx="3566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6B35"/>
                </a:solidFill>
              </a:rPr>
              <a:t>HTTP Push 프로토콜 사용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39327" y="2029968"/>
            <a:ext cx="2271776" cy="70788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556575"/>
                </a:solidFill>
              </a:rPr>
              <a:t>• A3-8190 HTTP Server 예제 활용
• Communication Protocols/ 문서 참고
• .NET sample RAR 압축 해제 후 활용
• Java SDK (SpringBoot) 서버 구축 가능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4068117"/>
            <a:ext cx="5760720" cy="2294183"/>
          </a:xfrm>
          <a:prstGeom prst="rect">
            <a:avLst/>
          </a:prstGeom>
          <a:solidFill>
            <a:srgbClr val="FFFFFF"/>
          </a:solidFill>
          <a:ln w="6350">
            <a:solidFill>
              <a:srgbClr val="2E86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02920" y="4113838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8648"/>
                </a:solidFill>
              </a:rPr>
              <a:t>🔧  개발 시작 권장 순서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4516174"/>
            <a:ext cx="5486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 dirty="0">
                <a:solidFill>
                  <a:srgbClr val="1A233A"/>
                </a:solidFill>
              </a:rPr>
              <a:t>1. </a:t>
            </a:r>
            <a:r>
              <a:rPr sz="950" b="0" i="0" dirty="0" err="1">
                <a:solidFill>
                  <a:srgbClr val="1A233A"/>
                </a:solidFill>
              </a:rPr>
              <a:t>BOWE_PC</a:t>
            </a:r>
            <a:r>
              <a:rPr sz="950" b="0" i="0" dirty="0">
                <a:solidFill>
                  <a:srgbClr val="1A233A"/>
                </a:solidFill>
              </a:rPr>
              <a:t>/</a:t>
            </a:r>
            <a:r>
              <a:rPr sz="950" b="0" i="0" dirty="0" err="1">
                <a:solidFill>
                  <a:srgbClr val="1A233A"/>
                </a:solidFill>
              </a:rPr>
              <a:t>A3</a:t>
            </a:r>
            <a:r>
              <a:rPr sz="950" b="0" i="0" dirty="0">
                <a:solidFill>
                  <a:srgbClr val="1A233A"/>
                </a:solidFill>
              </a:rPr>
              <a:t>-8190 User </a:t>
            </a:r>
            <a:r>
              <a:rPr sz="950" b="0" i="0" dirty="0" err="1">
                <a:solidFill>
                  <a:srgbClr val="1A233A"/>
                </a:solidFill>
              </a:rPr>
              <a:t>Manual.pdf</a:t>
            </a:r>
            <a:r>
              <a:rPr sz="950" b="0" i="0" dirty="0">
                <a:solidFill>
                  <a:srgbClr val="1A233A"/>
                </a:solidFill>
              </a:rPr>
              <a:t> </a:t>
            </a:r>
            <a:r>
              <a:rPr sz="950" b="0" i="0" dirty="0" err="1">
                <a:solidFill>
                  <a:srgbClr val="1A233A"/>
                </a:solidFill>
              </a:rPr>
              <a:t>확인</a:t>
            </a:r>
            <a:r>
              <a:rPr sz="950" b="0" i="0" dirty="0">
                <a:solidFill>
                  <a:srgbClr val="1A233A"/>
                </a:solidFill>
              </a:rPr>
              <a:t> (</a:t>
            </a:r>
            <a:r>
              <a:rPr sz="950" b="0" i="0" dirty="0" err="1">
                <a:solidFill>
                  <a:srgbClr val="1A233A"/>
                </a:solidFill>
              </a:rPr>
              <a:t>디바이스</a:t>
            </a:r>
            <a:r>
              <a:rPr sz="950" b="0" i="0" dirty="0">
                <a:solidFill>
                  <a:srgbClr val="1A233A"/>
                </a:solidFill>
              </a:rPr>
              <a:t> </a:t>
            </a:r>
            <a:r>
              <a:rPr sz="950" b="0" i="0" dirty="0" err="1">
                <a:solidFill>
                  <a:srgbClr val="1A233A"/>
                </a:solidFill>
              </a:rPr>
              <a:t>스펙</a:t>
            </a:r>
            <a:r>
              <a:rPr sz="950" b="0" i="0" dirty="0">
                <a:solidFill>
                  <a:srgbClr val="1A233A"/>
                </a:solidFill>
              </a:rPr>
              <a:t>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4744774"/>
            <a:ext cx="5486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233A"/>
                </a:solidFill>
              </a:rPr>
              <a:t>2. Communication Protocols/ HTTP 프로토콜 문서 정독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4973374"/>
            <a:ext cx="5486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233A"/>
                </a:solidFill>
              </a:rPr>
              <a:t>3. SDK 타입 결정 (Traditional / WebSocket / HTTP Push)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5201974"/>
            <a:ext cx="5486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233A"/>
                </a:solidFill>
              </a:rPr>
              <a:t>4. 해당 Sample 프로젝트 실행 및 코드 분석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5430574"/>
            <a:ext cx="5486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 dirty="0">
                <a:solidFill>
                  <a:srgbClr val="1A233A"/>
                </a:solidFill>
              </a:rPr>
              <a:t>5. </a:t>
            </a:r>
            <a:r>
              <a:rPr sz="950" b="0" i="0" dirty="0" err="1">
                <a:solidFill>
                  <a:srgbClr val="1A233A"/>
                </a:solidFill>
              </a:rPr>
              <a:t>비즈니스</a:t>
            </a:r>
            <a:r>
              <a:rPr sz="950" b="0" i="0" dirty="0">
                <a:solidFill>
                  <a:srgbClr val="1A233A"/>
                </a:solidFill>
              </a:rPr>
              <a:t> </a:t>
            </a:r>
            <a:r>
              <a:rPr sz="950" b="0" i="0" dirty="0" err="1">
                <a:solidFill>
                  <a:srgbClr val="1A233A"/>
                </a:solidFill>
              </a:rPr>
              <a:t>로직</a:t>
            </a:r>
            <a:r>
              <a:rPr sz="950" b="0" i="0" dirty="0">
                <a:solidFill>
                  <a:srgbClr val="1A233A"/>
                </a:solidFill>
              </a:rPr>
              <a:t> </a:t>
            </a:r>
            <a:r>
              <a:rPr sz="950" b="0" i="0" dirty="0" err="1">
                <a:solidFill>
                  <a:srgbClr val="1A233A"/>
                </a:solidFill>
              </a:rPr>
              <a:t>구현</a:t>
            </a:r>
            <a:r>
              <a:rPr sz="950" b="0" i="0" dirty="0">
                <a:solidFill>
                  <a:srgbClr val="1A233A"/>
                </a:solidFill>
              </a:rPr>
              <a:t> (</a:t>
            </a:r>
            <a:r>
              <a:rPr sz="950" b="0" i="0" dirty="0" err="1">
                <a:solidFill>
                  <a:srgbClr val="1A233A"/>
                </a:solidFill>
              </a:rPr>
              <a:t>인원</a:t>
            </a:r>
            <a:r>
              <a:rPr sz="950" b="0" i="0" dirty="0">
                <a:solidFill>
                  <a:srgbClr val="1A233A"/>
                </a:solidFill>
              </a:rPr>
              <a:t> </a:t>
            </a:r>
            <a:r>
              <a:rPr sz="950" b="0" i="0" dirty="0" err="1">
                <a:solidFill>
                  <a:srgbClr val="1A233A"/>
                </a:solidFill>
              </a:rPr>
              <a:t>관리</a:t>
            </a:r>
            <a:r>
              <a:rPr sz="950" b="0" i="0" dirty="0">
                <a:solidFill>
                  <a:srgbClr val="1A233A"/>
                </a:solidFill>
              </a:rPr>
              <a:t>, </a:t>
            </a:r>
            <a:r>
              <a:rPr sz="950" b="0" i="0" dirty="0" err="1">
                <a:solidFill>
                  <a:srgbClr val="1A233A"/>
                </a:solidFill>
              </a:rPr>
              <a:t>기록</a:t>
            </a:r>
            <a:r>
              <a:rPr sz="950" b="0" i="0" dirty="0">
                <a:solidFill>
                  <a:srgbClr val="1A233A"/>
                </a:solidFill>
              </a:rPr>
              <a:t> </a:t>
            </a:r>
            <a:r>
              <a:rPr sz="950" b="0" i="0" dirty="0" err="1">
                <a:solidFill>
                  <a:srgbClr val="1A233A"/>
                </a:solidFill>
              </a:rPr>
              <a:t>처리</a:t>
            </a:r>
            <a:r>
              <a:rPr sz="950" b="0" i="0" dirty="0">
                <a:solidFill>
                  <a:srgbClr val="1A233A"/>
                </a:solidFill>
              </a:rPr>
              <a:t>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09360" y="4068117"/>
            <a:ext cx="5577840" cy="2294182"/>
          </a:xfrm>
          <a:prstGeom prst="rect">
            <a:avLst/>
          </a:prstGeom>
          <a:solidFill>
            <a:srgbClr val="FFFFFF"/>
          </a:solidFill>
          <a:ln w="6350">
            <a:solidFill>
              <a:srgbClr val="CC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446520" y="4113838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C3333"/>
                </a:solidFill>
              </a:rPr>
              <a:t>⚠️  주의 사항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46520" y="4516174"/>
            <a:ext cx="5303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56575"/>
                </a:solidFill>
              </a:rPr>
              <a:t>• 32/64비트 DLL 구분 필수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46520" y="4744774"/>
            <a:ext cx="5303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56575"/>
                </a:solidFill>
              </a:rPr>
              <a:t>• ActiveX(OCX)는 Windows 전용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6520" y="4973374"/>
            <a:ext cx="5303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56575"/>
                </a:solidFill>
              </a:rPr>
              <a:t>• A3-8190 HTTP 서버는 관리자 권한 필요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46520" y="5201974"/>
            <a:ext cx="5303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56575"/>
                </a:solidFill>
              </a:rPr>
              <a:t>• Keepalive 주기(15초) 내 명령 처리 필요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46520" y="5430574"/>
            <a:ext cx="5303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56575"/>
                </a:solidFill>
              </a:rPr>
              <a:t>• BigUser ID 모델은 별도 샘플 사용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1013</TotalTime>
  <Words>3006</Words>
  <Application>Microsoft Office PowerPoint</Application>
  <PresentationFormat>사용자 지정</PresentationFormat>
  <Paragraphs>389</Paragraphs>
  <Slides>16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16</vt:i4>
      </vt:variant>
    </vt:vector>
  </HeadingPairs>
  <TitlesOfParts>
    <vt:vector size="22" baseType="lpstr">
      <vt:lpstr>Mona Sans VF</vt:lpstr>
      <vt:lpstr>Monaspace Neon</vt:lpstr>
      <vt:lpstr>Arial</vt:lpstr>
      <vt:lpstr>Calibri</vt:lpstr>
      <vt:lpstr>Tahoma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Charlie Choi</cp:lastModifiedBy>
  <cp:revision>10</cp:revision>
  <dcterms:created xsi:type="dcterms:W3CDTF">2013-01-27T09:14:16Z</dcterms:created>
  <dcterms:modified xsi:type="dcterms:W3CDTF">2026-05-19T22:58:35Z</dcterms:modified>
  <cp:category/>
</cp:coreProperties>
</file>