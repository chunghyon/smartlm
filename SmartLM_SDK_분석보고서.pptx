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96" y="29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09728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413248"/>
            <a:ext cx="12188952" cy="1444752"/>
          </a:xfrm>
          <a:prstGeom prst="rect">
            <a:avLst/>
          </a:prstGeom>
          <a:solidFill>
            <a:srgbClr val="267A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0584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 dirty="0" err="1">
                <a:solidFill>
                  <a:srgbClr val="FFFFFF"/>
                </a:solidFill>
              </a:rPr>
              <a:t>SmartLM</a:t>
            </a:r>
            <a:r>
              <a:rPr sz="5200" b="1" i="0" dirty="0">
                <a:solidFill>
                  <a:srgbClr val="FFFFFF"/>
                </a:solidFill>
              </a:rPr>
              <a:t> SDK</a:t>
            </a:r>
            <a:r>
              <a:rPr lang="en-US" sz="5200" b="1" i="0" dirty="0">
                <a:solidFill>
                  <a:srgbClr val="FFFFFF"/>
                </a:solidFill>
              </a:rPr>
              <a:t> </a:t>
            </a:r>
            <a:r>
              <a:rPr lang="ko-KR" altLang="en-US" sz="5200" b="1" i="0" dirty="0">
                <a:solidFill>
                  <a:srgbClr val="FFFFFF"/>
                </a:solidFill>
              </a:rPr>
              <a:t>분석</a:t>
            </a:r>
            <a:endParaRPr sz="5200" b="1" i="0" dirty="0">
              <a:solidFill>
                <a:srgbClr val="FFFFFF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086100" y="2470541"/>
            <a:ext cx="40862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 err="1">
                <a:solidFill>
                  <a:srgbClr val="AACCFF"/>
                </a:solidFill>
              </a:rPr>
              <a:t>SmackBio</a:t>
            </a:r>
            <a:r>
              <a:rPr sz="1600" b="0" i="0" dirty="0">
                <a:solidFill>
                  <a:srgbClr val="AACCFF"/>
                </a:solidFill>
              </a:rPr>
              <a:t> </a:t>
            </a:r>
            <a:r>
              <a:rPr sz="1600" b="0" i="0" dirty="0" err="1">
                <a:solidFill>
                  <a:srgbClr val="AACCFF"/>
                </a:solidFill>
              </a:rPr>
              <a:t>생체인식</a:t>
            </a:r>
            <a:r>
              <a:rPr sz="1600" b="0" i="0" dirty="0">
                <a:solidFill>
                  <a:srgbClr val="AACCFF"/>
                </a:solidFill>
              </a:rPr>
              <a:t> </a:t>
            </a:r>
            <a:r>
              <a:rPr sz="1600" b="0" i="0" dirty="0" err="1">
                <a:solidFill>
                  <a:srgbClr val="AACCFF"/>
                </a:solidFill>
              </a:rPr>
              <a:t>디바이스</a:t>
            </a:r>
            <a:r>
              <a:rPr sz="1600" b="0" i="0" dirty="0">
                <a:solidFill>
                  <a:srgbClr val="AACCFF"/>
                </a:solidFill>
              </a:rPr>
              <a:t> SDK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577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SDK 20250611  |  WebSocketSDK 20250611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목차 (Table of Contents)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56692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26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548640" cy="914400"/>
          </a:xfrm>
          <a:prstGeom prst="rect">
            <a:avLst/>
          </a:prstGeom>
          <a:solidFill>
            <a:srgbClr val="267A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1280160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C6E"/>
                </a:solidFill>
              </a:rPr>
              <a:t>Repository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709928"/>
            <a:ext cx="4892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</a:rPr>
              <a:t>전체 구조 및 제품 소개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234440"/>
            <a:ext cx="56692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26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46520" y="1234440"/>
            <a:ext cx="548640" cy="914400"/>
          </a:xfrm>
          <a:prstGeom prst="rect">
            <a:avLst/>
          </a:prstGeom>
          <a:solidFill>
            <a:srgbClr val="267A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141732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04888" y="1280160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C6E"/>
                </a:solidFill>
              </a:rPr>
              <a:t>SDK 20250611 구조 분석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04888" y="1709928"/>
            <a:ext cx="4892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</a:rPr>
              <a:t>SBXPC / DLL 기반 Windows SDK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304288"/>
            <a:ext cx="56692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26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2304288"/>
            <a:ext cx="548640" cy="914400"/>
          </a:xfrm>
          <a:prstGeom prst="rect">
            <a:avLst/>
          </a:prstGeom>
          <a:solidFill>
            <a:srgbClr val="267A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2487168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2350008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C6E"/>
                </a:solidFill>
              </a:rPr>
              <a:t>WebSocket SDK 구조 분석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779776"/>
            <a:ext cx="4892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</a:rPr>
              <a:t>C# / PHP / Python 플랫폼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6520" y="2304288"/>
            <a:ext cx="56692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26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446520" y="2304288"/>
            <a:ext cx="548640" cy="914400"/>
          </a:xfrm>
          <a:prstGeom prst="rect">
            <a:avLst/>
          </a:prstGeom>
          <a:solidFill>
            <a:srgbClr val="267A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92240" y="2487168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04888" y="2350008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C6E"/>
                </a:solidFill>
              </a:rPr>
              <a:t>지원 디바이스 모델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2779776"/>
            <a:ext cx="4892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</a:rPr>
              <a:t>A30, A50, M30, M50, S100, S300/SB3600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374136"/>
            <a:ext cx="56692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26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57200" y="3374136"/>
            <a:ext cx="548640" cy="914400"/>
          </a:xfrm>
          <a:prstGeom prst="rect">
            <a:avLst/>
          </a:prstGeom>
          <a:solidFill>
            <a:srgbClr val="267A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3557016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" y="3419856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C6E"/>
                </a:solidFill>
              </a:rPr>
              <a:t>핵심 API 분류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" y="3849624"/>
            <a:ext cx="4892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</a:rPr>
              <a:t>연결·등록·로그·제어 API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46520" y="3374136"/>
            <a:ext cx="56692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26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46520" y="3374136"/>
            <a:ext cx="548640" cy="914400"/>
          </a:xfrm>
          <a:prstGeom prst="rect">
            <a:avLst/>
          </a:prstGeom>
          <a:solidFill>
            <a:srgbClr val="267A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92240" y="3557016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04888" y="3419856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C6E"/>
                </a:solidFill>
              </a:rPr>
              <a:t>통신 프로토콜 구조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04888" y="3849624"/>
            <a:ext cx="4892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</a:rPr>
              <a:t>XML 기반 메시지 포맷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443983"/>
            <a:ext cx="56692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26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57200" y="4443983"/>
            <a:ext cx="548640" cy="914400"/>
          </a:xfrm>
          <a:prstGeom prst="rect">
            <a:avLst/>
          </a:prstGeom>
          <a:solidFill>
            <a:srgbClr val="267A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02920" y="4626864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" y="448970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C6E"/>
                </a:solidFill>
              </a:rPr>
              <a:t>아키텍처 다이어그램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" y="4919471"/>
            <a:ext cx="4892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</a:rPr>
              <a:t>SDK 통합 흐름도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46520" y="4443983"/>
            <a:ext cx="56692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26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446520" y="4443983"/>
            <a:ext cx="548640" cy="914400"/>
          </a:xfrm>
          <a:prstGeom prst="rect">
            <a:avLst/>
          </a:prstGeom>
          <a:solidFill>
            <a:srgbClr val="267A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92240" y="4626864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04888" y="448970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C6E"/>
                </a:solidFill>
              </a:rPr>
              <a:t>새 프로젝트 생성 절차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04888" y="4919471"/>
            <a:ext cx="4892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</a:rPr>
              <a:t>단계별 가이드 (Traditional / WebSocket)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513831"/>
            <a:ext cx="56692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26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57200" y="5513831"/>
            <a:ext cx="548640" cy="914400"/>
          </a:xfrm>
          <a:prstGeom prst="rect">
            <a:avLst/>
          </a:prstGeom>
          <a:solidFill>
            <a:srgbClr val="267A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02920" y="5696712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5568" y="5559551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C6E"/>
                </a:solidFill>
              </a:rPr>
              <a:t>플랫폼별 빠른 시작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15568" y="5989319"/>
            <a:ext cx="4892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</a:rPr>
              <a:t>언어·프레임워크별 체크리스트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46520" y="5513831"/>
            <a:ext cx="56692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26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446520" y="5513831"/>
            <a:ext cx="548640" cy="914400"/>
          </a:xfrm>
          <a:prstGeom prst="rect">
            <a:avLst/>
          </a:prstGeom>
          <a:solidFill>
            <a:srgbClr val="267A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492240" y="5696712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04888" y="5559551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C6E"/>
                </a:solidFill>
              </a:rPr>
              <a:t>결론 및 권장 사항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04888" y="5989319"/>
            <a:ext cx="4892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</a:rPr>
              <a:t>채택 가이드라인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01  Repository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7"/>
                </a:solidFill>
              </a:rPr>
              <a:t>SmartLM | SmackBio 생체인식 디바이스 통합 SDK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303520" cy="5303520"/>
          </a:xfrm>
          <a:prstGeom prst="rect">
            <a:avLst/>
          </a:prstGeom>
          <a:solidFill>
            <a:srgbClr val="FFFFFF"/>
          </a:solidFill>
          <a:ln w="6350">
            <a:solidFill>
              <a:srgbClr val="26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303520" cy="411480"/>
          </a:xfrm>
          <a:prstGeom prst="rect">
            <a:avLst/>
          </a:prstGeom>
          <a:solidFill>
            <a:srgbClr val="1F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26187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📁  Repository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SmartLM/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2140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  ├─ SDK 20250611/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505456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  │    ├─ SBXPC/       (ActiveX OCX 소스)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88950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  │    ├─ bin/          (컴파일된 DLL/OCX)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7355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  │    ├─ doc/          (레퍼런스 매뉴얼)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5760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  │    └─ samples/      (다국어 샘플)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4164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  └─ WebSocketSDK 20250611/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425696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       ├─ WebSocketSDK/   (C#/.NET)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80974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       ├─ WebSocketSDK_7/ (레거시 .NET)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19379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       ├─ WebSocketSDK_PHP/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57784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       └─ WebSocketSDK_Python/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1234440"/>
            <a:ext cx="5897880" cy="5303520"/>
          </a:xfrm>
          <a:prstGeom prst="rect">
            <a:avLst/>
          </a:prstGeom>
          <a:solidFill>
            <a:srgbClr val="FFFFFF"/>
          </a:solidFill>
          <a:ln w="6350">
            <a:solidFill>
              <a:srgbClr val="26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989320" y="1234440"/>
            <a:ext cx="5897880" cy="411480"/>
          </a:xfrm>
          <a:prstGeom prst="rect">
            <a:avLst/>
          </a:prstGeom>
          <a:solidFill>
            <a:srgbClr val="1F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72200" y="126187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🔑  핵심 특징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1783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67ABF"/>
                </a:solidFill>
              </a:rPr>
              <a:t>제품 목적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1783080"/>
            <a:ext cx="39776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SmackBio 브랜드 생체인식 (지문·얼굴) 기기를
소프트웨어로 제어하기 위한 통합 SDK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249631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67ABF"/>
                </a:solidFill>
              </a:rPr>
              <a:t>SDK 유형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2496312"/>
            <a:ext cx="39776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① Traditional (Serial / TCP-IP / P2P)
② WebSocket 기반 (클라우드/원격 서버)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3209544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67ABF"/>
                </a:solidFill>
              </a:rPr>
              <a:t>지원 언어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3209544"/>
            <a:ext cx="39776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C#, VB.NET, Java, Delphi, VB6,
PHP (Workerman), Python (Django)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922776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67ABF"/>
                </a:solidFill>
              </a:rPr>
              <a:t>통신 방식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3922776"/>
            <a:ext cx="39776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XML 기반 메시지 프로토콜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463600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67ABF"/>
                </a:solidFill>
              </a:rPr>
              <a:t>플랫폼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4636008"/>
            <a:ext cx="39776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Windows (Traditional) + 크로스플랫폼 (WebSocket)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53492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67ABF"/>
                </a:solidFill>
              </a:rPr>
              <a:t>최신 버전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5349240"/>
            <a:ext cx="39776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SDK 20250611 / WebSocketSDK 20250611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02  SDK 20250611 구조 분석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7"/>
                </a:solidFill>
              </a:rPr>
              <a:t>전통적인 Windows DLL/ActiveX 기반 SDK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3749039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1F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3749039" cy="457200"/>
          </a:xfrm>
          <a:prstGeom prst="rect">
            <a:avLst/>
          </a:prstGeom>
          <a:solidFill>
            <a:srgbClr val="1F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79" y="1261872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SBXPC (ActiveX OCX)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COM/ActiveX 컴포넌트 형태의 컨트롤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5176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VB6, Delphi 등 레거시 언어 지원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7472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COM 이벤트로 디바이스 이벤트 수신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2976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OnReceiveEventXML 이벤트 처리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2064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SBXPC.ocx 등록 후 사용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70248" y="1234440"/>
            <a:ext cx="3749039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26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270248" y="1234440"/>
            <a:ext cx="3749039" cy="457200"/>
          </a:xfrm>
          <a:prstGeom prst="rect">
            <a:avLst/>
          </a:prstGeom>
          <a:solidFill>
            <a:srgbClr val="267A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61688" y="1261872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SBXPCDLL (Native DLL)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182880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C/C++ 네이티브 DLL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265176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C#, Java, Delphi 등 직접 호출 가능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347472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32비트 / 64비트 버전 제공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42976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콜백(Callback) 기반 이벤트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512064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SBXPCDLL.dll / SBXPCDLL64.dll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0456" y="1234440"/>
            <a:ext cx="3749039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220456" y="1234440"/>
            <a:ext cx="3749039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11896" y="1261872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샘플 프로젝트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57616" y="182880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C# WinForms 샘플 (가장 풍부)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7616" y="265176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VB.NET, VB6 샘플 포함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57616" y="347472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Java 샘플 제공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6" y="42976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Delphi 샘플 제공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57616" y="512064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BigUser ID 변형 샘플 별도 제공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03  WebSocket SDK 구조 분석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7"/>
                </a:solidFill>
              </a:rPr>
              <a:t>클라우드·웹 환경에서 디바이스를 연결하는 현대적 SDK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3749039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1F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3749039" cy="502920"/>
          </a:xfrm>
          <a:prstGeom prst="rect">
            <a:avLst/>
          </a:prstGeom>
          <a:solidFill>
            <a:srgbClr val="1F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79" y="1243584"/>
            <a:ext cx="3566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</a:rPr>
              <a:t>C# / ASP.NET
(WebSocketSDK)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Microsoft.Web.WebSockets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14600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SmackBio.WebSocketSDK 라이브러리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200400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IDeviceLoginManager 인터페이스 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86200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SessionRegistry 세션 관리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572000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SBWebSocketHandler 핵심 핸들러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257800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ASP.NET Web Application 배포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943600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온라인 디바이스 / 로그 조회 UI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1234440"/>
            <a:ext cx="3749039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26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270248" y="1234440"/>
            <a:ext cx="3749039" cy="502920"/>
          </a:xfrm>
          <a:prstGeom prst="rect">
            <a:avLst/>
          </a:prstGeom>
          <a:solidFill>
            <a:srgbClr val="267A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61688" y="1243584"/>
            <a:ext cx="3566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</a:rPr>
              <a:t>PHP
(WebSocketSDK_PHP)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1828800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Workerman WebSocket 서버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2514600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ws_server.php — 서버 구동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3200400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ws_connection.php — 연결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07408" y="3886200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ws_dev_event.php — 이벤트 처리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7408" y="4572000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PHP 웹 프론트엔드 포함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7408" y="5257800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1단계: Workerman 다운로드 (.bat)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5943600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2단계: WebSocket 서버 실행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0456" y="1234440"/>
            <a:ext cx="3749039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20456" y="1234440"/>
            <a:ext cx="3749039" cy="5029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311896" y="1243584"/>
            <a:ext cx="3566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</a:rPr>
              <a:t>Python / Django
(WebSocketSDK_Python)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57616" y="1828800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Django 웹 프레임워크 기반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2514600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sdkdemoapp 앱 구조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3200400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biz/ 비즈니스 로직 분리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57616" y="3886200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manage.py 표준 Django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57616" y="4572000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2.run_web_app.bat 실행 스크립트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57616" y="5257800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REST API + WebSocket 혼용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57616" y="5943600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Getting Started 문서 제공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04  지원 디바이스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7"/>
                </a:solidFill>
              </a:rPr>
              <a:t>SmackBio 디바이스 라인업 및 SDK 지원 범위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36576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26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280160"/>
            <a:ext cx="3657600" cy="475488"/>
          </a:xfrm>
          <a:prstGeom prst="rect">
            <a:avLst/>
          </a:prstGeom>
          <a:solidFill>
            <a:srgbClr val="267A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316736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A30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389888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소형 지문인식기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847088"/>
            <a:ext cx="33832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• 지문 1:N 인증
• 직렬/TCP-IP 통신
• 경량 임베디드 타입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280160"/>
            <a:ext cx="36576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97680" y="1280160"/>
            <a:ext cx="3657600" cy="475488"/>
          </a:xfrm>
          <a:prstGeom prst="rect">
            <a:avLst/>
          </a:prstGeom>
          <a:solidFill>
            <a:srgbClr val="1F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34840" y="1316736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A50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389888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고급 지문인식기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1847088"/>
            <a:ext cx="33832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• A30 기능 포함
• 향상된 인증 속도
• 더 큰 등록 용량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280160"/>
            <a:ext cx="36576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29600" y="1280160"/>
            <a:ext cx="3657600" cy="4754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66760" y="1316736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M30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1389888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멀티모달 인증기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1847088"/>
            <a:ext cx="33832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• 지문 + PIN 인증
• 도어 제어 기능
• Bell 타이머 지원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931920"/>
            <a:ext cx="36576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7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5760" y="3931920"/>
            <a:ext cx="3657600" cy="475488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" y="3968496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M50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7440" y="4041648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멀티모달 고급형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498848"/>
            <a:ext cx="33832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• M30 기능 포함
• BigUser ID 지원
• GPS 로그 지원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80" y="3931920"/>
            <a:ext cx="36576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297680" y="3931920"/>
            <a:ext cx="3657600" cy="47548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434840" y="3968496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S100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041648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스마트 출입 단말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4498848"/>
            <a:ext cx="33832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• 스마트 카드 지원
• 얼굴인식 옵션
• 고용량 사용자 DB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3931920"/>
            <a:ext cx="36576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667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229600" y="3931920"/>
            <a:ext cx="3657600" cy="475488"/>
          </a:xfrm>
          <a:prstGeom prst="rect">
            <a:avLst/>
          </a:prstGeom>
          <a:solidFill>
            <a:srgbClr val="166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366760" y="3968496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S300 / SB3600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0" y="4041648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엔터프라이즈 단말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4498848"/>
            <a:ext cx="33832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• 최대 사용자 등록
• 36자 알파벳 ID
• 12자리 ID 지원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05  핵심 API 분류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7"/>
                </a:solidFill>
              </a:rPr>
              <a:t>SBXPC / SBXPCDLL 주요 함수 그룹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278892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1F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2788920" cy="457200"/>
          </a:xfrm>
          <a:prstGeom prst="rect">
            <a:avLst/>
          </a:prstGeom>
          <a:solidFill>
            <a:srgbClr val="1F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93192" y="1252728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🔌  연결 관리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1810512"/>
            <a:ext cx="26060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ConnectSerial() — 직렬 포트 연결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651760"/>
            <a:ext cx="26060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ConnectTcpip()  — TCP/IP 연결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3493008"/>
            <a:ext cx="26060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ConnectP2p()    — P2P 서버 연결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4334256"/>
            <a:ext cx="26060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Disconnect() / DisconnectAll()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5175504"/>
            <a:ext cx="26060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StartEventCapture() / Stop()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64408" y="1234440"/>
            <a:ext cx="278892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26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64408" y="1234440"/>
            <a:ext cx="2788920" cy="457200"/>
          </a:xfrm>
          <a:prstGeom prst="rect">
            <a:avLst/>
          </a:prstGeom>
          <a:solidFill>
            <a:srgbClr val="267A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337560" y="1252728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👤  사용자 등록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55848" y="1810512"/>
            <a:ext cx="26060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GetEnrollData() / SetEnrollData()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55848" y="2651760"/>
            <a:ext cx="26060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DeleteEnrollData()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55848" y="3493008"/>
            <a:ext cx="26060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ReadAllUserID() / GetAllUserID()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55848" y="4334256"/>
            <a:ext cx="26060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EnableUser() — 사용자 활성화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55848" y="5175504"/>
            <a:ext cx="26060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ModifyPrivilege() — 권한 변경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08776" y="1234440"/>
            <a:ext cx="278892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08776" y="1234440"/>
            <a:ext cx="278892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81928" y="1252728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📋  로그 조회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216" y="1810512"/>
            <a:ext cx="26060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ReadGeneralLogData() — 출입 로그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0216" y="2651760"/>
            <a:ext cx="26060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ReadSuperLogData()   — 관리자 로그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493008"/>
            <a:ext cx="26060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ReadGLogWithPos()    — 위치 기반 로그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4334256"/>
            <a:ext cx="26060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GetGeneralLogData_GPS() — GPS 로그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5175504"/>
            <a:ext cx="26060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GetGeneralLogData_Ext() — 확장 로그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53144" y="1234440"/>
            <a:ext cx="278892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E87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9153144" y="1234440"/>
            <a:ext cx="2788920" cy="457200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226296" y="1252728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⚙️  디바이스 제어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44584" y="1810512"/>
            <a:ext cx="26060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SetDeviceInfo() / GetDeviceInfo()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44584" y="2651760"/>
            <a:ext cx="26060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GetDeviceTime() / SetDeviceTime()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44584" y="3493008"/>
            <a:ext cx="26060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EnableDevice()  — 디바이스 ON/OFF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44584" y="4334256"/>
            <a:ext cx="26060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GetSerialNumber() / GetProductCode()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44584" y="5175504"/>
            <a:ext cx="26060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GeneralOperationXML() — XML 범용 명령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06  통신 프로토콜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7"/>
                </a:solidFill>
              </a:rPr>
              <a:t>XML 기반 메시지 포맷 및 WebSocket 이벤트 종류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669280" cy="5303520"/>
          </a:xfrm>
          <a:prstGeom prst="rect">
            <a:avLst/>
          </a:prstGeom>
          <a:solidFill>
            <a:srgbClr val="FFFFFF"/>
          </a:solidFill>
          <a:ln w="6350">
            <a:solidFill>
              <a:srgbClr val="1F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669280" cy="411480"/>
          </a:xfrm>
          <a:prstGeom prst="rect">
            <a:avLst/>
          </a:prstGeom>
          <a:solidFill>
            <a:srgbClr val="1F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26187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XML 메시지 포맷 예시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67ABF"/>
                </a:solidFill>
              </a:rPr>
              <a:t>등록 메시지 (디바이스 → 서버)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11679"/>
            <a:ext cx="5486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&lt;?xml version="1.0"?&gt;
&lt;Message&gt;
  &lt;Register&gt;S300&lt;/Register&gt;
  &lt;SerialNo&gt;SB12345678&lt;/SerialNo&gt;
  &lt;CloudId&gt;your-cloud-id&lt;/CloudId&gt;
&lt;/Message&gt;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03580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67ABF"/>
                </a:solidFill>
              </a:rPr>
              <a:t>로그인 메시지 (디바이스 → 서버)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310127"/>
            <a:ext cx="5486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&lt;?xml version="1.0"?&gt;
&lt;Message&gt;
  &lt;Login&gt;S300&lt;/Login&gt;
  &lt;SerialNo&gt;SB12345678&lt;/SerialNo&gt;
  &lt;Token&gt;token-string&lt;/Token&gt;
&lt;/Message&gt;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334256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67ABF"/>
                </a:solidFill>
              </a:rPr>
              <a:t>출입 이벤트 (디바이스 → 서버)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608576"/>
            <a:ext cx="5486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&lt;?xml version="1.0"?&gt;
&lt;Message&gt;
  &lt;Event&gt;TimeLog&lt;/Event&gt;
  &lt;UserID&gt;00001&lt;/UserID&gt;
  &lt;DateTime&gt;20250101120000&lt;/DateTime&gt;
&lt;/Message&gt;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234440"/>
            <a:ext cx="5577840" cy="5303520"/>
          </a:xfrm>
          <a:prstGeom prst="rect">
            <a:avLst/>
          </a:prstGeom>
          <a:solidFill>
            <a:srgbClr val="FFFFFF"/>
          </a:solidFill>
          <a:ln w="6350">
            <a:solidFill>
              <a:srgbClr val="26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9360" y="1234440"/>
            <a:ext cx="5577840" cy="411480"/>
          </a:xfrm>
          <a:prstGeom prst="rect">
            <a:avLst/>
          </a:prstGeom>
          <a:solidFill>
            <a:srgbClr val="267A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1261872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WebSocket 이벤트 및 통신 유형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1783080"/>
            <a:ext cx="91440" cy="320040"/>
          </a:xfrm>
          <a:prstGeom prst="rect">
            <a:avLst/>
          </a:prstGeom>
          <a:solidFill>
            <a:srgbClr val="1F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37960" y="178308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3C6E"/>
                </a:solidFill>
              </a:rPr>
              <a:t>TimeLog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17830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출입 기록 이벤트 (v1/v2)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249424"/>
            <a:ext cx="91440" cy="320040"/>
          </a:xfrm>
          <a:prstGeom prst="rect">
            <a:avLst/>
          </a:prstGeom>
          <a:solidFill>
            <a:srgbClr val="1F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37960" y="224942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3C6E"/>
                </a:solidFill>
              </a:rPr>
              <a:t>AdminLog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2249424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관리자 조작 이벤트 (v1/v2)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2715768"/>
            <a:ext cx="91440" cy="3200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37960" y="271576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7AE60"/>
                </a:solidFill>
              </a:rPr>
              <a:t>KeepAlive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271576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세션 유지 하트비트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182112"/>
            <a:ext cx="91440" cy="320040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37960" y="318211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7D1E"/>
                </a:solidFill>
              </a:rPr>
              <a:t>Register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318211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디바이스 초기 등록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648456"/>
            <a:ext cx="91440" cy="320040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37960" y="3648456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7D1E"/>
                </a:solidFill>
              </a:rPr>
              <a:t>Login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364845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디바이스 로그인 인증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114800"/>
            <a:ext cx="91440" cy="32004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37960" y="4114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66666"/>
                </a:solidFill>
              </a:rPr>
              <a:t>GetTime / SetTime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640" y="4114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시간 동기화 명령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4581144"/>
            <a:ext cx="91440" cy="32004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537960" y="458114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66666"/>
                </a:solidFill>
              </a:rPr>
              <a:t>EnableDevice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9640" y="4581144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디바이스 활성/비활성화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5047488"/>
            <a:ext cx="91440" cy="32004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537960" y="504748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66666"/>
                </a:solidFill>
              </a:rPr>
              <a:t>GetUserBalance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9640" y="504748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잔여 시간 조회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5513832"/>
            <a:ext cx="91440" cy="32004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537960" y="551383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66666"/>
                </a:solidFill>
              </a:rPr>
              <a:t>SetEthernet / SetWiFi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49640" y="55138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네트워크 설정 변경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0" y="5980176"/>
            <a:ext cx="91440" cy="32004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537960" y="5980176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66666"/>
                </a:solidFill>
              </a:rPr>
              <a:t>SetVideoStream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9640" y="598017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영상 스트림 설정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07  아키텍처 다이어그램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7"/>
                </a:solidFill>
              </a:rPr>
              <a:t>SDK 통합 흐름 개요 (Traditional SDK vs WebSocket SDK)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539496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1F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5394960" cy="411480"/>
          </a:xfrm>
          <a:prstGeom prst="rect">
            <a:avLst/>
          </a:prstGeom>
          <a:solidFill>
            <a:srgbClr val="1F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20700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Traditional SDK 흐름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783080"/>
            <a:ext cx="3108960" cy="804672"/>
          </a:xfrm>
          <a:prstGeom prst="rect">
            <a:avLst/>
          </a:prstGeom>
          <a:solidFill>
            <a:srgbClr val="D6E4F7"/>
          </a:solidFill>
          <a:ln w="12700">
            <a:solidFill>
              <a:srgbClr val="1F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828800"/>
            <a:ext cx="3017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3C6E"/>
                </a:solidFill>
              </a:rPr>
              <a:t>🖥️  응용 프로그램
(C# / VB.NET / Java / Delphi)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2606040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66666"/>
                </a:solidFill>
              </a:rPr>
              <a:t>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2880360"/>
            <a:ext cx="3108960" cy="804672"/>
          </a:xfrm>
          <a:prstGeom prst="rect">
            <a:avLst/>
          </a:prstGeom>
          <a:solidFill>
            <a:srgbClr val="D6E4F7"/>
          </a:solidFill>
          <a:ln w="12700">
            <a:solidFill>
              <a:srgbClr val="26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2926079"/>
            <a:ext cx="3017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67ABF"/>
                </a:solidFill>
              </a:rPr>
              <a:t>📦  SBXPCDLL.dll
또는 SBXPC.ocx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3703320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66666"/>
                </a:solidFill>
              </a:rPr>
              <a:t>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3977639"/>
            <a:ext cx="3108960" cy="804672"/>
          </a:xfrm>
          <a:prstGeom prst="rect">
            <a:avLst/>
          </a:prstGeom>
          <a:solidFill>
            <a:srgbClr val="D6E4F7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023359"/>
            <a:ext cx="3017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7AE60"/>
                </a:solidFill>
              </a:rPr>
              <a:t>📡  통신 계층
(Serial / TCP-IP / P2P)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4800600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66666"/>
                </a:solidFill>
              </a:rPr>
              <a:t>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074920"/>
            <a:ext cx="3108960" cy="804672"/>
          </a:xfrm>
          <a:prstGeom prst="rect">
            <a:avLst/>
          </a:prstGeom>
          <a:solidFill>
            <a:srgbClr val="D6E4F7"/>
          </a:solidFill>
          <a:ln w="12700">
            <a:solidFill>
              <a:srgbClr val="E87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5120640"/>
            <a:ext cx="3017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87D1E"/>
                </a:solidFill>
              </a:rPr>
              <a:t>🔑  SmackBio 디바이스
(A30/A50/M30/M50/S300…)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188720"/>
            <a:ext cx="566928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26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0" y="1188720"/>
            <a:ext cx="5669280" cy="411480"/>
          </a:xfrm>
          <a:prstGeom prst="rect">
            <a:avLst/>
          </a:prstGeom>
          <a:solidFill>
            <a:srgbClr val="267A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0" y="120700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WebSocket SDK 흐름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63840" y="1783080"/>
            <a:ext cx="3291840" cy="804672"/>
          </a:xfrm>
          <a:prstGeom prst="rect">
            <a:avLst/>
          </a:prstGeom>
          <a:solidFill>
            <a:srgbClr val="D6E4F7"/>
          </a:solidFill>
          <a:ln w="12700">
            <a:solidFill>
              <a:srgbClr val="1F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909560" y="1828800"/>
            <a:ext cx="3200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3C6E"/>
                </a:solidFill>
              </a:rPr>
              <a:t>🖥️  웹 브라우저 / 클라이언트
(ASP.NET / PHP / Python)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2606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666666"/>
                </a:solidFill>
              </a:rPr>
              <a:t>↕  (WebSocket)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2880360"/>
            <a:ext cx="3291840" cy="804672"/>
          </a:xfrm>
          <a:prstGeom prst="rect">
            <a:avLst/>
          </a:prstGeom>
          <a:solidFill>
            <a:srgbClr val="D6E4F7"/>
          </a:solidFill>
          <a:ln w="12700">
            <a:solidFill>
              <a:srgbClr val="26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909560" y="2926079"/>
            <a:ext cx="3200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67ABF"/>
                </a:solidFill>
              </a:rPr>
              <a:t>🌐  WebSocket Server
(SBWebSocketHandler)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6840" y="370332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66666"/>
                </a:solidFill>
              </a:rPr>
              <a:t>↕  (WebSocket)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63840" y="3977639"/>
            <a:ext cx="3291840" cy="804672"/>
          </a:xfrm>
          <a:prstGeom prst="rect">
            <a:avLst/>
          </a:prstGeom>
          <a:solidFill>
            <a:srgbClr val="D6E4F7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909560" y="4023359"/>
            <a:ext cx="3200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7AE60"/>
                </a:solidFill>
              </a:rPr>
              <a:t>🔒  인증 레이어
(IDeviceLoginManager)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48006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666666"/>
                </a:solidFill>
              </a:rPr>
              <a:t>↕  (WebSocket)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63840" y="5074920"/>
            <a:ext cx="3291840" cy="804672"/>
          </a:xfrm>
          <a:prstGeom prst="rect">
            <a:avLst/>
          </a:prstGeom>
          <a:solidFill>
            <a:srgbClr val="D6E4F7"/>
          </a:solidFill>
          <a:ln w="12700">
            <a:solidFill>
              <a:srgbClr val="E87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909560" y="5120640"/>
            <a:ext cx="3200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87D1E"/>
                </a:solidFill>
              </a:rPr>
              <a:t>🔑  SmackBio 디바이스
(WebSocket 클라이언트)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08-A  새 프로젝트 생성 절차  ①  Traditional SDK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7"/>
                </a:solidFill>
              </a:rPr>
              <a:t>SBXPCDLL / SBXPC.ocx 를 사용하는 Windows 네이티브 애플리케이션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669280" cy="2468880"/>
          </a:xfrm>
          <a:prstGeom prst="rect">
            <a:avLst/>
          </a:prstGeom>
          <a:solidFill>
            <a:srgbClr val="FFFFFF"/>
          </a:solidFill>
          <a:ln w="7620">
            <a:solidFill>
              <a:srgbClr val="1F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914400" cy="2468880"/>
          </a:xfrm>
          <a:prstGeom prst="rect">
            <a:avLst/>
          </a:prstGeom>
          <a:solidFill>
            <a:srgbClr val="1F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59" y="196596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28016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C6E"/>
                </a:solidFill>
              </a:rPr>
              <a:t>개발 환경 준비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691640"/>
            <a:ext cx="4480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• Visual Studio (C# / VB.NET) 또는 선호 IDE 설치
• SDK bin/ 디렉토리에서 필요한 파일 복사:
  32비트: SBXPCDLL.dll, SBXPC.ocx, SBPCCOMM.dll, GEN_FONT.dll
  64비트: SBXPCDLL64.dll, SBPCCOMM64.dll, GEN_FONT64.dll
• 대상 플랫폼(x86/x64) 결정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59" y="1234440"/>
            <a:ext cx="5669280" cy="2468880"/>
          </a:xfrm>
          <a:prstGeom prst="rect">
            <a:avLst/>
          </a:prstGeom>
          <a:solidFill>
            <a:srgbClr val="FFFFFF"/>
          </a:solidFill>
          <a:ln w="7620">
            <a:solidFill>
              <a:srgbClr val="1F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09359" y="1234440"/>
            <a:ext cx="914400" cy="2468880"/>
          </a:xfrm>
          <a:prstGeom prst="rect">
            <a:avLst/>
          </a:prstGeom>
          <a:solidFill>
            <a:srgbClr val="1F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55079" y="196596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128016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C6E"/>
                </a:solidFill>
              </a:rPr>
              <a:t>프로젝트 생성 및 DLL 참조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1691640"/>
            <a:ext cx="4480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• 새 Windows Forms / Console 프로젝트 생성
• [DLL 방식] P/Invoke 또는 DllImport로 SBXPCDLL(_64).dll 참조
  — SBXPCDLL_API.h 헤더 파일 참고
• [OCX 방식] 도구 상자 → COM 컴포넌트 추가 → SBXPC.ocx 등록
  — regsvr32 SBXPC.ocx 명령으로 시스템 등록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886200"/>
            <a:ext cx="5669280" cy="2468880"/>
          </a:xfrm>
          <a:prstGeom prst="rect">
            <a:avLst/>
          </a:prstGeom>
          <a:solidFill>
            <a:srgbClr val="FFFFFF"/>
          </a:solidFill>
          <a:ln w="7620">
            <a:solidFill>
              <a:srgbClr val="1F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0040" y="3886200"/>
            <a:ext cx="914400" cy="2468880"/>
          </a:xfrm>
          <a:prstGeom prst="rect">
            <a:avLst/>
          </a:prstGeom>
          <a:solidFill>
            <a:srgbClr val="1F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5759" y="46177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93192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C6E"/>
                </a:solidFill>
              </a:rPr>
              <a:t>디바이스 타입 설정 및 연결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4343400"/>
            <a:ext cx="4480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• _SetMachineType(machineNum, "S300")  — 대상 모델 지정
• 연결 방식 선택:
  직렬: _ConnectSerial(machineNum, commPort, baudRate)
  TCP/IP: _ConnectTcpip(machineNum, ipAddr, port, password)
  P2P: _ConnectP2p(machineID, serverIP, serverPort, pw, &amp;err)
• 연결 실패 시 _GetLastError()로 오류 코드 확인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59" y="3886200"/>
            <a:ext cx="5669280" cy="2468880"/>
          </a:xfrm>
          <a:prstGeom prst="rect">
            <a:avLst/>
          </a:prstGeom>
          <a:solidFill>
            <a:srgbClr val="FFFFFF"/>
          </a:solidFill>
          <a:ln w="7620">
            <a:solidFill>
              <a:srgbClr val="1F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309359" y="3886200"/>
            <a:ext cx="914400" cy="2468880"/>
          </a:xfrm>
          <a:prstGeom prst="rect">
            <a:avLst/>
          </a:prstGeom>
          <a:solidFill>
            <a:srgbClr val="1F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55079" y="46177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93192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C6E"/>
                </a:solidFill>
              </a:rPr>
              <a:t>이벤트 캡처 및 비즈니스 로직 구현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4343400"/>
            <a:ext cx="4480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• 이벤트 캡처 시작: _StartEventCapture(commType, param1, param2, cb, ctx)
• 콜백 함수에서 XML 파싱 → _XML_ParseString() 등 헬퍼 활용
• 등록: _GetEnrollData() / _SetEnrollData()
• 로그 조회: _ReadGeneralLogData() → _GetGeneralLogData() 반복
• 디바이스 제어: _EnableDevice(), _SetDeviceTime() 등
• 완료 후 _StopEventCapture() 및 _Disconnect()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08-B  새 프로젝트 생성 절차  ②  WebSocket SDK (C#/.NET)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7"/>
                </a:solidFill>
              </a:rPr>
              <a:t>SmackBio.WebSocketSDK 라이브러리 기반 ASP.NET 웹 서버 구축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669280" cy="2468880"/>
          </a:xfrm>
          <a:prstGeom prst="rect">
            <a:avLst/>
          </a:prstGeom>
          <a:solidFill>
            <a:srgbClr val="FFFFFF"/>
          </a:solidFill>
          <a:ln w="7620">
            <a:solidFill>
              <a:srgbClr val="26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914400" cy="2468880"/>
          </a:xfrm>
          <a:prstGeom prst="rect">
            <a:avLst/>
          </a:prstGeom>
          <a:solidFill>
            <a:srgbClr val="267A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59" y="196596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28016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67ABF"/>
                </a:solidFill>
              </a:rPr>
              <a:t>솔루션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691640"/>
            <a:ext cx="4480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• Visual Studio 에서 ASP.NET Web Application 프로젝트 생성
• SmackBio.WebSocketSDK.csproj를 솔루션에 추가 또는
  NuGet 없이 직접 프로젝트 참조 추가
• Microsoft.Web.WebSockets NuGet 패키지 설치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59" y="1234440"/>
            <a:ext cx="5669280" cy="2468880"/>
          </a:xfrm>
          <a:prstGeom prst="rect">
            <a:avLst/>
          </a:prstGeom>
          <a:solidFill>
            <a:srgbClr val="FFFFFF"/>
          </a:solidFill>
          <a:ln w="7620">
            <a:solidFill>
              <a:srgbClr val="26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09359" y="1234440"/>
            <a:ext cx="914400" cy="2468880"/>
          </a:xfrm>
          <a:prstGeom prst="rect">
            <a:avLst/>
          </a:prstGeom>
          <a:solidFill>
            <a:srgbClr val="267A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55079" y="196596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128016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67ABF"/>
                </a:solidFill>
              </a:rPr>
              <a:t>IDeviceLoginManager 구현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1691640"/>
            <a:ext cx="4480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• IDeviceLoginManager 인터페이스 상속 클래스 작성
• GetRegisterInfo(terminalType, serialNo) → 토큰 반환
• Verify(serialNo, token) → bool 반환
• OnDeviceEvent(xml) → 출입·관리자 로그 처리
• Web.config에 smackbio.websocketsdk.deviceLoginManager 등록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886200"/>
            <a:ext cx="5669280" cy="2468880"/>
          </a:xfrm>
          <a:prstGeom prst="rect">
            <a:avLst/>
          </a:prstGeom>
          <a:solidFill>
            <a:srgbClr val="FFFFFF"/>
          </a:solidFill>
          <a:ln w="7620">
            <a:solidFill>
              <a:srgbClr val="26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0040" y="3886200"/>
            <a:ext cx="914400" cy="2468880"/>
          </a:xfrm>
          <a:prstGeom prst="rect">
            <a:avLst/>
          </a:prstGeom>
          <a:solidFill>
            <a:srgbClr val="267A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5759" y="46177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93192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67ABF"/>
                </a:solidFill>
              </a:rPr>
              <a:t>WebSocket 엔드포인트 등록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4343400"/>
            <a:ext cx="4480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• GenericHandler.ashx 또는 Global.asax 에서
  WebSocketHandler 경로 매핑
• SessionRegistry 로 연결된 디바이스 목록 관리
• check_cloud_id / valid_cloud_id 설정으로 보안 강화
• Web.config — connectionStrings로 DB 연결 설정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59" y="3886200"/>
            <a:ext cx="5669280" cy="2468880"/>
          </a:xfrm>
          <a:prstGeom prst="rect">
            <a:avLst/>
          </a:prstGeom>
          <a:solidFill>
            <a:srgbClr val="FFFFFF"/>
          </a:solidFill>
          <a:ln w="7620">
            <a:solidFill>
              <a:srgbClr val="26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309359" y="3886200"/>
            <a:ext cx="914400" cy="2468880"/>
          </a:xfrm>
          <a:prstGeom prst="rect">
            <a:avLst/>
          </a:prstGeom>
          <a:solidFill>
            <a:srgbClr val="267A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55079" y="46177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93192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67ABF"/>
                </a:solidFill>
              </a:rPr>
              <a:t>UI 페이지 개발 및 디바이스 명령 전송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4343400"/>
            <a:ext cx="4480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• ViewOnlineDevices.aspx — 온라인 디바이스 목록
• ViewDeviceEvents.aspx — 실시간 이벤트 조회
• ViewRegisterDevices.aspx — 디바이스 등록 관리
• session.ExecuteCommand(page, xmlCmd, onResp, onErr)
• Cmd/ 폴더의 CmdGetTime, CmdSetTime 등 활용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08-C  새 프로젝트 생성 절차  ③  PHP / 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7"/>
                </a:solidFill>
              </a:rPr>
              <a:t>Workerman(PHP) 또는 Django(Python) 기반 WebSocket 서버 구축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486400" cy="5349240"/>
          </a:xfrm>
          <a:prstGeom prst="rect">
            <a:avLst/>
          </a:prstGeom>
          <a:solidFill>
            <a:srgbClr val="FFFFFF"/>
          </a:solidFill>
          <a:ln w="7620">
            <a:solidFill>
              <a:srgbClr val="26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486400" cy="438912"/>
          </a:xfrm>
          <a:prstGeom prst="rect">
            <a:avLst/>
          </a:prstGeom>
          <a:solidFill>
            <a:srgbClr val="267A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252728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PHP (Workerman) 프로젝트 절차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783080"/>
            <a:ext cx="384048" cy="566928"/>
          </a:xfrm>
          <a:prstGeom prst="rect">
            <a:avLst/>
          </a:prstGeom>
          <a:solidFill>
            <a:srgbClr val="267A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8912" y="1828800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180136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C6E"/>
                </a:solidFill>
              </a:rPr>
              <a:t>환경 준비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2130552"/>
            <a:ext cx="4754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PHP 7+ 설치, Composer 설치
WebSocketSDK_PHP 디렉토리 복사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578608"/>
            <a:ext cx="384048" cy="566928"/>
          </a:xfrm>
          <a:prstGeom prst="rect">
            <a:avLst/>
          </a:prstGeom>
          <a:solidFill>
            <a:srgbClr val="267A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8912" y="2624328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259689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C6E"/>
                </a:solidFill>
              </a:rPr>
              <a:t>Workerman 다운로드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2926080"/>
            <a:ext cx="4754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0.download_workerman.bat 실행
또는 composer install 수동 실행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374136"/>
            <a:ext cx="384048" cy="566928"/>
          </a:xfrm>
          <a:prstGeom prst="rect">
            <a:avLst/>
          </a:prstGeom>
          <a:solidFill>
            <a:srgbClr val="267A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8912" y="3419856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339242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C6E"/>
                </a:solidFill>
              </a:rPr>
              <a:t>서버 설정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3721608"/>
            <a:ext cx="4754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config.inc.php 에서
DB 연결, 포트, 클라우드 ID 설정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169663"/>
            <a:ext cx="384048" cy="566928"/>
          </a:xfrm>
          <a:prstGeom prst="rect">
            <a:avLst/>
          </a:prstGeom>
          <a:solidFill>
            <a:srgbClr val="267A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8912" y="4215383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418795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C6E"/>
                </a:solidFill>
              </a:rPr>
              <a:t>비즈니스 로직 구현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517136"/>
            <a:ext cx="4754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ws_dev_event.php — 이벤트 처리 로직
ws_connection.php — 세션 관리 커스터마이징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965192"/>
            <a:ext cx="384048" cy="566928"/>
          </a:xfrm>
          <a:prstGeom prst="rect">
            <a:avLst/>
          </a:prstGeom>
          <a:solidFill>
            <a:srgbClr val="267A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8912" y="5010912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" y="498348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C6E"/>
                </a:solidFill>
              </a:rPr>
              <a:t>서버 실행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" y="5312664"/>
            <a:ext cx="4754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1.run_ws_server.bat → WebSocket 서버 기동
2.run_web_server.bat → 웹 서버 기동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5760720"/>
            <a:ext cx="384048" cy="566928"/>
          </a:xfrm>
          <a:prstGeom prst="rect">
            <a:avLst/>
          </a:prstGeom>
          <a:solidFill>
            <a:srgbClr val="267A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38912" y="5806440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5779007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C6E"/>
                </a:solidFill>
              </a:rPr>
              <a:t>UI 개발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" y="6108192"/>
            <a:ext cx="4754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wwwroot/ 폴더 내 PHP 페이지 수정
user_manage.php 등 참고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63640" y="1234440"/>
            <a:ext cx="5577840" cy="5349240"/>
          </a:xfrm>
          <a:prstGeom prst="rect">
            <a:avLst/>
          </a:prstGeom>
          <a:solidFill>
            <a:srgbClr val="FFFFFF"/>
          </a:solidFill>
          <a:ln w="762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63640" y="1234440"/>
            <a:ext cx="5577840" cy="43891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46520" y="125272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Python (Django) 프로젝트 절차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1783080"/>
            <a:ext cx="384048" cy="56692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382512" y="1828800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180136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7A40"/>
                </a:solidFill>
              </a:rPr>
              <a:t>환경 준비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2130552"/>
            <a:ext cx="4846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Python 3.8+ / pip 설치
virtualenv 또는 conda 환경 생성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55080" y="2578608"/>
            <a:ext cx="384048" cy="56692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382512" y="2624328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259689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7A40"/>
                </a:solidFill>
              </a:rPr>
              <a:t>패키지 설치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2926080"/>
            <a:ext cx="4846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pip install django channels
WebSocketSDK_Python 디렉토리 복사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55080" y="3374136"/>
            <a:ext cx="384048" cy="56692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382512" y="3419856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339242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7A40"/>
                </a:solidFill>
              </a:rPr>
              <a:t>Django 프로젝트 설정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3721608"/>
            <a:ext cx="4846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settings.py — DB, CHANNEL_LAYERS 설정
urls.py — WebSocket 라우팅 추가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55080" y="4169663"/>
            <a:ext cx="384048" cy="56692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382512" y="4215383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39712" y="418795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7A40"/>
                </a:solidFill>
              </a:rPr>
              <a:t>비즈니스 로직 구현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9712" y="4517136"/>
            <a:ext cx="4846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sdkdemoapp/biz/ 폴더에 이벤트 핸들러 작성
models.py — DB 모델 정의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55080" y="4965192"/>
            <a:ext cx="384048" cy="56692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382512" y="5010912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39712" y="498348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7A40"/>
                </a:solidFill>
              </a:rPr>
              <a:t>마이그레이션 및 실행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39712" y="5312664"/>
            <a:ext cx="4846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python manage.py migrate
2.run_web_app.bat 또는 python manage.py runserver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55080" y="5760720"/>
            <a:ext cx="384048" cy="56692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382512" y="5806440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39712" y="5779007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7A40"/>
                </a:solidFill>
              </a:rPr>
              <a:t>UI 개발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39712" y="6108192"/>
            <a:ext cx="4846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sdkdemoapp/templates/ 폴더에 HTML 템플릿
views.py — 뷰 로직 작성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09  플랫폼별 빠른 시작 체크리스트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7"/>
                </a:solidFill>
              </a:rPr>
              <a:t>언어·프레임워크별 필수 준비 항목 요약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278892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1F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2788920" cy="411480"/>
          </a:xfrm>
          <a:prstGeom prst="rect">
            <a:avLst/>
          </a:prstGeom>
          <a:solidFill>
            <a:srgbClr val="1F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93192" y="1252728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C# (Traditional)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1755648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☐ Visual Studio 2019/2022 설치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322576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☐ SBXPCDLL.dll / SBXPCDLL64.dll 복사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2889504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☐ x86 또는 x64 플랫폼 선택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3456432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☐ DllImport 선언 추가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4023360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☐ _SetMachineType() 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4590288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☐ 연결 방식 선택 (Serial/TCP-IP/P2P)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5157216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☐ 이벤트 콜백 함수 구현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" y="5724144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☐ 샘플: Sample_S300_SB3600/C#_SBXPCDLL_Sample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64408" y="1234440"/>
            <a:ext cx="278892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26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264408" y="1234440"/>
            <a:ext cx="2788920" cy="411480"/>
          </a:xfrm>
          <a:prstGeom prst="rect">
            <a:avLst/>
          </a:prstGeom>
          <a:solidFill>
            <a:srgbClr val="267A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337560" y="1252728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C# (WebSocket SDK)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55848" y="1755648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☐ ASP.NET Web Application 생성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55848" y="2322576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☐ SmackBio.WebSocketSDK 프로젝트 참조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55848" y="2889504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☐ Microsoft.Web.WebSockets 설치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3456432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☐ IDeviceLoginManager 구현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55848" y="4023360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☐ Web.config deviceLoginManager 등록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55848" y="4590288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☐ WebSocket 핸들러 경로 설정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55848" y="5157216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☐ DB 연결 문자열 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55848" y="5724144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☐ 샘플: WebSocketSDK/WebSocketSDK/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08776" y="1234440"/>
            <a:ext cx="278892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773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08776" y="1234440"/>
            <a:ext cx="2788920" cy="411480"/>
          </a:xfrm>
          <a:prstGeom prst="rect">
            <a:avLst/>
          </a:prstGeom>
          <a:solidFill>
            <a:srgbClr val="773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81928" y="1252728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PHP (Workerman)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216" y="1755648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☐ PHP 7+ 및 Composer 설치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2322576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☐ 0.download_workerman.bat 실행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0216" y="2889504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☐ config.inc.php 설정 편집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0216" y="3456432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☐ ws_dev_event.php 이벤트 핸들러 작성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0216" y="4023360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☐ DB 스키마 생성 (doc/ 참고)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0216" y="4590288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☐ 1.run_ws_server.bat 으로 서버 실행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0216" y="5157216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☐ 2.run_web_server.bat 으로 웹 실행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0216" y="5724144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☐ 샘플: WebSocketSDK_PHP/wwwroot/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53144" y="1234440"/>
            <a:ext cx="278892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9153144" y="1234440"/>
            <a:ext cx="278892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226296" y="1252728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Python (Django)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44584" y="1755648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☐ Python 3.8+ 설치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44584" y="2322576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☐ pip install django channels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44584" y="2889504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☐ settings.py CHANNEL_LAYERS 설정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44584" y="3456432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☐ biz/ 폴더에 이벤트 핸들러 구현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44584" y="4023360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☐ models.py DB 모델 정의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44584" y="4590288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☐ python manage.py migrate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44584" y="5157216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☐ 2.run_web_app.bat 또는 runserver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44584" y="5724144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☐ 샘플: WebSocketSDK_Python/DjangoExample/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10  결론 및 권장 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7"/>
                </a:solidFill>
              </a:rPr>
              <a:t>SDK 선택 가이드 및 통합 요약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66928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1F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669280" cy="438912"/>
          </a:xfrm>
          <a:prstGeom prst="rect">
            <a:avLst/>
          </a:prstGeom>
          <a:solidFill>
            <a:srgbClr val="1F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9768" y="12801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🏢  엔터프라이즈 / 온프레미스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8308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C6E"/>
                </a:solidFill>
              </a:rPr>
              <a:t>Traditional SDK (SBXPCDLL) 권장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48840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• 직접 시리얼·TCP-IP 연결로 저지연
• 기존 Windows 인프라와 통합 용이
• C# WinForms 샘플이 가장 풍부
• 오프라인 환경 완벽 지원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59" y="1234440"/>
            <a:ext cx="566928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267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09359" y="1234440"/>
            <a:ext cx="5669280" cy="438912"/>
          </a:xfrm>
          <a:prstGeom prst="rect">
            <a:avLst/>
          </a:prstGeom>
          <a:solidFill>
            <a:srgbClr val="267A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19088" y="12801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🌐  클라우드 / 원격 모니터링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78308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67ABF"/>
                </a:solidFill>
              </a:rPr>
              <a:t>WebSocket SDK 권장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148840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• 디바이스가 서버에 자동 연결
• 브라우저 기반 실시간 모니터링
• C# ASP.NET이 가장 완성도 높음
• PHP/Python 옵션으로 유연한 배포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886200"/>
            <a:ext cx="566928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0040" y="3886200"/>
            <a:ext cx="5669280" cy="43891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9768" y="39319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🔧  개발 시작 권장 순서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43484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7AE60"/>
                </a:solidFill>
              </a:rPr>
              <a:t>추천 온보딩 경로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800600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1. doc/SBXPC Reference Manual.docx 정독
2. 해당 디바이스 모델의 샘플 프로젝트 실행
3. SDK 타입(Traditional/WebSocket) 결정
4. IDeviceLoginManager 또는 DLL 연동 구현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59" y="3886200"/>
            <a:ext cx="566928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E87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309359" y="3886200"/>
            <a:ext cx="5669280" cy="438912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19088" y="39319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⚠️  주의 사항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443484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87D1E"/>
                </a:solidFill>
              </a:rPr>
              <a:t>알려진 고려 사항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4800600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• 32/64비트 DLL 구분 필수 확인
• ActiveX(OCX)는 Windows 전용
• WebSocket SDK는 KeepAlive 구현 권장
• BigUser ID 모델은 별도 샘플 사용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09728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230368"/>
            <a:ext cx="12188952" cy="1627632"/>
          </a:xfrm>
          <a:prstGeom prst="rect">
            <a:avLst/>
          </a:prstGeom>
          <a:solidFill>
            <a:srgbClr val="267A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164592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108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6E4F7"/>
                </a:solidFill>
              </a:rPr>
              <a:t>SmartLM SDK Repository 분석 — SDK 20250611 &amp; WebSocketSDK 20250611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5321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© SmackBio  |  Chunghyon/SmartLM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2516</Words>
  <Application>Microsoft Office PowerPoint</Application>
  <PresentationFormat>사용자 지정</PresentationFormat>
  <Paragraphs>324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Charlie Choi</cp:lastModifiedBy>
  <cp:revision>2</cp:revision>
  <dcterms:created xsi:type="dcterms:W3CDTF">2013-01-27T09:14:16Z</dcterms:created>
  <dcterms:modified xsi:type="dcterms:W3CDTF">2026-05-19T05:22:27Z</dcterms:modified>
  <cp:category/>
</cp:coreProperties>
</file>