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0152" cy="3840480"/>
          </a:xfrm>
          <a:prstGeom prst="roundRect">
            <a:avLst>
              <a:gd name="adj" fmla="val 12000"/>
            </a:avLst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320040" cy="3840480"/>
          </a:xfrm>
          <a:prstGeom prst="roundRect">
            <a:avLst>
              <a:gd name="adj" fmla="val 0"/>
            </a:avLst>
          </a:prstGeom>
          <a:solidFill>
            <a:srgbClr val="6AA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01168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F4F6F"/>
                </a:solidFill>
              </a:rPr>
              <a:t>PQC(Post-Quantum Cryptography) 적용
다중 홉 IoT 통신 아키텍처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47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E78"/>
                </a:solidFill>
              </a:rPr>
              <a:t>BLE Peripheral  ↔  Device_A (BLE Central + WiFi STA)  ↔  Device_B (WiFi AP + Ethernet Client)  ↔  PC (Ethernet Server)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466344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C6E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F4F6F"/>
                </a:solidFill>
              </a:rPr>
              <a:t>이벤트 경로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466344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DE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F4F6F"/>
                </a:solidFill>
              </a:rPr>
              <a:t>명령 경로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466344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E2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F4F6F"/>
                </a:solidFill>
              </a:rPr>
              <a:t>양자내성암호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7F9A"/>
                </a:solidFill>
              </a:rPr>
              <a:t>2026. 07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oundRect">
            <a:avLst>
              <a:gd name="adj" fmla="val 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4F6F"/>
                </a:solidFill>
              </a:rPr>
              <a:t>1. 통신 환경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63040"/>
            <a:ext cx="2194560" cy="2560320"/>
          </a:xfrm>
          <a:prstGeom prst="roundRect">
            <a:avLst>
              <a:gd name="adj" fmla="val 10000"/>
            </a:avLst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F4F6F"/>
                </a:solidFill>
              </a:rPr>
              <a:t>외부 기기
(BLE Peripheral)</a:t>
            </a:r>
          </a:p>
          <a:p>
            <a:pPr algn="ctr"/>
            <a:r>
              <a:rPr sz="1000" b="0">
                <a:solidFill>
                  <a:srgbClr val="4A5E78"/>
                </a:solidFill>
              </a:rPr>
              <a:t>• 센서/액추에이터</a:t>
            </a:r>
          </a:p>
          <a:p>
            <a:pPr algn="ctr"/>
            <a:r>
              <a:rPr sz="1000" b="0">
                <a:solidFill>
                  <a:srgbClr val="4A5E78"/>
                </a:solidFill>
              </a:rPr>
              <a:t>• BLE 통신</a:t>
            </a:r>
          </a:p>
          <a:p>
            <a:pPr algn="ctr"/>
            <a:r>
              <a:rPr sz="1000" b="0">
                <a:solidFill>
                  <a:srgbClr val="4A5E78"/>
                </a:solidFill>
              </a:rPr>
              <a:t>• 이벤트 발생원</a:t>
            </a:r>
          </a:p>
          <a:p>
            <a:pPr algn="ctr"/>
            <a:r>
              <a:rPr sz="1000" b="0">
                <a:solidFill>
                  <a:srgbClr val="4A5E78"/>
                </a:solidFill>
              </a:rPr>
              <a:t>• PQC 지원 (선택)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463040"/>
            <a:ext cx="2194560" cy="2560320"/>
          </a:xfrm>
          <a:prstGeom prst="roundRect">
            <a:avLst>
              <a:gd name="adj" fmla="val 10000"/>
            </a:avLst>
          </a:prstGeom>
          <a:solidFill>
            <a:srgbClr val="BDD7EE"/>
          </a:solidFill>
          <a:ln w="6350">
            <a:solidFill>
              <a:srgbClr val="6AA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F4F6F"/>
                </a:solidFill>
              </a:rPr>
              <a:t>Device_A
(BLE Central
+ WiFi STA)</a:t>
            </a:r>
          </a:p>
          <a:p>
            <a:pPr algn="ctr"/>
            <a:r>
              <a:rPr sz="1000" b="0">
                <a:solidFill>
                  <a:srgbClr val="4A5E78"/>
                </a:solidFill>
              </a:rPr>
              <a:t>• BLE ↔ WiFi 브릿지</a:t>
            </a:r>
          </a:p>
          <a:p>
            <a:pPr algn="ctr"/>
            <a:r>
              <a:rPr sz="1000" b="0">
                <a:solidFill>
                  <a:srgbClr val="4A5E78"/>
                </a:solidFill>
              </a:rPr>
              <a:t>• PQC KEM (BLE측)</a:t>
            </a:r>
          </a:p>
          <a:p>
            <a:pPr algn="ctr"/>
            <a:r>
              <a:rPr sz="1000" b="0">
                <a:solidFill>
                  <a:srgbClr val="4A5E78"/>
                </a:solidFill>
              </a:rPr>
              <a:t>• PQC TLS (WiFi측)</a:t>
            </a:r>
          </a:p>
          <a:p>
            <a:pPr algn="ctr"/>
            <a:r>
              <a:rPr sz="1000" b="0">
                <a:solidFill>
                  <a:srgbClr val="4A5E78"/>
                </a:solidFill>
              </a:rPr>
              <a:t>• 이벤트 중계/발생</a:t>
            </a:r>
          </a:p>
        </p:txBody>
      </p:sp>
      <p:sp>
        <p:nvSpPr>
          <p:cNvPr id="5" name="Rectangle 4"/>
          <p:cNvSpPr/>
          <p:nvPr/>
        </p:nvSpPr>
        <p:spPr>
          <a:xfrm>
            <a:off x="5897880" y="1463040"/>
            <a:ext cx="2194560" cy="2560320"/>
          </a:xfrm>
          <a:prstGeom prst="roundRect">
            <a:avLst>
              <a:gd name="adj" fmla="val 10000"/>
            </a:avLst>
          </a:prstGeom>
          <a:solidFill>
            <a:srgbClr val="C6E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F4F6F"/>
                </a:solidFill>
              </a:rPr>
              <a:t>Device_B
(WiFi AP
+ Ethernet Client)</a:t>
            </a:r>
          </a:p>
          <a:p>
            <a:pPr algn="ctr"/>
            <a:r>
              <a:rPr sz="1000" b="0">
                <a:solidFill>
                  <a:srgbClr val="4A5E78"/>
                </a:solidFill>
              </a:rPr>
              <a:t>• WiFi ↔ Ethernet 브릿지</a:t>
            </a:r>
          </a:p>
          <a:p>
            <a:pPr algn="ctr"/>
            <a:r>
              <a:rPr sz="1000" b="0">
                <a:solidFill>
                  <a:srgbClr val="4A5E78"/>
                </a:solidFill>
              </a:rPr>
              <a:t>• PQC TLS (WiFi측)</a:t>
            </a:r>
          </a:p>
          <a:p>
            <a:pPr algn="ctr"/>
            <a:r>
              <a:rPr sz="1000" b="0">
                <a:solidFill>
                  <a:srgbClr val="4A5E78"/>
                </a:solidFill>
              </a:rPr>
              <a:t>• PQC TLS (TCP측)</a:t>
            </a:r>
          </a:p>
          <a:p>
            <a:pPr algn="ctr"/>
            <a:r>
              <a:rPr sz="1000" b="0">
                <a:solidFill>
                  <a:srgbClr val="4A5E78"/>
                </a:solidFill>
              </a:rPr>
              <a:t>• 이벤트 중계/발생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0" y="1463040"/>
            <a:ext cx="2194560" cy="2560320"/>
          </a:xfrm>
          <a:prstGeom prst="roundRect">
            <a:avLst>
              <a:gd name="adj" fmla="val 10000"/>
            </a:avLst>
          </a:prstGeom>
          <a:solidFill>
            <a:srgbClr val="E2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F4F6F"/>
                </a:solidFill>
              </a:rPr>
              <a:t>PC
(Ethernet TCP Server)</a:t>
            </a:r>
          </a:p>
          <a:p>
            <a:pPr algn="ctr"/>
            <a:r>
              <a:rPr sz="1000" b="0">
                <a:solidFill>
                  <a:srgbClr val="4A5E78"/>
                </a:solidFill>
              </a:rPr>
              <a:t>• 중앙 관리 서버</a:t>
            </a:r>
          </a:p>
          <a:p>
            <a:pPr algn="ctr"/>
            <a:r>
              <a:rPr sz="1000" b="0">
                <a:solidFill>
                  <a:srgbClr val="4A5E78"/>
                </a:solidFill>
              </a:rPr>
              <a:t>• PQC TLS 종단점</a:t>
            </a:r>
          </a:p>
          <a:p>
            <a:pPr algn="ctr"/>
            <a:r>
              <a:rPr sz="1000" b="0">
                <a:solidFill>
                  <a:srgbClr val="4A5E78"/>
                </a:solidFill>
              </a:rPr>
              <a:t>• 명령 발행</a:t>
            </a:r>
          </a:p>
          <a:p>
            <a:pPr algn="ctr"/>
            <a:r>
              <a:rPr sz="1000" b="0">
                <a:solidFill>
                  <a:srgbClr val="4A5E78"/>
                </a:solidFill>
              </a:rPr>
              <a:t>• 이벤트 수집/처리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97480" y="2743200.0"/>
            <a:ext cx="502920" cy="0.0"/>
          </a:xfrm>
          <a:prstGeom prst="line">
            <a:avLst/>
          </a:prstGeom>
          <a:ln w="25400">
            <a:solidFill>
              <a:srgbClr val="6AA8D9"/>
            </a:solidFill>
            <a:tailEnd type="arrow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20340" y="2542032"/>
            <a:ext cx="457200" cy="402336"/>
          </a:xfrm>
          <a:prstGeom prst="roundRect">
            <a:avLst>
              <a:gd name="adj" fmla="val 8000"/>
            </a:avLst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2F4F6F"/>
                </a:solidFill>
              </a:rPr>
              <a:t>BLE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94960" y="2743200.0"/>
            <a:ext cx="502920" cy="0.0"/>
          </a:xfrm>
          <a:prstGeom prst="line">
            <a:avLst/>
          </a:prstGeom>
          <a:ln w="25400">
            <a:solidFill>
              <a:srgbClr val="6AA8D9"/>
            </a:solidFill>
            <a:tailEnd type="arrow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17820" y="2542032"/>
            <a:ext cx="457200" cy="402336"/>
          </a:xfrm>
          <a:prstGeom prst="roundRect">
            <a:avLst>
              <a:gd name="adj" fmla="val 8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2F4F6F"/>
                </a:solidFill>
              </a:rPr>
              <a:t>WiFi (802.11)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92440" y="2743200.0"/>
            <a:ext cx="502920" cy="0.0"/>
          </a:xfrm>
          <a:prstGeom prst="line">
            <a:avLst/>
          </a:prstGeom>
          <a:ln w="25400">
            <a:solidFill>
              <a:srgbClr val="6AA8D9"/>
            </a:solidFill>
            <a:tailEnd type="arrow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115300" y="2542032"/>
            <a:ext cx="457200" cy="402336"/>
          </a:xfrm>
          <a:prstGeom prst="roundRect">
            <a:avLst>
              <a:gd name="adj" fmla="val 8000"/>
            </a:avLst>
          </a:prstGeom>
          <a:solidFill>
            <a:srgbClr val="C6E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2F4F6F"/>
                </a:solidFill>
              </a:rPr>
              <a:t>Ethernet TCP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572000"/>
            <a:ext cx="11183112" cy="1691640"/>
          </a:xfrm>
          <a:prstGeom prst="roundRect">
            <a:avLst>
              <a:gd name="adj" fmla="val 8000"/>
            </a:avLst>
          </a:prstGeom>
          <a:solidFill>
            <a:srgbClr val="FDF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10698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100" b="0">
                <a:solidFill>
                  <a:srgbClr val="2F4F6F"/>
                </a:solidFill>
              </a:rPr>
              <a:t>이벤트 흐름</a:t>
            </a:r>
          </a:p>
          <a:p>
            <a:pPr algn="l">
              <a:lnSpc>
                <a:spcPct val="114999"/>
              </a:lnSpc>
            </a:pPr>
            <a:r>
              <a:rPr sz="1000" b="0">
                <a:solidFill>
                  <a:srgbClr val="4A5E78"/>
                </a:solidFill>
              </a:rPr>
              <a:t>  외부기기 / Device_A / Device_B → (중간 장치를 통해) → PC 로 전달</a:t>
            </a:r>
          </a:p>
          <a:p>
            <a:pPr algn="l">
              <a:lnSpc>
                <a:spcPct val="114999"/>
              </a:lnSpc>
            </a:pPr>
            <a:r>
              <a:rPr sz="1100" b="0">
                <a:solidFill>
                  <a:srgbClr val="2F4F6F"/>
                </a:solidFill>
              </a:rPr>
              <a:t>명령 흐름</a:t>
            </a:r>
          </a:p>
          <a:p>
            <a:pPr algn="l">
              <a:lnSpc>
                <a:spcPct val="114999"/>
              </a:lnSpc>
            </a:pPr>
            <a:r>
              <a:rPr sz="1000" b="0">
                <a:solidFill>
                  <a:srgbClr val="4A5E78"/>
                </a:solidFill>
              </a:rPr>
              <a:t>  PC → 외부기기 / Device_A / Device_B 로 각각 전달 (동시 또는 선택적)</a:t>
            </a:r>
          </a:p>
          <a:p>
            <a:pPr algn="l">
              <a:lnSpc>
                <a:spcPct val="114999"/>
              </a:lnSpc>
            </a:pPr>
            <a:r>
              <a:rPr sz="1100" b="0">
                <a:solidFill>
                  <a:srgbClr val="2F4F6F"/>
                </a:solidFill>
              </a:rPr>
              <a:t>PQC 적용 원칙</a:t>
            </a:r>
          </a:p>
          <a:p>
            <a:pPr algn="l">
              <a:lnSpc>
                <a:spcPct val="114999"/>
              </a:lnSpc>
            </a:pPr>
            <a:r>
              <a:rPr sz="1000" b="0">
                <a:solidFill>
                  <a:srgbClr val="4A5E78"/>
                </a:solidFill>
              </a:rPr>
              <a:t>  각 통신 구간에 독립적 PQC 세션 적용 (End-to-End 및 Hop-by-Hop 혼용)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7F9A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oundRect">
            <a:avLst>
              <a:gd name="adj" fmla="val 0"/>
            </a:avLst>
          </a:prstGeom>
          <a:solidFill>
            <a:srgbClr val="C6E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4F6F"/>
                </a:solidFill>
              </a:rPr>
              <a:t>2. PQC 적용 구조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AA8D9"/>
                </a:solidFill>
              </a:rPr>
              <a:t>[ 계층별 PQC 보안 구조 ]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2743200" cy="640080"/>
          </a:xfrm>
          <a:prstGeom prst="roundRect">
            <a:avLst>
              <a:gd name="adj" fmla="val 4000"/>
            </a:avLst>
          </a:prstGeom>
          <a:solidFill>
            <a:srgbClr val="E2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F4F6F"/>
                </a:solidFill>
              </a:rPr>
              <a:t>PC (응용 계층 / 이벤트·명령 처리)</a:t>
            </a:r>
          </a:p>
        </p:txBody>
      </p:sp>
      <p:sp>
        <p:nvSpPr>
          <p:cNvPr id="5" name="Rectangle 4"/>
          <p:cNvSpPr/>
          <p:nvPr/>
        </p:nvSpPr>
        <p:spPr>
          <a:xfrm>
            <a:off x="3154680" y="1234440"/>
            <a:ext cx="3794760" cy="64008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4A5E78"/>
                </a:solidFill>
              </a:rPr>
              <a:t>PQC TLS 1.3 Endpoint  |  인증서: Dilithium3
키 교환: Kyber-768 KEM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47672"/>
            <a:ext cx="2743200" cy="640080"/>
          </a:xfrm>
          <a:prstGeom prst="roundRect">
            <a:avLst>
              <a:gd name="adj" fmla="val 4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F4F6F"/>
                </a:solidFill>
              </a:rPr>
              <a:t>Ethernet TCP 구간  (Device_B ↔ PC)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947672"/>
            <a:ext cx="3794760" cy="64008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4A5E78"/>
                </a:solidFill>
              </a:rPr>
              <a:t>PQC TLS 1.3 Session  |  Kyber-768 + X25519 (Hybrid)
서명: Dilithium3 (상호 인증)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60904"/>
            <a:ext cx="2743200" cy="640080"/>
          </a:xfrm>
          <a:prstGeom prst="roundRect">
            <a:avLst>
              <a:gd name="adj" fmla="val 4000"/>
            </a:avLst>
          </a:prstGeom>
          <a:solidFill>
            <a:srgbClr val="C6E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F4F6F"/>
                </a:solidFill>
              </a:rPr>
              <a:t>WiFi 구간  (Device_A ↔ Device_B)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2660904"/>
            <a:ext cx="3794760" cy="64008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4A5E78"/>
                </a:solidFill>
              </a:rPr>
              <a:t>PQC TLS 1.3 Session  |  Kyber-768 + X25519 (Hybrid)
필요시 WPA3 + PQC 확장 적용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74136"/>
            <a:ext cx="2743200" cy="640080"/>
          </a:xfrm>
          <a:prstGeom prst="roundRect">
            <a:avLst>
              <a:gd name="adj" fmla="val 4000"/>
            </a:avLst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F4F6F"/>
                </a:solidFill>
              </a:rPr>
              <a:t>BLE 구간  (외부기기 ↔ Device_A)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3374136"/>
            <a:ext cx="3794760" cy="64008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4A5E78"/>
                </a:solidFill>
              </a:rPr>
              <a:t>PQC KEM 기반 세션키 교환  |  Kyber-512 (경량)
서명: Falcon-512 or Dilithium2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087368"/>
            <a:ext cx="2743200" cy="640080"/>
          </a:xfrm>
          <a:prstGeom prst="roundRect">
            <a:avLst>
              <a:gd name="adj" fmla="val 4000"/>
            </a:avLst>
          </a:prstGeom>
          <a:solidFill>
            <a:srgbClr val="FDE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F4F6F"/>
                </a:solidFill>
              </a:rPr>
              <a:t>외부기기 (BLE Peripheral)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4087368"/>
            <a:ext cx="3794760" cy="64008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DD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4A5E78"/>
                </a:solidFill>
              </a:rPr>
              <a:t>경량 PQC 지원 (가능 시)
MCU 자원에 따라 소프트웨어 또는 SE(Secure Element) 활용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868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AA8D9"/>
                </a:solidFill>
              </a:rPr>
              <a:t>[ PQC 알고리즘 선택 기준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1234440"/>
            <a:ext cx="777240" cy="420624"/>
          </a:xfrm>
          <a:prstGeom prst="roundRect">
            <a:avLst>
              <a:gd name="adj" fmla="val 0"/>
            </a:avLst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AA8D9"/>
                </a:solidFill>
              </a:rPr>
              <a:t>구분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234440"/>
            <a:ext cx="1280160" cy="420624"/>
          </a:xfrm>
          <a:prstGeom prst="roundRect">
            <a:avLst>
              <a:gd name="adj" fmla="val 0"/>
            </a:avLst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AA8D9"/>
                </a:solidFill>
              </a:rPr>
              <a:t>알고리즘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1234440"/>
            <a:ext cx="2514600" cy="420624"/>
          </a:xfrm>
          <a:prstGeom prst="roundRect">
            <a:avLst>
              <a:gd name="adj" fmla="val 0"/>
            </a:avLst>
          </a:prstGeom>
          <a:solidFill>
            <a:srgbClr val="BDD7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AA8D9"/>
                </a:solidFill>
              </a:rPr>
              <a:t>용도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1655064"/>
            <a:ext cx="777240" cy="420624"/>
          </a:xfrm>
          <a:prstGeom prst="roundRect">
            <a:avLst>
              <a:gd name="adj" fmla="val 0"/>
            </a:avLst>
          </a:prstGeom>
          <a:solidFill>
            <a:srgbClr val="EAEC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F4F6F"/>
                </a:solidFill>
              </a:rPr>
              <a:t>KEM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655064"/>
            <a:ext cx="1280160" cy="420624"/>
          </a:xfrm>
          <a:prstGeom prst="roundRect">
            <a:avLst>
              <a:gd name="adj" fmla="val 0"/>
            </a:avLst>
          </a:prstGeom>
          <a:solidFill>
            <a:srgbClr val="EAEC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F4F6F"/>
                </a:solidFill>
              </a:rPr>
              <a:t>Kyber-512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60" y="1655064"/>
            <a:ext cx="2514600" cy="420624"/>
          </a:xfrm>
          <a:prstGeom prst="roundRect">
            <a:avLst>
              <a:gd name="adj" fmla="val 0"/>
            </a:avLst>
          </a:prstGeom>
          <a:solidFill>
            <a:srgbClr val="EAEC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F4F6F"/>
                </a:solidFill>
              </a:rPr>
              <a:t>BLE 구간 키 교환 (경량)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2075688"/>
            <a:ext cx="777240" cy="42062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F4F6F"/>
                </a:solidFill>
              </a:rPr>
              <a:t>KEM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2075688"/>
            <a:ext cx="1280160" cy="42062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F4F6F"/>
                </a:solidFill>
              </a:rPr>
              <a:t>Kyber-768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2075688"/>
            <a:ext cx="2514600" cy="42062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F4F6F"/>
                </a:solidFill>
              </a:rPr>
              <a:t>WiFi / Ethernet 키 교환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2496312"/>
            <a:ext cx="777240" cy="420624"/>
          </a:xfrm>
          <a:prstGeom prst="roundRect">
            <a:avLst>
              <a:gd name="adj" fmla="val 0"/>
            </a:avLst>
          </a:prstGeom>
          <a:solidFill>
            <a:srgbClr val="EAEC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F4F6F"/>
                </a:solidFill>
              </a:rPr>
              <a:t>서명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2496312"/>
            <a:ext cx="1280160" cy="420624"/>
          </a:xfrm>
          <a:prstGeom prst="roundRect">
            <a:avLst>
              <a:gd name="adj" fmla="val 0"/>
            </a:avLst>
          </a:prstGeom>
          <a:solidFill>
            <a:srgbClr val="EAEC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F4F6F"/>
                </a:solidFill>
              </a:rPr>
              <a:t>Dilithium2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1160" y="2496312"/>
            <a:ext cx="2514600" cy="420624"/>
          </a:xfrm>
          <a:prstGeom prst="roundRect">
            <a:avLst>
              <a:gd name="adj" fmla="val 0"/>
            </a:avLst>
          </a:prstGeom>
          <a:solidFill>
            <a:srgbClr val="EAEC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F4F6F"/>
                </a:solidFill>
              </a:rPr>
              <a:t>BLE 인증 (경량)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2916936"/>
            <a:ext cx="777240" cy="42062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F4F6F"/>
                </a:solidFill>
              </a:rPr>
              <a:t>서명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2916936"/>
            <a:ext cx="1280160" cy="42062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F4F6F"/>
                </a:solidFill>
              </a:rPr>
              <a:t>Dilithium3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81160" y="2916936"/>
            <a:ext cx="2514600" cy="42062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F4F6F"/>
                </a:solidFill>
              </a:rPr>
              <a:t>WiFi / TCP 인증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0" y="3337560"/>
            <a:ext cx="777240" cy="420624"/>
          </a:xfrm>
          <a:prstGeom prst="roundRect">
            <a:avLst>
              <a:gd name="adj" fmla="val 0"/>
            </a:avLst>
          </a:prstGeom>
          <a:solidFill>
            <a:srgbClr val="EAEC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F4F6F"/>
                </a:solidFill>
              </a:rPr>
              <a:t>서명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3337560"/>
            <a:ext cx="1280160" cy="420624"/>
          </a:xfrm>
          <a:prstGeom prst="roundRect">
            <a:avLst>
              <a:gd name="adj" fmla="val 0"/>
            </a:avLst>
          </a:prstGeom>
          <a:solidFill>
            <a:srgbClr val="EAEC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F4F6F"/>
                </a:solidFill>
              </a:rPr>
              <a:t>Falcon-512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81160" y="3337560"/>
            <a:ext cx="2514600" cy="420624"/>
          </a:xfrm>
          <a:prstGeom prst="roundRect">
            <a:avLst>
              <a:gd name="adj" fmla="val 0"/>
            </a:avLst>
          </a:prstGeom>
          <a:solidFill>
            <a:srgbClr val="EAEC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F4F6F"/>
                </a:solidFill>
              </a:rPr>
              <a:t>BLE 대안 (서명 크기 소형)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3758184"/>
            <a:ext cx="777240" cy="42062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F4F6F"/>
                </a:solidFill>
              </a:rPr>
              <a:t>해시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3758184"/>
            <a:ext cx="1280160" cy="42062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F4F6F"/>
                </a:solidFill>
              </a:rPr>
              <a:t>SHA3-256/512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1160" y="3758184"/>
            <a:ext cx="2514600" cy="42062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F4F6F"/>
                </a:solidFill>
              </a:rPr>
              <a:t>무결성 보호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4178808"/>
            <a:ext cx="777240" cy="420624"/>
          </a:xfrm>
          <a:prstGeom prst="roundRect">
            <a:avLst>
              <a:gd name="adj" fmla="val 0"/>
            </a:avLst>
          </a:prstGeom>
          <a:solidFill>
            <a:srgbClr val="EAEC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F4F6F"/>
                </a:solidFill>
              </a:rPr>
              <a:t>Hybrid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1000" y="4178808"/>
            <a:ext cx="1280160" cy="420624"/>
          </a:xfrm>
          <a:prstGeom prst="roundRect">
            <a:avLst>
              <a:gd name="adj" fmla="val 0"/>
            </a:avLst>
          </a:prstGeom>
          <a:solidFill>
            <a:srgbClr val="EAEC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F4F6F"/>
                </a:solidFill>
              </a:rPr>
              <a:t>Kyber + X25519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81160" y="4178808"/>
            <a:ext cx="2514600" cy="420624"/>
          </a:xfrm>
          <a:prstGeom prst="roundRect">
            <a:avLst>
              <a:gd name="adj" fmla="val 0"/>
            </a:avLst>
          </a:prstGeom>
          <a:solidFill>
            <a:srgbClr val="EAEC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F4F6F"/>
                </a:solidFill>
              </a:rPr>
              <a:t>전환기 호환성 보장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7F9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oundRect">
            <a:avLst>
              <a:gd name="adj" fmla="val 0"/>
            </a:avLst>
          </a:prstGeom>
          <a:solidFill>
            <a:srgbClr val="FDE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4F6F"/>
                </a:solidFill>
              </a:rPr>
              <a:t>3. 구간별 PQC 적용 방안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333756" y="822960"/>
            <a:ext cx="2743200" cy="5212080"/>
          </a:xfrm>
          <a:prstGeom prst="roundRect">
            <a:avLst>
              <a:gd name="adj" fmla="val 10000"/>
            </a:avLst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3756" y="82296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D3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F4F6F"/>
                </a:solidFill>
              </a:rPr>
              <a:t>① BLE 구간
외부기기 ↔ Device_A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908" y="1371600"/>
            <a:ext cx="2596896" cy="274320"/>
          </a:xfrm>
          <a:prstGeom prst="roundRect">
            <a:avLst>
              <a:gd name="adj" fmla="val 4000"/>
            </a:avLst>
          </a:prstGeom>
          <a:solidFill>
            <a:srgbClr val="FF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F4F6F"/>
                </a:solidFill>
              </a:rPr>
              <a:t>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" y="1664208"/>
            <a:ext cx="2560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E78"/>
                </a:solidFill>
              </a:rPr>
              <a:t>  • BLE 스택은 ECDH 기반
  • PQC 직접 통합 어려움
  • MCU 자원 제약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" y="2505456"/>
            <a:ext cx="2596896" cy="274320"/>
          </a:xfrm>
          <a:prstGeom prst="roundRect">
            <a:avLst>
              <a:gd name="adj" fmla="val 4000"/>
            </a:avLst>
          </a:prstGeom>
          <a:solidFill>
            <a:srgbClr val="FF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F4F6F"/>
                </a:solidFill>
              </a:rPr>
              <a:t>방안 A
(권장)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" y="2798064"/>
            <a:ext cx="2560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E78"/>
                </a:solidFill>
              </a:rPr>
              <a:t>  • PQC Secure Element 추가
  • Kyber-512 KEM 오프로드
  • Falcon-512 서명 처리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" y="3639312"/>
            <a:ext cx="2596896" cy="274320"/>
          </a:xfrm>
          <a:prstGeom prst="roundRect">
            <a:avLst>
              <a:gd name="adj" fmla="val 4000"/>
            </a:avLst>
          </a:prstGeom>
          <a:solidFill>
            <a:srgbClr val="FF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F4F6F"/>
                </a:solidFill>
              </a:rPr>
              <a:t>방안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" y="3931920"/>
            <a:ext cx="2560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E78"/>
                </a:solidFill>
              </a:rPr>
              <a:t>  • PQC-enabled SoC 사용
  • (예: ARM CryptoCell 포함)
  • 소프트웨어 PQC 라이브러리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" y="4773168"/>
            <a:ext cx="2596896" cy="274320"/>
          </a:xfrm>
          <a:prstGeom prst="roundRect">
            <a:avLst>
              <a:gd name="adj" fmla="val 4000"/>
            </a:avLst>
          </a:prstGeom>
          <a:solidFill>
            <a:srgbClr val="FF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F4F6F"/>
                </a:solidFill>
              </a:rPr>
              <a:t>세션 수립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" y="5065776"/>
            <a:ext cx="2560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E78"/>
                </a:solidFill>
              </a:rPr>
              <a:t>  • ① Kyber KEM으로 공유 비밀 생성
  • ② HKDF로 BLE 세션키 파생
  • ③ AES-256-GCM 암호화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59836" y="822960"/>
            <a:ext cx="2743200" cy="5212080"/>
          </a:xfrm>
          <a:prstGeom prst="roundRect">
            <a:avLst>
              <a:gd name="adj" fmla="val 10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59836" y="82296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A0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F4F6F"/>
                </a:solidFill>
              </a:rPr>
              <a:t>② WiFi 구간
Device_A ↔ Device_B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2988" y="1371600"/>
            <a:ext cx="2596896" cy="274320"/>
          </a:xfrm>
          <a:prstGeom prst="roundRect">
            <a:avLst>
              <a:gd name="adj" fmla="val 4000"/>
            </a:avLst>
          </a:prstGeom>
          <a:solidFill>
            <a:srgbClr val="D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F4F6F"/>
                </a:solidFill>
              </a:rPr>
              <a:t>과제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1276" y="1664208"/>
            <a:ext cx="2560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E78"/>
                </a:solidFill>
              </a:rPr>
              <a:t>  • 표준 WPA3는 PQC 미지원
  • AP-STA 간 보안 설정 필요
  • 처리 성능 중요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2988" y="2505456"/>
            <a:ext cx="2596896" cy="274320"/>
          </a:xfrm>
          <a:prstGeom prst="roundRect">
            <a:avLst>
              <a:gd name="adj" fmla="val 4000"/>
            </a:avLst>
          </a:prstGeom>
          <a:solidFill>
            <a:srgbClr val="D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F4F6F"/>
                </a:solidFill>
              </a:rPr>
              <a:t>방안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1276" y="2798064"/>
            <a:ext cx="2560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E78"/>
                </a:solidFill>
              </a:rPr>
              <a:t>  • PQC TLS 1.3 터널 구성
  • WiFi 연결 후 TLS 세션 수립
  • Kyber-768 + X25519 Hybrid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2988" y="3639312"/>
            <a:ext cx="2596896" cy="274320"/>
          </a:xfrm>
          <a:prstGeom prst="roundRect">
            <a:avLst>
              <a:gd name="adj" fmla="val 4000"/>
            </a:avLst>
          </a:prstGeom>
          <a:solidFill>
            <a:srgbClr val="D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F4F6F"/>
                </a:solidFill>
              </a:rPr>
              <a:t>인증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1276" y="3931920"/>
            <a:ext cx="2560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E78"/>
                </a:solidFill>
              </a:rPr>
              <a:t>  • 서버: Dilithium3 인증서
  • 클라이언트(Device_A) 인증
  • mTLS (상호 인증) 권장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2988" y="4773168"/>
            <a:ext cx="2596896" cy="274320"/>
          </a:xfrm>
          <a:prstGeom prst="roundRect">
            <a:avLst>
              <a:gd name="adj" fmla="val 4000"/>
            </a:avLst>
          </a:prstGeom>
          <a:solidFill>
            <a:srgbClr val="D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F4F6F"/>
                </a:solidFill>
              </a:rPr>
              <a:t>세션 수립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1276" y="5065776"/>
            <a:ext cx="2560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E78"/>
                </a:solidFill>
              </a:rPr>
              <a:t>  • ① TLS 핸드셰이크 (PQC)
  • ② Kyber KEM 키 교환
  • ③ AES-256-GCM 세션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5916" y="822960"/>
            <a:ext cx="2743200" cy="5212080"/>
          </a:xfrm>
          <a:prstGeom prst="roundRect">
            <a:avLst>
              <a:gd name="adj" fmla="val 10000"/>
            </a:avLst>
          </a:prstGeom>
          <a:solidFill>
            <a:srgbClr val="C6E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5916" y="82296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A8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F4F6F"/>
                </a:solidFill>
              </a:rPr>
              <a:t>③ Ethernet TCP 구간
Device_B ↔ PC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9068" y="1371600"/>
            <a:ext cx="2596896" cy="274320"/>
          </a:xfrm>
          <a:prstGeom prst="roundRect">
            <a:avLst>
              <a:gd name="adj" fmla="val 4000"/>
            </a:avLst>
          </a:prstGeom>
          <a:solidFill>
            <a:srgbClr val="DAF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F4F6F"/>
                </a:solidFill>
              </a:rPr>
              <a:t>특징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7356" y="1664208"/>
            <a:ext cx="2560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E78"/>
                </a:solidFill>
              </a:rPr>
              <a:t>  • 유선 고성능 구간
  • Kyber-1024 적용 가능
  • 충분한 처리 자원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59068" y="2505456"/>
            <a:ext cx="2596896" cy="274320"/>
          </a:xfrm>
          <a:prstGeom prst="roundRect">
            <a:avLst>
              <a:gd name="adj" fmla="val 4000"/>
            </a:avLst>
          </a:prstGeom>
          <a:solidFill>
            <a:srgbClr val="DAF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F4F6F"/>
                </a:solidFill>
              </a:rPr>
              <a:t>방안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7356" y="2798064"/>
            <a:ext cx="2560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E78"/>
                </a:solidFill>
              </a:rPr>
              <a:t>  • PQC TLS 1.3 적용
  • OQS-OpenSSL 라이브러리
  • Kyber-768/1024 + X25519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59068" y="3639312"/>
            <a:ext cx="2596896" cy="274320"/>
          </a:xfrm>
          <a:prstGeom prst="roundRect">
            <a:avLst>
              <a:gd name="adj" fmla="val 4000"/>
            </a:avLst>
          </a:prstGeom>
          <a:solidFill>
            <a:srgbClr val="DAF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F4F6F"/>
                </a:solidFill>
              </a:rPr>
              <a:t>인증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7356" y="3931920"/>
            <a:ext cx="2560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E78"/>
                </a:solidFill>
              </a:rPr>
              <a:t>  • PC: Dilithium3 인증서
  • Device_B: 클라이언트 인증
  • CRL/OCSP 인증서 관리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59068" y="4773168"/>
            <a:ext cx="2596896" cy="274320"/>
          </a:xfrm>
          <a:prstGeom prst="roundRect">
            <a:avLst>
              <a:gd name="adj" fmla="val 4000"/>
            </a:avLst>
          </a:prstGeom>
          <a:solidFill>
            <a:srgbClr val="DAF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F4F6F"/>
                </a:solidFill>
              </a:rPr>
              <a:t>세션 수립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7356" y="5065776"/>
            <a:ext cx="2560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E78"/>
                </a:solidFill>
              </a:rPr>
              <a:t>  • ① TLS 핸드셰이크
  • ② Kyber KEM
  • ③ 세션키 파생 및 암호화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11996" y="822960"/>
            <a:ext cx="2743200" cy="5212080"/>
          </a:xfrm>
          <a:prstGeom prst="roundRect">
            <a:avLst>
              <a:gd name="adj" fmla="val 10000"/>
            </a:avLst>
          </a:prstGeom>
          <a:solidFill>
            <a:srgbClr val="E2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11996" y="82296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C0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F4F6F"/>
                </a:solidFill>
              </a:rPr>
              <a:t>④ 장치 내부
Device_A, Device_B 처리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5148" y="1371600"/>
            <a:ext cx="2596896" cy="274320"/>
          </a:xfrm>
          <a:prstGeom prst="roundRect">
            <a:avLst>
              <a:gd name="adj" fmla="val 4000"/>
            </a:avLst>
          </a:prstGeom>
          <a:solidFill>
            <a:srgbClr val="F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F4F6F"/>
                </a:solidFill>
              </a:rPr>
              <a:t>역할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3436" y="1664208"/>
            <a:ext cx="2560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E78"/>
                </a:solidFill>
              </a:rPr>
              <a:t>  • 두 구간 PQC 세션 종단
  • 복호화 후 재암호화 전달
  • (Hop-by-Hop 방식)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85148" y="2505456"/>
            <a:ext cx="2596896" cy="274320"/>
          </a:xfrm>
          <a:prstGeom prst="roundRect">
            <a:avLst>
              <a:gd name="adj" fmla="val 4000"/>
            </a:avLst>
          </a:prstGeom>
          <a:solidFill>
            <a:srgbClr val="F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F4F6F"/>
                </a:solidFill>
              </a:rPr>
              <a:t>보안
요구사항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03436" y="2798064"/>
            <a:ext cx="2560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E78"/>
                </a:solidFill>
              </a:rPr>
              <a:t>  • HSM/SE 내 키 저장
  • 메모리 내 데이터 보호
  • 보안 부팅 (Secure Boot)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5148" y="3639312"/>
            <a:ext cx="2596896" cy="274320"/>
          </a:xfrm>
          <a:prstGeom prst="roundRect">
            <a:avLst>
              <a:gd name="adj" fmla="val 4000"/>
            </a:avLst>
          </a:prstGeom>
          <a:solidFill>
            <a:srgbClr val="F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F4F6F"/>
                </a:solidFill>
              </a:rPr>
              <a:t>E2E 옵션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03436" y="3931920"/>
            <a:ext cx="2560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E78"/>
                </a:solidFill>
              </a:rPr>
              <a:t>  • 외부기기~PC 페이로드 추가암호화
  • AES-256-GCM 래핑
  • Dilithium 서명 포함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5148" y="4773168"/>
            <a:ext cx="2596896" cy="274320"/>
          </a:xfrm>
          <a:prstGeom prst="roundRect">
            <a:avLst>
              <a:gd name="adj" fmla="val 4000"/>
            </a:avLst>
          </a:prstGeom>
          <a:solidFill>
            <a:srgbClr val="F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F4F6F"/>
                </a:solidFill>
              </a:rPr>
              <a:t>고려사항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3436" y="5065776"/>
            <a:ext cx="2560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E78"/>
                </a:solidFill>
              </a:rPr>
              <a:t>  • 키 갱신 주기 설정
  • 인증서 수명 관리
  • PQC 파라미터 협상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7F9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oundRect">
            <a:avLst>
              <a:gd name="adj" fmla="val 0"/>
            </a:avLst>
          </a:prstGeom>
          <a:solidFill>
            <a:srgbClr val="C0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4F6F"/>
                </a:solidFill>
              </a:rPr>
              <a:t>4. 키 관리 및 인증서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AA8D9"/>
                </a:solidFill>
              </a:rPr>
              <a:t>[ PQC PKI 인증서 계층 구조 ]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2876" y="1188720"/>
            <a:ext cx="2743200" cy="594360"/>
          </a:xfrm>
          <a:prstGeom prst="roundRect">
            <a:avLst>
              <a:gd name="adj" fmla="val 8000"/>
            </a:avLst>
          </a:prstGeom>
          <a:solidFill>
            <a:srgbClr val="E2D4F0"/>
          </a:solidFill>
          <a:ln w="12700">
            <a:solidFill>
              <a:srgbClr val="A0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F4F6F"/>
                </a:solidFill>
              </a:rPr>
              <a:t>Root CA (PQC)</a:t>
            </a:r>
          </a:p>
          <a:p>
            <a:pPr algn="ctr"/>
            <a:r>
              <a:rPr sz="950" b="0">
                <a:solidFill>
                  <a:srgbClr val="4A5E78"/>
                </a:solidFill>
              </a:rPr>
              <a:t>Dilithium3 자가서명 인증서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965960"/>
            <a:ext cx="2743200" cy="548640"/>
          </a:xfrm>
          <a:prstGeom prst="roundRect">
            <a:avLst>
              <a:gd name="adj" fmla="val 8000"/>
            </a:avLst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F4F6F"/>
                </a:solidFill>
              </a:rPr>
              <a:t>중간 CA
(BLE 장치용)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3200400" y="1783080"/>
            <a:ext cx="2894076.0" cy="182880"/>
          </a:xfrm>
          <a:prstGeom prst="line">
            <a:avLst/>
          </a:prstGeom>
          <a:ln w="19050">
            <a:solidFill>
              <a:srgbClr val="A07ED0"/>
            </a:solidFill>
            <a:tailEnd type="arrow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0" y="1965960"/>
            <a:ext cx="2743200" cy="548640"/>
          </a:xfrm>
          <a:prstGeom prst="roundRect">
            <a:avLst>
              <a:gd name="adj" fmla="val 8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F4F6F"/>
                </a:solidFill>
              </a:rPr>
              <a:t>중간 CA
(WiFi/TCP 장치용)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4476.0" y="1783080"/>
            <a:ext cx="2135124.0" cy="182880"/>
          </a:xfrm>
          <a:prstGeom prst="line">
            <a:avLst/>
          </a:prstGeom>
          <a:ln w="19050">
            <a:solidFill>
              <a:srgbClr val="A07ED0"/>
            </a:solidFill>
            <a:tailEnd type="arrow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74320" y="2743200"/>
            <a:ext cx="1508760" cy="548640"/>
          </a:xfrm>
          <a:prstGeom prst="roundRect">
            <a:avLst>
              <a:gd name="adj" fmla="val 8000"/>
            </a:avLst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2F4F6F"/>
                </a:solidFill>
              </a:rPr>
              <a:t>외부기기
인증서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2743200"/>
            <a:ext cx="1508760" cy="548640"/>
          </a:xfrm>
          <a:prstGeom prst="roundRect">
            <a:avLst>
              <a:gd name="adj" fmla="val 8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2F4F6F"/>
                </a:solidFill>
              </a:rPr>
              <a:t>Device_A
인증서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743200"/>
            <a:ext cx="1508760" cy="548640"/>
          </a:xfrm>
          <a:prstGeom prst="roundRect">
            <a:avLst>
              <a:gd name="adj" fmla="val 8000"/>
            </a:avLst>
          </a:prstGeom>
          <a:solidFill>
            <a:srgbClr val="C6E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2F4F6F"/>
                </a:solidFill>
              </a:rPr>
              <a:t>Device_B
인증서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743200"/>
            <a:ext cx="1508760" cy="548640"/>
          </a:xfrm>
          <a:prstGeom prst="roundRect">
            <a:avLst>
              <a:gd name="adj" fmla="val 8000"/>
            </a:avLst>
          </a:prstGeom>
          <a:solidFill>
            <a:srgbClr val="E2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2F4F6F"/>
                </a:solidFill>
              </a:rPr>
              <a:t>PC
인증서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2743200"/>
            <a:ext cx="1508760" cy="548640"/>
          </a:xfrm>
          <a:prstGeom prst="roundRect">
            <a:avLst>
              <a:gd name="adj" fmla="val 8000"/>
            </a:avLst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2F4F6F"/>
                </a:solidFill>
              </a:rPr>
              <a:t>추가 장치
인증서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11457432" cy="2423160"/>
          </a:xfrm>
          <a:prstGeom prst="roundRect">
            <a:avLst>
              <a:gd name="adj" fmla="val 8000"/>
            </a:avLst>
          </a:prstGeom>
          <a:solidFill>
            <a:srgbClr val="FDF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76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AA8D9"/>
                </a:solidFill>
              </a:rPr>
              <a:t>[ 키 수명 주기 관리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87368"/>
            <a:ext cx="2190902" cy="1828800"/>
          </a:xfrm>
          <a:prstGeom prst="roundRect">
            <a:avLst>
              <a:gd name="adj" fmla="val 8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F4F6F"/>
                </a:solidFill>
              </a:rPr>
              <a:t>생성</a:t>
            </a:r>
          </a:p>
          <a:p>
            <a:pPr algn="ctr"/>
            <a:r>
              <a:rPr sz="900" b="0">
                <a:solidFill>
                  <a:srgbClr val="4A5E78"/>
                </a:solidFill>
              </a:rPr>
              <a:t>• Kyber KEM으로 세션키 생성
• 장치 내부 SE/HSM에서 처리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39542" y="4087368"/>
            <a:ext cx="2190902" cy="1828800"/>
          </a:xfrm>
          <a:prstGeom prst="roundRect">
            <a:avLst>
              <a:gd name="adj" fmla="val 8000"/>
            </a:avLst>
          </a:prstGeom>
          <a:solidFill>
            <a:srgbClr val="C6E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F4F6F"/>
                </a:solidFill>
              </a:rPr>
              <a:t>배포</a:t>
            </a:r>
          </a:p>
          <a:p>
            <a:pPr algn="ctr"/>
            <a:r>
              <a:rPr sz="900" b="0">
                <a:solidFill>
                  <a:srgbClr val="4A5E78"/>
                </a:solidFill>
              </a:rPr>
              <a:t>• KEM 캡슐화로 안전 전달
• 중간 장치 경유 시 재암호화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76164" y="4087368"/>
            <a:ext cx="2190902" cy="1828800"/>
          </a:xfrm>
          <a:prstGeom prst="roundRect">
            <a:avLst>
              <a:gd name="adj" fmla="val 8000"/>
            </a:avLst>
          </a:prstGeom>
          <a:solidFill>
            <a:srgbClr val="FDE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F4F6F"/>
                </a:solidFill>
              </a:rPr>
              <a:t>저장</a:t>
            </a:r>
          </a:p>
          <a:p>
            <a:pPr algn="ctr"/>
            <a:r>
              <a:rPr sz="900" b="0">
                <a:solidFill>
                  <a:srgbClr val="4A5E78"/>
                </a:solidFill>
              </a:rPr>
              <a:t>• 세션키: RAM (휘발성)
• 장치키: SE/HSM (영구)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12787" y="4087368"/>
            <a:ext cx="2190902" cy="1828800"/>
          </a:xfrm>
          <a:prstGeom prst="roundRect">
            <a:avLst>
              <a:gd name="adj" fmla="val 8000"/>
            </a:avLst>
          </a:prstGeom>
          <a:solidFill>
            <a:srgbClr val="E2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F4F6F"/>
                </a:solidFill>
              </a:rPr>
              <a:t>갱신</a:t>
            </a:r>
          </a:p>
          <a:p>
            <a:pPr algn="ctr"/>
            <a:r>
              <a:rPr sz="900" b="0">
                <a:solidFill>
                  <a:srgbClr val="4A5E78"/>
                </a:solidFill>
              </a:rPr>
              <a:t>• 세션키: 매 세션 or 주기적
• 장치키: 1~2년 주기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49409" y="4087368"/>
            <a:ext cx="2190902" cy="1828800"/>
          </a:xfrm>
          <a:prstGeom prst="roundRect">
            <a:avLst>
              <a:gd name="adj" fmla="val 8000"/>
            </a:avLst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F4F6F"/>
                </a:solidFill>
              </a:rPr>
              <a:t>폐기</a:t>
            </a:r>
          </a:p>
          <a:p>
            <a:pPr algn="ctr"/>
            <a:r>
              <a:rPr sz="900" b="0">
                <a:solidFill>
                  <a:srgbClr val="4A5E78"/>
                </a:solidFill>
              </a:rPr>
              <a:t>• 인증서 폐기 목록(CRL) 관리
• OCSP Stapling 지원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7F9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oundRect">
            <a:avLst>
              <a:gd name="adj" fmla="val 0"/>
            </a:avLst>
          </a:prstGeom>
          <a:solidFill>
            <a:srgbClr val="E2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4F6F"/>
                </a:solidFill>
              </a:rPr>
              <a:t>5. 이벤트 / 명령 흐름과 PQC 보안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AA8D9"/>
                </a:solidFill>
              </a:rPr>
              <a:t>[ 이벤트 흐름 (→ PC 방향)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</a:rPr>
              <a:t>[ 명령 흐름 (PC → 장치 방향) 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F4F6F"/>
                </a:solidFill>
              </a:rPr>
              <a:t>외부기기 / Device_A / Device_B
이벤트 발생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360.0" y="1874520"/>
            <a:ext cx="0.0" cy="91440"/>
          </a:xfrm>
          <a:prstGeom prst="line">
            <a:avLst/>
          </a:prstGeom>
          <a:ln w="19050">
            <a:solidFill>
              <a:srgbClr val="6AA8D9"/>
            </a:solidFill>
            <a:tailEnd type="arrow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5760" y="192024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FDE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F4F6F"/>
                </a:solidFill>
              </a:rPr>
              <a:t>PQC 암호화
(해당 구간 세션키 적용)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360.0" y="2651760"/>
            <a:ext cx="0.0" cy="91440"/>
          </a:xfrm>
          <a:prstGeom prst="line">
            <a:avLst/>
          </a:prstGeom>
          <a:ln w="19050">
            <a:solidFill>
              <a:srgbClr val="6AA8D9"/>
            </a:solidFill>
            <a:tailEnd type="arrow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5760" y="269748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F4F6F"/>
                </a:solidFill>
              </a:rPr>
              <a:t>중간 장치 수신
(복호화 → 검증 → 재암호화)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360.0" y="3429000"/>
            <a:ext cx="0.0" cy="91440"/>
          </a:xfrm>
          <a:prstGeom prst="line">
            <a:avLst/>
          </a:prstGeom>
          <a:ln w="19050">
            <a:solidFill>
              <a:srgbClr val="6AA8D9"/>
            </a:solidFill>
            <a:tailEnd type="arrow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65760" y="347472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C6E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F4F6F"/>
                </a:solidFill>
              </a:rPr>
              <a:t>PC 수신
(최종 복호화 및 이벤트 처리)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14300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E2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F4F6F"/>
                </a:solidFill>
              </a:rPr>
              <a:t>PC
명령 생성 및 대상 장치 선택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15400.0" y="1874520"/>
            <a:ext cx="0.0" cy="91440"/>
          </a:xfrm>
          <a:prstGeom prst="line">
            <a:avLst/>
          </a:prstGeom>
          <a:ln w="19050">
            <a:solidFill>
              <a:srgbClr val="F5A623"/>
            </a:solidFill>
            <a:tailEnd type="arrow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400800" y="192024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F4F6F"/>
                </a:solidFill>
              </a:rPr>
              <a:t>PQC 암호화 + 서명
(Kyber KEM + Dilithium)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15400.0" y="2651760"/>
            <a:ext cx="0.0" cy="91440"/>
          </a:xfrm>
          <a:prstGeom prst="line">
            <a:avLst/>
          </a:prstGeom>
          <a:ln w="19050">
            <a:solidFill>
              <a:srgbClr val="F5A623"/>
            </a:solidFill>
            <a:tailEnd type="arrow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00800" y="269748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C6E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F4F6F"/>
                </a:solidFill>
              </a:rPr>
              <a:t>중간 장치 경유
(검증 → 복호화 → 재암호화 전달)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15400.0" y="3429000"/>
            <a:ext cx="0.0" cy="91440"/>
          </a:xfrm>
          <a:prstGeom prst="line">
            <a:avLst/>
          </a:prstGeom>
          <a:ln w="19050">
            <a:solidFill>
              <a:srgbClr val="F5A623"/>
            </a:solidFill>
            <a:tailEnd type="arrow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400800" y="347472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FDE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F4F6F"/>
                </a:solidFill>
              </a:rPr>
              <a:t>목적지 장치 수신
(복호화 → 서명 검증 → 명령 실행)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051560"/>
            <a:ext cx="36576" cy="3657600"/>
          </a:xfrm>
          <a:prstGeom prst="roundRect">
            <a:avLst>
              <a:gd name="adj" fmla="val 0"/>
            </a:avLst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663440"/>
            <a:ext cx="11457432" cy="1737360"/>
          </a:xfrm>
          <a:prstGeom prst="roundRect">
            <a:avLst>
              <a:gd name="adj" fmla="val 8000"/>
            </a:avLst>
          </a:prstGeom>
          <a:solidFill>
            <a:srgbClr val="FDF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11155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AA8D9"/>
                </a:solidFill>
              </a:rPr>
              <a:t>보안 처리 핵심 원칙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4A5E78"/>
                </a:solidFill>
              </a:rPr>
              <a:t>• Hop-by-Hop 방식: 각 구간 독립 PQC 세션 적용. 중간 장치는 신뢰 도메인 내에서 복호화 후 재암호화하여 전달.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4A5E78"/>
                </a:solidFill>
              </a:rPr>
              <a:t>• End-to-End 옵션: 외부기기~PC 구간 페이로드 추가 암호화 (AES-256-GCM + Dilithium 서명). 중간 장치는 불투명 전달.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4A5E78"/>
                </a:solidFill>
              </a:rPr>
              <a:t>• 명령 무결성: 모든 명령에 Dilithium 전자서명 필수. 수신측에서 서명 검증 후 실행.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4A5E78"/>
                </a:solidFill>
              </a:rPr>
              <a:t>• 재전송 공격 방지: 각 메시지에 Nonce + Timestamp 포함. 시퀀스 번호 관리.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7F9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oundRect">
            <a:avLst>
              <a:gd name="adj" fmla="val 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4F6F"/>
                </a:solidFill>
              </a:rPr>
              <a:t>6. 구현 로드맵 및 권장 라이브러리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AA8D9"/>
                </a:solidFill>
              </a:rPr>
              <a:t>[ 단계별 구현 로드맵 ]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70432"/>
            <a:ext cx="2791206" cy="1920240"/>
          </a:xfrm>
          <a:prstGeom prst="roundRect">
            <a:avLst>
              <a:gd name="adj" fmla="val 8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2F4F6F"/>
                </a:solidFill>
              </a:rPr>
              <a:t>Phase 1
(단기)</a:t>
            </a:r>
          </a:p>
          <a:p>
            <a:pPr algn="l"/>
            <a:r>
              <a:rPr sz="950" b="0">
                <a:solidFill>
                  <a:srgbClr val="4A5E78"/>
                </a:solidFill>
              </a:rPr>
              <a:t>• Ethernet TCP 구간 PQC TLS 적용 (OQS-OpenSSL)
• PC ↔ Device_B 간 Kyber-768 + Dilithium3 우선 적용
• 하이브리드 모드(PQC + 기존 ECDH) 병행</a:t>
            </a:r>
          </a:p>
        </p:txBody>
      </p:sp>
      <p:sp>
        <p:nvSpPr>
          <p:cNvPr id="5" name="Rectangle 4"/>
          <p:cNvSpPr/>
          <p:nvPr/>
        </p:nvSpPr>
        <p:spPr>
          <a:xfrm>
            <a:off x="3230118" y="1170432"/>
            <a:ext cx="2791206" cy="1920240"/>
          </a:xfrm>
          <a:prstGeom prst="roundRect">
            <a:avLst>
              <a:gd name="adj" fmla="val 8000"/>
            </a:avLst>
          </a:prstGeom>
          <a:solidFill>
            <a:srgbClr val="C6E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2F4F6F"/>
                </a:solidFill>
              </a:rPr>
              <a:t>Phase 2
(중기)</a:t>
            </a:r>
          </a:p>
          <a:p>
            <a:pPr algn="l"/>
            <a:r>
              <a:rPr sz="950" b="0">
                <a:solidFill>
                  <a:srgbClr val="4A5E78"/>
                </a:solidFill>
              </a:rPr>
              <a:t>• WiFi 구간 PQC TLS 적용
• Device_A ↔ Device_B 간 PQC TLS 세션 구성
• 인증서 관리 시스템(CA) 구축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76" y="1170432"/>
            <a:ext cx="2791206" cy="1920240"/>
          </a:xfrm>
          <a:prstGeom prst="roundRect">
            <a:avLst>
              <a:gd name="adj" fmla="val 8000"/>
            </a:avLst>
          </a:prstGeom>
          <a:solidFill>
            <a:srgbClr val="FDE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2F4F6F"/>
                </a:solidFill>
              </a:rPr>
              <a:t>Phase 3
(장기)</a:t>
            </a:r>
          </a:p>
          <a:p>
            <a:pPr algn="l"/>
            <a:r>
              <a:rPr sz="950" b="0">
                <a:solidFill>
                  <a:srgbClr val="4A5E78"/>
                </a:solidFill>
              </a:rPr>
              <a:t>• BLE 구간 PQC KEM 적용
• 경량 PQC(Kyber-512, Falcon-512) 외부기기 탑재
• SE(Secure Element) 활용 하드웨어 가속</a:t>
            </a:r>
          </a:p>
        </p:txBody>
      </p:sp>
      <p:sp>
        <p:nvSpPr>
          <p:cNvPr id="7" name="Rectangle 6"/>
          <p:cNvSpPr/>
          <p:nvPr/>
        </p:nvSpPr>
        <p:spPr>
          <a:xfrm>
            <a:off x="8958834" y="1170432"/>
            <a:ext cx="2791206" cy="1920240"/>
          </a:xfrm>
          <a:prstGeom prst="roundRect">
            <a:avLst>
              <a:gd name="adj" fmla="val 8000"/>
            </a:avLst>
          </a:prstGeom>
          <a:solidFill>
            <a:srgbClr val="E2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2F4F6F"/>
                </a:solidFill>
              </a:rPr>
              <a:t>Phase 4
(완성)</a:t>
            </a:r>
          </a:p>
          <a:p>
            <a:pPr algn="l"/>
            <a:r>
              <a:rPr sz="950" b="0">
                <a:solidFill>
                  <a:srgbClr val="4A5E78"/>
                </a:solidFill>
              </a:rPr>
              <a:t>• E2E 추가 암호화 레이어 구현
• 전체 장치 인증서 관리 자동화
• NIST PQC 표준 정식 발표 반영 업데이트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0040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AA8D9"/>
                </a:solidFill>
              </a:rPr>
              <a:t>[ 권장 PQC 라이브러리 ]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47872"/>
            <a:ext cx="1854708" cy="2194560"/>
          </a:xfrm>
          <a:prstGeom prst="roundRect">
            <a:avLst>
              <a:gd name="adj" fmla="val 8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F4F6F"/>
                </a:solidFill>
              </a:rPr>
              <a:t>OQS-OpenSSL
(liboqs)</a:t>
            </a:r>
          </a:p>
          <a:p>
            <a:pPr algn="ctr"/>
            <a:r>
              <a:rPr sz="900" b="0">
                <a:solidFill>
                  <a:srgbClr val="4A5E78"/>
                </a:solidFill>
              </a:rPr>
              <a:t>TLS 통합
(WiFi/TCP)</a:t>
            </a:r>
          </a:p>
          <a:p>
            <a:pPr algn="ctr"/>
            <a:r>
              <a:rPr sz="850" b="0">
                <a:solidFill>
                  <a:srgbClr val="6A7F9A"/>
                </a:solidFill>
              </a:rPr>
              <a:t>대상: PC, Device_A/B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75332" y="3547872"/>
            <a:ext cx="1854708" cy="2194560"/>
          </a:xfrm>
          <a:prstGeom prst="roundRect">
            <a:avLst>
              <a:gd name="adj" fmla="val 8000"/>
            </a:avLst>
          </a:prstGeom>
          <a:solidFill>
            <a:srgbClr val="C6E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F4F6F"/>
                </a:solidFill>
              </a:rPr>
              <a:t>liboqs
(C 라이브러리)</a:t>
            </a:r>
          </a:p>
          <a:p>
            <a:pPr algn="ctr"/>
            <a:r>
              <a:rPr sz="900" b="0">
                <a:solidFill>
                  <a:srgbClr val="4A5E78"/>
                </a:solidFill>
              </a:rPr>
              <a:t>알고리즘 구현
Kyber, Dilithium,
Falcon, SPHINCS+</a:t>
            </a:r>
          </a:p>
          <a:p>
            <a:pPr algn="ctr"/>
            <a:r>
              <a:rPr sz="850" b="0">
                <a:solidFill>
                  <a:srgbClr val="6A7F9A"/>
                </a:solidFill>
              </a:rPr>
              <a:t>대상: 모든 장치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4904" y="3547872"/>
            <a:ext cx="1854708" cy="2194560"/>
          </a:xfrm>
          <a:prstGeom prst="roundRect">
            <a:avLst>
              <a:gd name="adj" fmla="val 8000"/>
            </a:avLst>
          </a:prstGeom>
          <a:solidFill>
            <a:srgbClr val="FDE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F4F6F"/>
                </a:solidFill>
              </a:rPr>
              <a:t>wolfSSL
+ wolfCrypt</a:t>
            </a:r>
          </a:p>
          <a:p>
            <a:pPr algn="ctr"/>
            <a:r>
              <a:rPr sz="900" b="0">
                <a:solidFill>
                  <a:srgbClr val="4A5E78"/>
                </a:solidFill>
              </a:rPr>
              <a:t>임베디드 TLS
PQC 지원 버전</a:t>
            </a:r>
          </a:p>
          <a:p>
            <a:pPr algn="ctr"/>
            <a:r>
              <a:rPr sz="850" b="0">
                <a:solidFill>
                  <a:srgbClr val="6A7F9A"/>
                </a:solidFill>
              </a:rPr>
              <a:t>대상: Device_A,
Device_B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3547872"/>
            <a:ext cx="1854708" cy="2194560"/>
          </a:xfrm>
          <a:prstGeom prst="roundRect">
            <a:avLst>
              <a:gd name="adj" fmla="val 8000"/>
            </a:avLst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F4F6F"/>
                </a:solidFill>
              </a:rPr>
              <a:t>PQClean
(경량 C)</a:t>
            </a:r>
          </a:p>
          <a:p>
            <a:pPr algn="ctr"/>
            <a:r>
              <a:rPr sz="900" b="0">
                <a:solidFill>
                  <a:srgbClr val="4A5E78"/>
                </a:solidFill>
              </a:rPr>
              <a:t>BLE MCU용
경량 구현체</a:t>
            </a:r>
          </a:p>
          <a:p>
            <a:pPr algn="ctr"/>
            <a:r>
              <a:rPr sz="850" b="0">
                <a:solidFill>
                  <a:srgbClr val="6A7F9A"/>
                </a:solidFill>
              </a:rPr>
              <a:t>대상: 외부기기,
Device_A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4048" y="3547872"/>
            <a:ext cx="1854708" cy="2194560"/>
          </a:xfrm>
          <a:prstGeom prst="roundRect">
            <a:avLst>
              <a:gd name="adj" fmla="val 8000"/>
            </a:avLst>
          </a:prstGeom>
          <a:solidFill>
            <a:srgbClr val="C0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F4F6F"/>
                </a:solidFill>
              </a:rPr>
              <a:t>Mbed TLS
+ PQC 패치</a:t>
            </a:r>
          </a:p>
          <a:p>
            <a:pPr algn="ctr"/>
            <a:r>
              <a:rPr sz="900" b="0">
                <a:solidFill>
                  <a:srgbClr val="4A5E78"/>
                </a:solidFill>
              </a:rPr>
              <a:t>ARM 최적화
임베디드용</a:t>
            </a:r>
          </a:p>
          <a:p>
            <a:pPr algn="ctr"/>
            <a:r>
              <a:rPr sz="850" b="0">
                <a:solidFill>
                  <a:srgbClr val="6A7F9A"/>
                </a:solidFill>
              </a:rPr>
              <a:t>대상: ARM MCU
장치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13620" y="3547872"/>
            <a:ext cx="1854708" cy="2194560"/>
          </a:xfrm>
          <a:prstGeom prst="roundRect">
            <a:avLst>
              <a:gd name="adj" fmla="val 8000"/>
            </a:avLst>
          </a:prstGeom>
          <a:solidFill>
            <a:srgbClr val="E2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F4F6F"/>
                </a:solidFill>
              </a:rPr>
              <a:t>HSM / SE
(하드웨어)</a:t>
            </a:r>
          </a:p>
          <a:p>
            <a:pPr algn="ctr"/>
            <a:r>
              <a:rPr sz="900" b="0">
                <a:solidFill>
                  <a:srgbClr val="4A5E78"/>
                </a:solidFill>
              </a:rPr>
              <a:t>Infineon SLx9670
NXP SE050 등</a:t>
            </a:r>
          </a:p>
          <a:p>
            <a:pPr algn="ctr"/>
            <a:r>
              <a:rPr sz="850" b="0">
                <a:solidFill>
                  <a:srgbClr val="6A7F9A"/>
                </a:solidFill>
              </a:rPr>
              <a:t>대상: 키 저장·연산
오프로드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897880"/>
            <a:ext cx="11457432" cy="594360"/>
          </a:xfrm>
          <a:prstGeom prst="roundRect">
            <a:avLst>
              <a:gd name="adj" fmla="val 6000"/>
            </a:avLst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94360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E78"/>
                </a:solidFill>
              </a:rPr>
              <a:t>※ NIST PQC 표준: Kyber → ML-KEM (FIPS 203), Dilithium → ML-DSA (FIPS 204), Falcon → SLH-DSA (FIPS 205) 로 정식 명명됨 (2024년 발표).
   하이브리드 방식(PQC + 기존 알고리즘 병행)을 전환기 동안 적용하여 하위 호환성을 유지하는 것을 권장함.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7F9A"/>
                </a:solidFill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