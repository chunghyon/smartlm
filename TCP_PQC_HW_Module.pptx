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TCP 통신 구간 하드웨어 PQC 적용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063240"/>
            <a:ext cx="7616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BF"/>
                </a:solidFill>
              </a:rPr>
              <a:t>Xiphera xQlave FPGA 기반  |  1 : N (N ≈ 100)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양자내성암호(PQC) 적용 아키텍처 및 구현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126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배경 및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888888"/>
                </a:solidFill>
              </a:rPr>
              <a:t>Why </a:t>
            </a:r>
            <a:r>
              <a:rPr sz="1200" b="0" i="1" dirty="0" err="1">
                <a:solidFill>
                  <a:srgbClr val="888888"/>
                </a:solidFill>
              </a:rPr>
              <a:t>PQC</a:t>
            </a:r>
            <a:r>
              <a:rPr sz="1200" b="0" i="1" dirty="0">
                <a:solidFill>
                  <a:srgbClr val="888888"/>
                </a:solidFill>
              </a:rPr>
              <a:t> on Hardware?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2560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문제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양자 컴퓨터의 실용화로 RSA/ECC 기반 암호체계 붕괴 위협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Shor 알고리즘: 2048-bit RSA를 다항 시간에 해독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NIST PQC 표준화 완료 (ML-KEM, ML-DSA, SLH-DSA,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2120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</a:t>
            </a:r>
            <a:r>
              <a:rPr sz="1250" b="0" i="0" dirty="0" err="1">
                <a:solidFill>
                  <a:srgbClr val="1A1A1A"/>
                </a:solidFill>
              </a:rPr>
              <a:t>기존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lang="ko-KR" altLang="en-US" sz="1250" dirty="0">
                <a:solidFill>
                  <a:srgbClr val="1A1A1A"/>
                </a:solidFill>
              </a:rPr>
              <a:t>검증된 </a:t>
            </a:r>
            <a:r>
              <a:rPr sz="1250" b="0" i="0" dirty="0" err="1">
                <a:solidFill>
                  <a:srgbClr val="1A1A1A"/>
                </a:solidFill>
              </a:rPr>
              <a:t>소프트웨어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교체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없이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보안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강화</a:t>
            </a:r>
            <a:endParaRPr sz="1250" b="0" i="0" dirty="0">
              <a:solidFill>
                <a:srgbClr val="1A1A1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0" y="1325880"/>
            <a:ext cx="5943600" cy="2560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53328" y="1435607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프로젝트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837943"/>
            <a:ext cx="57607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</a:t>
            </a:r>
            <a:r>
              <a:rPr sz="1250" b="0" i="0" dirty="0" err="1">
                <a:solidFill>
                  <a:srgbClr val="1A1A1A"/>
                </a:solidFill>
              </a:rPr>
              <a:t>기존</a:t>
            </a:r>
            <a:r>
              <a:rPr sz="1250" b="0" i="0" dirty="0">
                <a:solidFill>
                  <a:srgbClr val="1A1A1A"/>
                </a:solidFill>
              </a:rPr>
              <a:t> PC ↔ </a:t>
            </a:r>
            <a:r>
              <a:rPr sz="1250" b="0" i="0" dirty="0" err="1">
                <a:solidFill>
                  <a:srgbClr val="1A1A1A"/>
                </a:solidFill>
              </a:rPr>
              <a:t>디바이스</a:t>
            </a:r>
            <a:r>
              <a:rPr lang="en-US" sz="1250" b="0" i="0" dirty="0">
                <a:solidFill>
                  <a:srgbClr val="1A1A1A"/>
                </a:solidFill>
              </a:rPr>
              <a:t>(</a:t>
            </a:r>
            <a:r>
              <a:rPr lang="ko-KR" altLang="en-US" sz="1250" b="0" i="0" dirty="0">
                <a:solidFill>
                  <a:srgbClr val="1A1A1A"/>
                </a:solidFill>
              </a:rPr>
              <a:t>게이트웨이 또는 로비마스터</a:t>
            </a:r>
            <a:r>
              <a:rPr lang="en-US" altLang="ko-KR" sz="1250" b="0" i="0" dirty="0">
                <a:solidFill>
                  <a:srgbClr val="1A1A1A"/>
                </a:solidFill>
              </a:rPr>
              <a:t>)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소프트웨어</a:t>
            </a:r>
            <a:r>
              <a:rPr sz="1250" b="0" i="0" dirty="0">
                <a:solidFill>
                  <a:srgbClr val="1A1A1A"/>
                </a:solidFill>
              </a:rPr>
              <a:t>/</a:t>
            </a:r>
            <a:r>
              <a:rPr sz="1250" b="0" i="0" dirty="0" err="1">
                <a:solidFill>
                  <a:srgbClr val="1A1A1A"/>
                </a:solidFill>
              </a:rPr>
              <a:t>코드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무수정</a:t>
            </a:r>
            <a:endParaRPr sz="1250" b="0" i="0" dirty="0">
              <a:solidFill>
                <a:srgbClr val="1A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16752" y="216712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TCP 통신 구간에 투명하게 PQC 암호화 삽입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49631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FPGA 하드웨어 가속으로 성능 저하 최소화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825495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1 PC : 최대 100대 디바이스 동시 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315467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Xiphera xQlave IP 코어 활용으로 검증된 PQC 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11612880" cy="68580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E6FBF"/>
                </a:solidFill>
              </a:rPr>
              <a:t>핵심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sz="1300" b="1" i="0" dirty="0" err="1">
                <a:solidFill>
                  <a:srgbClr val="1E6FBF"/>
                </a:solidFill>
              </a:rPr>
              <a:t>원칙</a:t>
            </a:r>
            <a:r>
              <a:rPr sz="1300" b="1" i="0" dirty="0">
                <a:solidFill>
                  <a:srgbClr val="1E6FBF"/>
                </a:solidFill>
              </a:rPr>
              <a:t>: </a:t>
            </a:r>
            <a:r>
              <a:rPr sz="1300" b="1" i="0" dirty="0" err="1">
                <a:solidFill>
                  <a:srgbClr val="1E6FBF"/>
                </a:solidFill>
              </a:rPr>
              <a:t>통신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sz="1300" b="1" i="0" dirty="0" err="1">
                <a:solidFill>
                  <a:srgbClr val="1E6FBF"/>
                </a:solidFill>
              </a:rPr>
              <a:t>경로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sz="1300" b="1" i="0" dirty="0" err="1">
                <a:solidFill>
                  <a:srgbClr val="1E6FBF"/>
                </a:solidFill>
              </a:rPr>
              <a:t>중간에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sz="1300" b="1" i="0" dirty="0" err="1">
                <a:solidFill>
                  <a:srgbClr val="1E6FBF"/>
                </a:solidFill>
              </a:rPr>
              <a:t>PQC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sz="1300" b="1" i="0" dirty="0" err="1">
                <a:solidFill>
                  <a:srgbClr val="1E6FBF"/>
                </a:solidFill>
              </a:rPr>
              <a:t>하드웨어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lang="en-US" sz="1300" b="1" dirty="0" err="1">
                <a:solidFill>
                  <a:srgbClr val="1E6FBF"/>
                </a:solidFill>
              </a:rPr>
              <a:t>PQC</a:t>
            </a:r>
            <a:r>
              <a:rPr lang="en-US" sz="1300" b="1" dirty="0">
                <a:solidFill>
                  <a:srgbClr val="1E6FBF"/>
                </a:solidFill>
              </a:rPr>
              <a:t> </a:t>
            </a:r>
            <a:r>
              <a:rPr lang="ko-KR" altLang="en-US" sz="1300" b="1" dirty="0">
                <a:solidFill>
                  <a:srgbClr val="1E6FBF"/>
                </a:solidFill>
              </a:rPr>
              <a:t>모듈</a:t>
            </a:r>
            <a:r>
              <a:rPr sz="1300" b="1" i="0" dirty="0">
                <a:solidFill>
                  <a:srgbClr val="1E6FBF"/>
                </a:solidFill>
              </a:rPr>
              <a:t> </a:t>
            </a:r>
            <a:r>
              <a:rPr sz="1300" b="1" i="0" dirty="0" err="1">
                <a:solidFill>
                  <a:srgbClr val="1E6FBF"/>
                </a:solidFill>
              </a:rPr>
              <a:t>삽입</a:t>
            </a:r>
            <a:endParaRPr sz="1300" b="1" i="0" dirty="0">
              <a:solidFill>
                <a:srgbClr val="1E6FB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핵심 개념: 투명 PQC 게이트웨이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888888"/>
                </a:solidFill>
              </a:rPr>
              <a:t>Transparent In-line </a:t>
            </a:r>
            <a:r>
              <a:rPr sz="1200" b="0" i="1" dirty="0" err="1">
                <a:solidFill>
                  <a:srgbClr val="888888"/>
                </a:solidFill>
              </a:rPr>
              <a:t>PQC</a:t>
            </a:r>
            <a:r>
              <a:rPr sz="1200" b="0" i="1" dirty="0">
                <a:solidFill>
                  <a:srgbClr val="888888"/>
                </a:solidFill>
              </a:rPr>
              <a:t> Hardware </a:t>
            </a:r>
            <a:r>
              <a:rPr lang="ko-KR" altLang="en-US" sz="1200" i="1" dirty="0">
                <a:solidFill>
                  <a:srgbClr val="888888"/>
                </a:solidFill>
              </a:rPr>
              <a:t>모듈</a:t>
            </a:r>
            <a:endParaRPr sz="1200" b="0" i="1" dirty="0">
              <a:solidFill>
                <a:srgbClr val="88888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6459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E3A5F"/>
                </a:solidFill>
              </a:rPr>
              <a:t>PC
(</a:t>
            </a:r>
            <a:r>
              <a:rPr sz="1200" b="1" i="0" dirty="0" err="1">
                <a:solidFill>
                  <a:srgbClr val="1E3A5F"/>
                </a:solidFill>
              </a:rPr>
              <a:t>기존</a:t>
            </a:r>
            <a:r>
              <a:rPr sz="1200" b="1" i="0" dirty="0">
                <a:solidFill>
                  <a:srgbClr val="1E3A5F"/>
                </a:solidFill>
              </a:rPr>
              <a:t> SW</a:t>
            </a:r>
            <a:r>
              <a:rPr lang="en-US" sz="1200" b="1" i="0" dirty="0">
                <a:solidFill>
                  <a:srgbClr val="1E3A5F"/>
                </a:solidFill>
              </a:rPr>
              <a:t> </a:t>
            </a:r>
            <a:r>
              <a:rPr sz="1200" b="1" i="0" dirty="0" err="1">
                <a:solidFill>
                  <a:srgbClr val="1E3A5F"/>
                </a:solidFill>
              </a:rPr>
              <a:t>무수정</a:t>
            </a:r>
            <a:r>
              <a:rPr sz="1200" b="1" i="0" dirty="0">
                <a:solidFill>
                  <a:srgbClr val="1E3A5F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TCP (평문)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───────►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417320"/>
            <a:ext cx="2011680" cy="1371600"/>
          </a:xfrm>
          <a:prstGeom prst="rect">
            <a:avLst/>
          </a:prstGeom>
          <a:solidFill>
            <a:srgbClr val="F0F4F9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417320"/>
            <a:ext cx="2011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1E3A5F"/>
                </a:solidFill>
              </a:rPr>
              <a:t>PQC</a:t>
            </a:r>
            <a:r>
              <a:rPr sz="1100" b="1" i="0" dirty="0">
                <a:solidFill>
                  <a:srgbClr val="1E3A5F"/>
                </a:solidFill>
              </a:rPr>
              <a:t> </a:t>
            </a:r>
            <a:r>
              <a:rPr lang="ko-KR" altLang="en-US" sz="1100" b="1" i="0" dirty="0">
                <a:solidFill>
                  <a:srgbClr val="1E3A5F"/>
                </a:solidFill>
              </a:rPr>
              <a:t>모듈</a:t>
            </a:r>
            <a:r>
              <a:rPr sz="1100" b="1" i="0" dirty="0">
                <a:solidFill>
                  <a:srgbClr val="1E3A5F"/>
                </a:solidFill>
              </a:rPr>
              <a:t>
(Host Side)
FPGA + </a:t>
            </a:r>
            <a:r>
              <a:rPr sz="1100" b="1" i="0" dirty="0" err="1">
                <a:solidFill>
                  <a:srgbClr val="1E3A5F"/>
                </a:solidFill>
              </a:rPr>
              <a:t>xQlave</a:t>
            </a:r>
            <a:endParaRPr sz="1100" b="1" i="0" dirty="0">
              <a:solidFill>
                <a:srgbClr val="1E3A5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7A4B"/>
                </a:solidFill>
              </a:rPr>
              <a:t>PQC 암호화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7A4B"/>
                </a:solidFill>
              </a:rPr>
              <a:t>═══════►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13716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IP Network
(TCP)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7A4B"/>
                </a:solidFill>
              </a:rPr>
              <a:t>PQC 암호화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7A4B"/>
                </a:solidFill>
              </a:rPr>
              <a:t>═══════►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2011680" cy="1371600"/>
          </a:xfrm>
          <a:prstGeom prst="rect">
            <a:avLst/>
          </a:prstGeom>
          <a:solidFill>
            <a:srgbClr val="F0F4F9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417320"/>
            <a:ext cx="2011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1E3A5F"/>
                </a:solidFill>
              </a:rPr>
              <a:t>PQC</a:t>
            </a:r>
            <a:r>
              <a:rPr sz="1100" b="1" i="0" dirty="0">
                <a:solidFill>
                  <a:srgbClr val="1E3A5F"/>
                </a:solidFill>
              </a:rPr>
              <a:t> </a:t>
            </a:r>
            <a:r>
              <a:rPr lang="ko-KR" altLang="en-US" sz="1100" b="1" dirty="0">
                <a:solidFill>
                  <a:srgbClr val="1E3A5F"/>
                </a:solidFill>
              </a:rPr>
              <a:t>모듈</a:t>
            </a:r>
            <a:r>
              <a:rPr sz="1100" b="1" i="0" dirty="0">
                <a:solidFill>
                  <a:srgbClr val="1E3A5F"/>
                </a:solidFill>
              </a:rPr>
              <a:t>
(Device Side)
FPGA + </a:t>
            </a:r>
            <a:r>
              <a:rPr sz="1100" b="1" i="0" dirty="0" err="1">
                <a:solidFill>
                  <a:srgbClr val="1E3A5F"/>
                </a:solidFill>
              </a:rPr>
              <a:t>xQlave</a:t>
            </a:r>
            <a:endParaRPr sz="1100" b="1" i="0" dirty="0">
              <a:solidFill>
                <a:srgbClr val="1E3A5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018520" y="1463040"/>
            <a:ext cx="1097280" cy="7772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18520" y="1463040"/>
            <a:ext cx="1097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E3A5F"/>
                </a:solidFill>
              </a:rPr>
              <a:t>Device 1</a:t>
            </a:r>
            <a:br>
              <a:rPr lang="en-US" sz="1100" b="0" i="0" dirty="0">
                <a:solidFill>
                  <a:srgbClr val="1E3A5F"/>
                </a:solidFill>
              </a:rPr>
            </a:br>
            <a:r>
              <a:rPr lang="en-US" sz="1100" b="0" i="0" dirty="0">
                <a:solidFill>
                  <a:srgbClr val="1E3A5F"/>
                </a:solidFill>
              </a:rPr>
              <a:t>(</a:t>
            </a:r>
            <a:r>
              <a:rPr lang="ko-KR" altLang="en-US" sz="1100" b="0" i="0" dirty="0">
                <a:solidFill>
                  <a:srgbClr val="1E3A5F"/>
                </a:solidFill>
              </a:rPr>
              <a:t>게이트웨이 </a:t>
            </a:r>
            <a:r>
              <a:rPr lang="en-US" altLang="ko-KR" sz="1100" b="0" i="0" dirty="0">
                <a:solidFill>
                  <a:srgbClr val="1E3A5F"/>
                </a:solidFill>
              </a:rPr>
              <a:t>or</a:t>
            </a:r>
            <a:br>
              <a:rPr lang="en-US" altLang="ko-KR" sz="1100" b="0" i="0" dirty="0">
                <a:solidFill>
                  <a:srgbClr val="1E3A5F"/>
                </a:solidFill>
              </a:rPr>
            </a:br>
            <a:r>
              <a:rPr lang="ko-KR" altLang="en-US" sz="1100" b="0" i="0" dirty="0">
                <a:solidFill>
                  <a:srgbClr val="1E3A5F"/>
                </a:solidFill>
              </a:rPr>
              <a:t>로비마스터</a:t>
            </a:r>
            <a:r>
              <a:rPr lang="en-US" altLang="ko-KR" sz="1100" b="0" i="0" dirty="0">
                <a:solidFill>
                  <a:srgbClr val="1E3A5F"/>
                </a:solidFill>
              </a:rPr>
              <a:t>)</a:t>
            </a:r>
            <a:endParaRPr sz="1100" b="0" i="0" dirty="0">
              <a:solidFill>
                <a:srgbClr val="1E3A5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018520" y="2468880"/>
            <a:ext cx="1097280" cy="7772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18520" y="2468880"/>
            <a:ext cx="1097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E3A5F"/>
                </a:solidFill>
              </a:rPr>
              <a:t>Device 2</a:t>
            </a:r>
            <a:br>
              <a:rPr lang="en-US" sz="1100" b="0" i="0" dirty="0">
                <a:solidFill>
                  <a:srgbClr val="1E3A5F"/>
                </a:solidFill>
              </a:rPr>
            </a:br>
            <a:r>
              <a:rPr lang="en-US" altLang="ko-KR" sz="1100" dirty="0">
                <a:solidFill>
                  <a:srgbClr val="1E3A5F"/>
                </a:solidFill>
              </a:rPr>
              <a:t>(</a:t>
            </a:r>
            <a:r>
              <a:rPr lang="ko-KR" altLang="en-US" sz="1100" dirty="0">
                <a:solidFill>
                  <a:srgbClr val="1E3A5F"/>
                </a:solidFill>
              </a:rPr>
              <a:t>게이트웨이 </a:t>
            </a:r>
            <a:r>
              <a:rPr lang="en-US" altLang="ko-KR" sz="1100" dirty="0">
                <a:solidFill>
                  <a:srgbClr val="1E3A5F"/>
                </a:solidFill>
              </a:rPr>
              <a:t>or</a:t>
            </a:r>
            <a:br>
              <a:rPr lang="en-US" altLang="ko-KR" sz="1100" dirty="0">
                <a:solidFill>
                  <a:srgbClr val="1E3A5F"/>
                </a:solidFill>
              </a:rPr>
            </a:br>
            <a:r>
              <a:rPr lang="ko-KR" altLang="en-US" sz="1100" dirty="0">
                <a:solidFill>
                  <a:srgbClr val="1E3A5F"/>
                </a:solidFill>
              </a:rPr>
              <a:t>로비마스터</a:t>
            </a:r>
            <a:r>
              <a:rPr lang="en-US" altLang="ko-KR" sz="1100" dirty="0">
                <a:solidFill>
                  <a:srgbClr val="1E3A5F"/>
                </a:solidFill>
              </a:rPr>
              <a:t>)</a:t>
            </a:r>
            <a:endParaRPr sz="1100" b="0" i="0" dirty="0">
              <a:solidFill>
                <a:srgbClr val="1E3A5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018520" y="3474720"/>
            <a:ext cx="1097280" cy="7772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18520" y="3474720"/>
            <a:ext cx="1097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E3A5F"/>
                </a:solidFill>
              </a:rPr>
              <a:t>Device N</a:t>
            </a:r>
            <a:br>
              <a:rPr lang="en-US" sz="1100" b="0" i="0" dirty="0">
                <a:solidFill>
                  <a:srgbClr val="1E3A5F"/>
                </a:solidFill>
              </a:rPr>
            </a:br>
            <a:r>
              <a:rPr lang="en-US" altLang="ko-KR" sz="1100" dirty="0">
                <a:solidFill>
                  <a:srgbClr val="1E3A5F"/>
                </a:solidFill>
              </a:rPr>
              <a:t>(</a:t>
            </a:r>
            <a:r>
              <a:rPr lang="ko-KR" altLang="en-US" sz="1100" dirty="0">
                <a:solidFill>
                  <a:srgbClr val="1E3A5F"/>
                </a:solidFill>
              </a:rPr>
              <a:t>게이트웨이 </a:t>
            </a:r>
            <a:r>
              <a:rPr lang="en-US" altLang="ko-KR" sz="1100" dirty="0">
                <a:solidFill>
                  <a:srgbClr val="1E3A5F"/>
                </a:solidFill>
              </a:rPr>
              <a:t>or</a:t>
            </a:r>
            <a:br>
              <a:rPr lang="en-US" altLang="ko-KR" sz="1100" dirty="0">
                <a:solidFill>
                  <a:srgbClr val="1E3A5F"/>
                </a:solidFill>
              </a:rPr>
            </a:br>
            <a:r>
              <a:rPr lang="ko-KR" altLang="en-US" sz="1100" dirty="0">
                <a:solidFill>
                  <a:srgbClr val="1E3A5F"/>
                </a:solidFill>
              </a:rPr>
              <a:t>로비마스터</a:t>
            </a:r>
            <a:r>
              <a:rPr lang="en-US" altLang="ko-KR" sz="1100" dirty="0">
                <a:solidFill>
                  <a:srgbClr val="1E3A5F"/>
                </a:solidFill>
              </a:rPr>
              <a:t>)</a:t>
            </a:r>
            <a:endParaRPr sz="1100" b="0" i="0" dirty="0">
              <a:solidFill>
                <a:srgbClr val="1E3A5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757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08960"/>
            <a:ext cx="6474823" cy="18288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21868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동작 원리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362102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PC와 디바이스는 기존과 동일한 일반 TCP 소켓 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950208"/>
            <a:ext cx="11430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</a:t>
            </a:r>
            <a:r>
              <a:rPr lang="en-US" sz="1250" dirty="0" err="1">
                <a:solidFill>
                  <a:srgbClr val="1A1A1A"/>
                </a:solidFill>
              </a:rPr>
              <a:t>PQC</a:t>
            </a:r>
            <a:r>
              <a:rPr lang="en-US" sz="1250" dirty="0">
                <a:solidFill>
                  <a:srgbClr val="1A1A1A"/>
                </a:solidFill>
              </a:rPr>
              <a:t> </a:t>
            </a:r>
            <a:r>
              <a:rPr lang="ko-KR" altLang="en-US" sz="1250" dirty="0">
                <a:solidFill>
                  <a:srgbClr val="1A1A1A"/>
                </a:solidFill>
              </a:rPr>
              <a:t>모듈이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패킷을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가로채어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PQC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암호화</a:t>
            </a:r>
            <a:r>
              <a:rPr sz="1250" b="0" i="0" dirty="0">
                <a:solidFill>
                  <a:srgbClr val="1A1A1A"/>
                </a:solidFill>
              </a:rPr>
              <a:t>/</a:t>
            </a:r>
            <a:r>
              <a:rPr sz="1250" b="0" i="0" dirty="0" err="1">
                <a:solidFill>
                  <a:srgbClr val="1A1A1A"/>
                </a:solidFill>
              </a:rPr>
              <a:t>복호화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수행</a:t>
            </a:r>
            <a:endParaRPr sz="1250" b="0" i="0" dirty="0">
              <a:solidFill>
                <a:srgbClr val="1A1A1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7472" y="42793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ML-KEM (Kyber) 키 캡슐화 + AES-256-GCM 데이터 암호화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608576"/>
            <a:ext cx="11430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</a:t>
            </a:r>
            <a:r>
              <a:rPr lang="en-US" sz="1250" b="0" i="0" dirty="0" err="1">
                <a:solidFill>
                  <a:srgbClr val="1A1A1A"/>
                </a:solidFill>
              </a:rPr>
              <a:t>PQC</a:t>
            </a:r>
            <a:r>
              <a:rPr lang="en-US" sz="1250" b="0" i="0" dirty="0">
                <a:solidFill>
                  <a:srgbClr val="1A1A1A"/>
                </a:solidFill>
              </a:rPr>
              <a:t> </a:t>
            </a:r>
            <a:r>
              <a:rPr lang="ko-KR" altLang="en-US" sz="1250" b="0" i="0" dirty="0">
                <a:solidFill>
                  <a:srgbClr val="1A1A1A"/>
                </a:solidFill>
              </a:rPr>
              <a:t>모듈</a:t>
            </a:r>
            <a:r>
              <a:rPr sz="1250" b="0" i="0" dirty="0">
                <a:solidFill>
                  <a:srgbClr val="1A1A1A"/>
                </a:solidFill>
              </a:rPr>
              <a:t> 쌍(Host/Device)이 </a:t>
            </a:r>
            <a:r>
              <a:rPr sz="1250" b="0" i="0" dirty="0" err="1">
                <a:solidFill>
                  <a:srgbClr val="1A1A1A"/>
                </a:solidFill>
              </a:rPr>
              <a:t>독립적으로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세션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관리</a:t>
            </a:r>
            <a:endParaRPr sz="1250" b="0" i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1E3A5F"/>
                </a:solidFill>
              </a:rPr>
              <a:t>Xiphera</a:t>
            </a:r>
            <a:r>
              <a:rPr sz="2400" b="1" i="0" dirty="0">
                <a:solidFill>
                  <a:srgbClr val="1E3A5F"/>
                </a:solidFill>
              </a:rPr>
              <a:t> </a:t>
            </a:r>
            <a:r>
              <a:rPr sz="2400" b="1" i="0" dirty="0" err="1">
                <a:solidFill>
                  <a:srgbClr val="1E3A5F"/>
                </a:solidFill>
              </a:rPr>
              <a:t>xQlave</a:t>
            </a:r>
            <a:r>
              <a:rPr sz="2400" b="1" i="0" dirty="0">
                <a:solidFill>
                  <a:srgbClr val="1E3A5F"/>
                </a:solidFill>
              </a:rPr>
              <a:t>™ FPGA IP </a:t>
            </a:r>
            <a:r>
              <a:rPr sz="2400" b="1" i="0" dirty="0" err="1">
                <a:solidFill>
                  <a:srgbClr val="1E3A5F"/>
                </a:solidFill>
              </a:rPr>
              <a:t>코어</a:t>
            </a:r>
            <a:endParaRPr sz="2400" b="1" i="0" dirty="0">
              <a:solidFill>
                <a:srgbClr val="1E3A5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www.xiphera.com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2525058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00771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E3A5F"/>
                </a:solidFill>
              </a:rPr>
              <a:t>Xiphera</a:t>
            </a:r>
            <a:r>
              <a:rPr sz="1300" b="1" i="0" dirty="0">
                <a:solidFill>
                  <a:srgbClr val="1E3A5F"/>
                </a:solidFill>
              </a:rPr>
              <a:t> 社 </a:t>
            </a:r>
            <a:r>
              <a:rPr sz="1300" b="1" i="0" dirty="0" err="1">
                <a:solidFill>
                  <a:srgbClr val="1E3A5F"/>
                </a:solidFill>
              </a:rPr>
              <a:t>개요</a:t>
            </a:r>
            <a:endParaRPr sz="1300" b="1" i="0" dirty="0">
              <a:solidFill>
                <a:srgbClr val="1E3A5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1803107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NIST 표준 PQC 알고리즘 하드웨어 IP 코어 전문 벤더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32291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FIPS 203 (ML-KEM/Kyber), FIPS 204 (ML-DSA/Dilithium)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61475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Xilinx/AMD · Intel/Altera FPGA 플랫폼 호환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790659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DO-254 / IEC 62443 등 산업 인증 기반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25880"/>
            <a:ext cx="5943600" cy="2525058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328" y="1400771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xQlave IP 핵심 스펙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80310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xQlave-KEM: ML-KEM-768/1024 키 캡슐화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13229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xQlave-DSA: ML-DSA-65/87 디지털 서명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461475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xQlave-HASH: SHA-3 / SHAKE 해시 패밀리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79065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AXI4-Stream 인터페이스 – SoC 연동 용이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119843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타이밍 공격 / 전력 분석(SCA) 대응 내장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344902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레이턴시: ML-KEM-768 Encap &lt; 10 μs (100 MHz)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10299"/>
            <a:ext cx="11612880" cy="1847089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4120029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경쟁 우위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522365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소프트웨어 PQC (OpenSSL/liboqs) 대비 10~50× 처리량 향상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85154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단일 FPGA에서 다중 PQC 채널 병렬 처리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5180733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전력 소모: 소프트웨어 대비 1/5 수준 (임베디드 적합)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5509917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라이선스: IP 코어 + RTL 소스 공급 (NRE 방식)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1:N 시스템 아키텍처 (N ≈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888888"/>
                </a:solidFill>
              </a:rPr>
              <a:t>Host </a:t>
            </a:r>
            <a:r>
              <a:rPr lang="en-US" sz="1200" b="0" i="1" dirty="0" err="1">
                <a:solidFill>
                  <a:srgbClr val="888888"/>
                </a:solidFill>
              </a:rPr>
              <a:t>PQC</a:t>
            </a:r>
            <a:r>
              <a:rPr lang="ko-KR" altLang="en-US" sz="1200" b="0" i="1" dirty="0">
                <a:solidFill>
                  <a:srgbClr val="888888"/>
                </a:solidFill>
              </a:rPr>
              <a:t>모듈</a:t>
            </a:r>
            <a:r>
              <a:rPr sz="1200" b="0" i="1" dirty="0">
                <a:solidFill>
                  <a:srgbClr val="888888"/>
                </a:solidFill>
              </a:rPr>
              <a:t> ↔ Device </a:t>
            </a:r>
            <a:r>
              <a:rPr lang="en-US" sz="1200" b="0" i="1" dirty="0" err="1">
                <a:solidFill>
                  <a:srgbClr val="888888"/>
                </a:solidFill>
              </a:rPr>
              <a:t>PQC</a:t>
            </a:r>
            <a:r>
              <a:rPr lang="ko-KR" altLang="en-US" sz="1200" b="0" i="1" dirty="0">
                <a:solidFill>
                  <a:srgbClr val="888888"/>
                </a:solidFill>
              </a:rPr>
              <a:t>모듈</a:t>
            </a:r>
            <a:endParaRPr sz="1200" b="0" i="1" dirty="0">
              <a:solidFill>
                <a:srgbClr val="88888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1" y="1884969"/>
            <a:ext cx="3383280" cy="3716383"/>
          </a:xfrm>
          <a:prstGeom prst="rect">
            <a:avLst/>
          </a:prstGeom>
          <a:solidFill>
            <a:srgbClr val="F0F4F9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1" y="1930689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E3A5F"/>
                </a:solidFill>
              </a:rPr>
              <a:t>HOST </a:t>
            </a:r>
            <a:r>
              <a:rPr lang="en-US" sz="1200" b="1" i="0" dirty="0" err="1">
                <a:solidFill>
                  <a:srgbClr val="1E3A5F"/>
                </a:solidFill>
              </a:rPr>
              <a:t>PQC</a:t>
            </a:r>
            <a:r>
              <a:rPr lang="ko-KR" altLang="en-US" sz="1200" b="1" i="0" dirty="0">
                <a:solidFill>
                  <a:srgbClr val="1E3A5F"/>
                </a:solidFill>
              </a:rPr>
              <a:t>모듈</a:t>
            </a:r>
            <a:r>
              <a:rPr sz="1200" b="1" i="0" dirty="0">
                <a:solidFill>
                  <a:srgbClr val="1E3A5F"/>
                </a:solidFill>
              </a:rPr>
              <a:t> (FPGA)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1" y="2433608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2470184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TCP Proxy / Intercept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1" y="3073689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3110265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ML-KEM Key Manager
(Session Pool × 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1" y="3759489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3796065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xQlave KEM IP 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1" y="4308128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4344704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AES-256-GCM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1" y="4902489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4939065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GbE PHY | PCIe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063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 err="1">
                <a:solidFill>
                  <a:srgbClr val="167A4B"/>
                </a:solidFill>
              </a:rPr>
              <a:t>암호화</a:t>
            </a:r>
            <a:r>
              <a:rPr sz="1000" b="0" i="1" dirty="0">
                <a:solidFill>
                  <a:srgbClr val="167A4B"/>
                </a:solidFill>
              </a:rPr>
              <a:t>
TCP </a:t>
            </a:r>
            <a:r>
              <a:rPr sz="1000" b="0" i="1" dirty="0" err="1">
                <a:solidFill>
                  <a:srgbClr val="167A4B"/>
                </a:solidFill>
              </a:rPr>
              <a:t>세션</a:t>
            </a:r>
            <a:r>
              <a:rPr sz="1000" b="0" i="1" dirty="0">
                <a:solidFill>
                  <a:srgbClr val="167A4B"/>
                </a:solidFill>
              </a:rPr>
              <a:t> ×N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6FBF"/>
                </a:solidFill>
              </a:rPr>
              <a:t>══►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128016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152447"/>
            <a:ext cx="12801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 dirty="0">
                <a:solidFill>
                  <a:srgbClr val="888888"/>
                </a:solidFill>
              </a:rPr>
              <a:t>IP
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6FBF"/>
                </a:solidFill>
              </a:rPr>
              <a:t>══►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371600"/>
            <a:ext cx="22860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37160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E3A5F"/>
                </a:solidFill>
              </a:rPr>
              <a:t>Device </a:t>
            </a:r>
            <a:r>
              <a:rPr lang="en-US" sz="1100" b="1" i="0" dirty="0" err="1">
                <a:solidFill>
                  <a:srgbClr val="1E3A5F"/>
                </a:solidFill>
              </a:rPr>
              <a:t>PQC</a:t>
            </a:r>
            <a:r>
              <a:rPr lang="ko-KR" altLang="en-US" sz="1100" b="1" i="0" dirty="0">
                <a:solidFill>
                  <a:srgbClr val="1E3A5F"/>
                </a:solidFill>
              </a:rPr>
              <a:t>모듈</a:t>
            </a:r>
            <a:r>
              <a:rPr sz="1100" b="1" i="0" dirty="0">
                <a:solidFill>
                  <a:srgbClr val="1E3A5F"/>
                </a:solidFill>
              </a:rPr>
              <a:t> #1
(FPGA + </a:t>
            </a:r>
            <a:r>
              <a:rPr sz="1100" b="1" i="0" dirty="0" err="1">
                <a:solidFill>
                  <a:srgbClr val="1E3A5F"/>
                </a:solidFill>
              </a:rPr>
              <a:t>xQlave</a:t>
            </a:r>
            <a:r>
              <a:rPr sz="1100" b="1" i="0" dirty="0">
                <a:solidFill>
                  <a:srgbClr val="1E3A5F"/>
                </a:solidFill>
              </a:rPr>
              <a:t>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371600"/>
            <a:ext cx="18288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#1
(기존 무수정)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788920"/>
            <a:ext cx="22860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278892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E3A5F"/>
                </a:solidFill>
              </a:rPr>
              <a:t>Device </a:t>
            </a:r>
            <a:r>
              <a:rPr lang="en-US" altLang="ko-KR" sz="1100" b="1" dirty="0" err="1">
                <a:solidFill>
                  <a:srgbClr val="1E3A5F"/>
                </a:solidFill>
              </a:rPr>
              <a:t>PQC</a:t>
            </a:r>
            <a:r>
              <a:rPr lang="ko-KR" altLang="en-US" sz="1100" b="1" dirty="0">
                <a:solidFill>
                  <a:srgbClr val="1E3A5F"/>
                </a:solidFill>
              </a:rPr>
              <a:t>모듈</a:t>
            </a:r>
            <a:r>
              <a:rPr sz="1100" b="1" i="0" dirty="0">
                <a:solidFill>
                  <a:srgbClr val="1E3A5F"/>
                </a:solidFill>
              </a:rPr>
              <a:t> #2
(FPGA + </a:t>
            </a:r>
            <a:r>
              <a:rPr sz="1100" b="1" i="0" dirty="0" err="1">
                <a:solidFill>
                  <a:srgbClr val="1E3A5F"/>
                </a:solidFill>
              </a:rPr>
              <a:t>xQlave</a:t>
            </a:r>
            <a:r>
              <a:rPr sz="1100" b="1" i="0" dirty="0">
                <a:solidFill>
                  <a:srgbClr val="1E3A5F"/>
                </a:solidFill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788920"/>
            <a:ext cx="18288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27889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#2
(기존 무수정)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937760"/>
            <a:ext cx="22860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93776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E3A5F"/>
                </a:solidFill>
              </a:rPr>
              <a:t>Device </a:t>
            </a:r>
            <a:r>
              <a:rPr lang="en-US" altLang="ko-KR" sz="1100" b="1" dirty="0" err="1">
                <a:solidFill>
                  <a:srgbClr val="1E3A5F"/>
                </a:solidFill>
              </a:rPr>
              <a:t>PQC</a:t>
            </a:r>
            <a:r>
              <a:rPr lang="ko-KR" altLang="en-US" sz="1100" b="1" dirty="0">
                <a:solidFill>
                  <a:srgbClr val="1E3A5F"/>
                </a:solidFill>
              </a:rPr>
              <a:t>모듈</a:t>
            </a:r>
            <a:r>
              <a:rPr sz="1100" b="1" i="0" dirty="0">
                <a:solidFill>
                  <a:srgbClr val="1E3A5F"/>
                </a:solidFill>
              </a:rPr>
              <a:t> #N
(FPGA + </a:t>
            </a:r>
            <a:r>
              <a:rPr sz="1100" b="1" i="0" dirty="0" err="1">
                <a:solidFill>
                  <a:srgbClr val="1E3A5F"/>
                </a:solidFill>
              </a:rPr>
              <a:t>xQlave</a:t>
            </a:r>
            <a:r>
              <a:rPr sz="1100" b="1" i="0" dirty="0">
                <a:solidFill>
                  <a:srgbClr val="1E3A5F"/>
                </a:solidFill>
              </a:rPr>
              <a:t>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4937760"/>
            <a:ext cx="18288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#N
(기존 무수정)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0233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⋮
(×100)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402336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E3A5F"/>
                </a:solidFill>
              </a:rPr>
              <a:t>Host </a:t>
            </a:r>
            <a:r>
              <a:rPr lang="en-US" sz="2400" b="1" i="0" dirty="0" err="1">
                <a:solidFill>
                  <a:srgbClr val="1E3A5F"/>
                </a:solidFill>
              </a:rPr>
              <a:t>PQC</a:t>
            </a:r>
            <a:r>
              <a:rPr lang="ko-KR" altLang="en-US" sz="2400" b="1" i="0" dirty="0">
                <a:solidFill>
                  <a:srgbClr val="1E3A5F"/>
                </a:solidFill>
              </a:rPr>
              <a:t>모듈</a:t>
            </a:r>
            <a:r>
              <a:rPr sz="2400" b="1" i="0" dirty="0">
                <a:solidFill>
                  <a:srgbClr val="1E3A5F"/>
                </a:solidFill>
              </a:rPr>
              <a:t> – </a:t>
            </a:r>
            <a:r>
              <a:rPr sz="2400" b="1" i="0" dirty="0" err="1">
                <a:solidFill>
                  <a:srgbClr val="1E3A5F"/>
                </a:solidFill>
              </a:rPr>
              <a:t>하드웨어</a:t>
            </a:r>
            <a:r>
              <a:rPr sz="2400" b="1" i="0" dirty="0">
                <a:solidFill>
                  <a:srgbClr val="1E3A5F"/>
                </a:solidFill>
              </a:rPr>
              <a:t> </a:t>
            </a:r>
            <a:r>
              <a:rPr sz="2400" b="1" i="0" dirty="0" err="1">
                <a:solidFill>
                  <a:srgbClr val="1E3A5F"/>
                </a:solidFill>
              </a:rPr>
              <a:t>설계</a:t>
            </a:r>
            <a:endParaRPr sz="2400" b="1" i="0" dirty="0">
              <a:solidFill>
                <a:srgbClr val="1E3A5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888888"/>
                </a:solidFill>
              </a:rPr>
              <a:t>PC </a:t>
            </a:r>
            <a:r>
              <a:rPr sz="1200" b="0" i="1" dirty="0" err="1">
                <a:solidFill>
                  <a:srgbClr val="888888"/>
                </a:solidFill>
              </a:rPr>
              <a:t>연결</a:t>
            </a:r>
            <a:r>
              <a:rPr sz="1200" b="0" i="1" dirty="0">
                <a:solidFill>
                  <a:srgbClr val="888888"/>
                </a:solidFill>
              </a:rPr>
              <a:t> 측 FPGA </a:t>
            </a:r>
            <a:r>
              <a:rPr lang="en-US" sz="1200" b="0" i="1" dirty="0" err="1">
                <a:solidFill>
                  <a:srgbClr val="888888"/>
                </a:solidFill>
              </a:rPr>
              <a:t>PQC</a:t>
            </a:r>
            <a:r>
              <a:rPr lang="ko-KR" altLang="en-US" sz="1200" b="0" i="1" dirty="0">
                <a:solidFill>
                  <a:srgbClr val="888888"/>
                </a:solidFill>
              </a:rPr>
              <a:t>모듈</a:t>
            </a:r>
            <a:endParaRPr sz="1200" b="0" i="1" dirty="0">
              <a:solidFill>
                <a:srgbClr val="88888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5720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3A5F"/>
                </a:solidFill>
              </a:rPr>
              <a:t>Host </a:t>
            </a:r>
            <a:r>
              <a:rPr lang="en-US" sz="1300" b="1" i="0" dirty="0" err="1">
                <a:solidFill>
                  <a:srgbClr val="1E3A5F"/>
                </a:solidFill>
              </a:rPr>
              <a:t>PQC</a:t>
            </a:r>
            <a:r>
              <a:rPr lang="ko-KR" altLang="en-US" sz="1300" b="1" i="0" dirty="0">
                <a:solidFill>
                  <a:srgbClr val="1E3A5F"/>
                </a:solidFill>
              </a:rPr>
              <a:t>모듈</a:t>
            </a:r>
            <a:r>
              <a:rPr sz="1300" b="1" i="0" dirty="0">
                <a:solidFill>
                  <a:srgbClr val="1E3A5F"/>
                </a:solidFill>
              </a:rPr>
              <a:t> </a:t>
            </a:r>
            <a:r>
              <a:rPr sz="1300" b="1" i="0" dirty="0" err="1">
                <a:solidFill>
                  <a:srgbClr val="1E3A5F"/>
                </a:solidFill>
              </a:rPr>
              <a:t>하드웨어</a:t>
            </a:r>
            <a:r>
              <a:rPr sz="1300" b="1" i="0" dirty="0">
                <a:solidFill>
                  <a:srgbClr val="1E3A5F"/>
                </a:solidFill>
              </a:rPr>
              <a:t> </a:t>
            </a:r>
            <a:r>
              <a:rPr sz="1300" b="1" i="0" dirty="0" err="1">
                <a:solidFill>
                  <a:srgbClr val="1E3A5F"/>
                </a:solidFill>
              </a:rPr>
              <a:t>구성</a:t>
            </a:r>
            <a:endParaRPr sz="1300" b="1" i="0" dirty="0">
              <a:solidFill>
                <a:srgbClr val="1E3A5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AMD/Xilinx Alveo U250 또는 동급 PCIe FPGA 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PCIe Gen3 ×16 인터페이스로 PC 직결 (드라이버 무수정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4× QSFP28 100GbE → 여러 디바이스 동시 연결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FPGA 내부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 KEM IP × 4 슬라이스 (병렬 핸드셰이크)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AES-256-GCM 엔진 × N 채널 (100개 세션 동시 처리)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세션 테이블 BRAM: 세션 ID · 세션 키 · 시퀀스 번호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Soft CPU (MicroBlaze/RISC-V) – 키 관리·로깅 보조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25880"/>
            <a:ext cx="5852160" cy="45720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동작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PC ↔ GW: 루프백 TCP (127.0.0.1) 또는 PCIe DMA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PC 소프트웨어는 기존 IP:Port 그대로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GW가 해당 포트 바인딩 → 패킷 투명 중계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GW 내부 처리 파이프라인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① 패킷 수신 → TCP 세션 식별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② KEM 핸드셰이크 시 xQlave Encap 호출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③ 데이터 패킷: AES-GCM 암호화 → 전송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④ 수신 방향: 복호화 → PC 소켓에 평문 전달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지연 시간 목표: 추가 레이턴시 &lt; 100 μs/패킷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E3A5F"/>
                </a:solidFill>
              </a:rPr>
              <a:t>Device </a:t>
            </a:r>
            <a:r>
              <a:rPr lang="en-US" sz="2400" b="1" i="0" dirty="0" err="1">
                <a:solidFill>
                  <a:srgbClr val="1E3A5F"/>
                </a:solidFill>
              </a:rPr>
              <a:t>PQC</a:t>
            </a:r>
            <a:r>
              <a:rPr lang="ko-KR" altLang="en-US" sz="2400" b="1" i="0" dirty="0">
                <a:solidFill>
                  <a:srgbClr val="1E3A5F"/>
                </a:solidFill>
              </a:rPr>
              <a:t>모듈</a:t>
            </a:r>
            <a:r>
              <a:rPr sz="2400" b="1" i="0" dirty="0">
                <a:solidFill>
                  <a:srgbClr val="1E3A5F"/>
                </a:solidFill>
              </a:rPr>
              <a:t> – </a:t>
            </a:r>
            <a:r>
              <a:rPr sz="2400" b="1" i="0" dirty="0" err="1">
                <a:solidFill>
                  <a:srgbClr val="1E3A5F"/>
                </a:solidFill>
              </a:rPr>
              <a:t>하드웨어</a:t>
            </a:r>
            <a:r>
              <a:rPr sz="2400" b="1" i="0" dirty="0">
                <a:solidFill>
                  <a:srgbClr val="1E3A5F"/>
                </a:solidFill>
              </a:rPr>
              <a:t> </a:t>
            </a:r>
            <a:r>
              <a:rPr sz="2400" b="1" i="0" dirty="0" err="1">
                <a:solidFill>
                  <a:srgbClr val="1E3A5F"/>
                </a:solidFill>
              </a:rPr>
              <a:t>설계</a:t>
            </a:r>
            <a:endParaRPr sz="2400" b="1" i="0" dirty="0">
              <a:solidFill>
                <a:srgbClr val="1E3A5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rgbClr val="888888"/>
                </a:solidFill>
              </a:rPr>
              <a:t>디바이스</a:t>
            </a:r>
            <a:r>
              <a:rPr sz="1200" b="0" i="1" dirty="0">
                <a:solidFill>
                  <a:srgbClr val="888888"/>
                </a:solidFill>
              </a:rPr>
              <a:t> 측 FPGA </a:t>
            </a:r>
            <a:r>
              <a:rPr lang="en-US" sz="1200" b="0" i="1" dirty="0" err="1">
                <a:solidFill>
                  <a:srgbClr val="888888"/>
                </a:solidFill>
              </a:rPr>
              <a:t>PQC</a:t>
            </a:r>
            <a:r>
              <a:rPr lang="ko-KR" altLang="en-US" sz="1200" b="0" i="1" dirty="0">
                <a:solidFill>
                  <a:srgbClr val="888888"/>
                </a:solidFill>
              </a:rPr>
              <a:t>모듈</a:t>
            </a:r>
            <a:r>
              <a:rPr sz="1200" b="0" i="1" dirty="0">
                <a:solidFill>
                  <a:srgbClr val="888888"/>
                </a:solidFill>
              </a:rPr>
              <a:t> (</a:t>
            </a:r>
            <a:r>
              <a:rPr sz="1200" b="0" i="1" dirty="0" err="1">
                <a:solidFill>
                  <a:srgbClr val="888888"/>
                </a:solidFill>
              </a:rPr>
              <a:t>소형</a:t>
            </a:r>
            <a:r>
              <a:rPr sz="1200" b="0" i="1" dirty="0">
                <a:solidFill>
                  <a:srgbClr val="888888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3A5F"/>
                </a:solidFill>
              </a:rPr>
              <a:t>Device </a:t>
            </a:r>
            <a:r>
              <a:rPr lang="en-US" sz="1300" b="1" i="0" dirty="0" err="1">
                <a:solidFill>
                  <a:srgbClr val="1E3A5F"/>
                </a:solidFill>
              </a:rPr>
              <a:t>PQC</a:t>
            </a:r>
            <a:r>
              <a:rPr lang="ko-KR" altLang="en-US" sz="1300" b="1" i="0" dirty="0">
                <a:solidFill>
                  <a:srgbClr val="1E3A5F"/>
                </a:solidFill>
              </a:rPr>
              <a:t>모듈</a:t>
            </a:r>
            <a:r>
              <a:rPr sz="1300" b="1" i="0" dirty="0">
                <a:solidFill>
                  <a:srgbClr val="1E3A5F"/>
                </a:solidFill>
              </a:rPr>
              <a:t> </a:t>
            </a:r>
            <a:r>
              <a:rPr sz="1300" b="1" i="0" dirty="0" err="1">
                <a:solidFill>
                  <a:srgbClr val="1E3A5F"/>
                </a:solidFill>
              </a:rPr>
              <a:t>하드웨어</a:t>
            </a:r>
            <a:r>
              <a:rPr sz="1300" b="1" i="0" dirty="0">
                <a:solidFill>
                  <a:srgbClr val="1E3A5F"/>
                </a:solidFill>
              </a:rPr>
              <a:t> </a:t>
            </a:r>
            <a:r>
              <a:rPr sz="1300" b="1" i="0" dirty="0" err="1">
                <a:solidFill>
                  <a:srgbClr val="1E3A5F"/>
                </a:solidFill>
              </a:rPr>
              <a:t>구성</a:t>
            </a:r>
            <a:endParaRPr sz="1300" b="1" i="0" dirty="0">
              <a:solidFill>
                <a:srgbClr val="1E3A5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소형 FPGA 모듈: Xilinx Artix-7 / Zynq-7000 계열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낮은 전력 소모 (&lt; 5W) – 산업 현장 적합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GbE PHY 1포트: 네트워크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UART / SPI / Ethernet: 디바이스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 IP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KEM Decap 1 슬라이스 (단일 세션 처리)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AES-256-GCM 복호화/암호화 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총 FPGA 자원: LUT ~15k, FF ~18k (Artix-7 기준)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25880"/>
            <a:ext cx="5852160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폼 팩터 옵션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837943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폼 </a:t>
            </a:r>
            <a:r>
              <a:rPr sz="1250" b="0" i="0" dirty="0" err="1">
                <a:solidFill>
                  <a:srgbClr val="1A1A1A"/>
                </a:solidFill>
              </a:rPr>
              <a:t>팩터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옵션</a:t>
            </a:r>
            <a:r>
              <a:rPr sz="1250" b="0" i="0" dirty="0">
                <a:solidFill>
                  <a:srgbClr val="1A1A1A"/>
                </a:solidFill>
              </a:rPr>
              <a:t> A: </a:t>
            </a:r>
            <a:r>
              <a:rPr sz="1250" b="0" i="0" dirty="0" err="1">
                <a:solidFill>
                  <a:srgbClr val="1A1A1A"/>
                </a:solidFill>
              </a:rPr>
              <a:t>트랜시버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대체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모듈</a:t>
            </a:r>
            <a:endParaRPr sz="1250" b="0" i="0" dirty="0">
              <a:solidFill>
                <a:srgbClr val="1A1A1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88888"/>
                </a:solidFill>
              </a:rPr>
              <a:t>    – </a:t>
            </a:r>
            <a:r>
              <a:rPr sz="1200" b="0" i="0" dirty="0" err="1">
                <a:solidFill>
                  <a:srgbClr val="888888"/>
                </a:solidFill>
              </a:rPr>
              <a:t>기존</a:t>
            </a:r>
            <a:r>
              <a:rPr sz="1200" b="0" i="0" dirty="0">
                <a:solidFill>
                  <a:srgbClr val="888888"/>
                </a:solidFill>
              </a:rPr>
              <a:t> RJ45 </a:t>
            </a:r>
            <a:r>
              <a:rPr sz="1200" b="0" i="0" dirty="0" err="1">
                <a:solidFill>
                  <a:srgbClr val="888888"/>
                </a:solidFill>
              </a:rPr>
              <a:t>포트에</a:t>
            </a:r>
            <a:r>
              <a:rPr sz="1200" b="0" i="0" dirty="0">
                <a:solidFill>
                  <a:srgbClr val="888888"/>
                </a:solidFill>
              </a:rPr>
              <a:t> </a:t>
            </a:r>
            <a:r>
              <a:rPr sz="1200" b="0" i="0" dirty="0" err="1">
                <a:solidFill>
                  <a:srgbClr val="888888"/>
                </a:solidFill>
              </a:rPr>
              <a:t>직렬</a:t>
            </a:r>
            <a:r>
              <a:rPr sz="1200" b="0" i="0" dirty="0">
                <a:solidFill>
                  <a:srgbClr val="888888"/>
                </a:solidFill>
              </a:rPr>
              <a:t> </a:t>
            </a:r>
            <a:r>
              <a:rPr sz="1200" b="0" i="0" dirty="0" err="1">
                <a:solidFill>
                  <a:srgbClr val="888888"/>
                </a:solidFill>
              </a:rPr>
              <a:t>삽입</a:t>
            </a:r>
            <a:r>
              <a:rPr sz="1200" b="0" i="0" dirty="0">
                <a:solidFill>
                  <a:srgbClr val="888888"/>
                </a:solidFill>
              </a:rPr>
              <a:t> (</a:t>
            </a:r>
            <a:r>
              <a:rPr sz="1200" b="0" i="0" dirty="0" err="1">
                <a:solidFill>
                  <a:srgbClr val="888888"/>
                </a:solidFill>
              </a:rPr>
              <a:t>케이블</a:t>
            </a:r>
            <a:r>
              <a:rPr sz="1200" b="0" i="0" dirty="0">
                <a:solidFill>
                  <a:srgbClr val="888888"/>
                </a:solidFill>
              </a:rPr>
              <a:t> </a:t>
            </a:r>
            <a:r>
              <a:rPr sz="1200" b="0" i="0" dirty="0" err="1">
                <a:solidFill>
                  <a:srgbClr val="888888"/>
                </a:solidFill>
              </a:rPr>
              <a:t>교체만으로</a:t>
            </a:r>
            <a:r>
              <a:rPr sz="1200" b="0" i="0" dirty="0">
                <a:solidFill>
                  <a:srgbClr val="888888"/>
                </a:solidFill>
              </a:rPr>
              <a:t> </a:t>
            </a:r>
            <a:r>
              <a:rPr sz="1200" b="0" i="0" dirty="0" err="1">
                <a:solidFill>
                  <a:srgbClr val="888888"/>
                </a:solidFill>
              </a:rPr>
              <a:t>적용</a:t>
            </a:r>
            <a:r>
              <a:rPr sz="1200" b="0" i="0" dirty="0">
                <a:solidFill>
                  <a:srgbClr val="888888"/>
                </a:solidFill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96311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폼 </a:t>
            </a:r>
            <a:r>
              <a:rPr sz="1250" b="0" i="0" dirty="0" err="1">
                <a:solidFill>
                  <a:srgbClr val="1A1A1A"/>
                </a:solidFill>
              </a:rPr>
              <a:t>팩터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옵션</a:t>
            </a:r>
            <a:r>
              <a:rPr sz="1250" b="0" i="0" dirty="0">
                <a:solidFill>
                  <a:srgbClr val="1A1A1A"/>
                </a:solidFill>
              </a:rPr>
              <a:t> B: </a:t>
            </a:r>
            <a:r>
              <a:rPr sz="1250" b="0" i="0" dirty="0" err="1">
                <a:solidFill>
                  <a:srgbClr val="1A1A1A"/>
                </a:solidFill>
              </a:rPr>
              <a:t>산업용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소형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박스</a:t>
            </a:r>
            <a:endParaRPr sz="1250" b="0" i="0" dirty="0">
              <a:solidFill>
                <a:srgbClr val="1A1A1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88888"/>
                </a:solidFill>
              </a:rPr>
              <a:t>    – </a:t>
            </a:r>
            <a:r>
              <a:rPr sz="1200" b="0" i="0" dirty="0" err="1">
                <a:solidFill>
                  <a:srgbClr val="888888"/>
                </a:solidFill>
              </a:rPr>
              <a:t>독립</a:t>
            </a:r>
            <a:r>
              <a:rPr sz="1200" b="0" i="0" dirty="0">
                <a:solidFill>
                  <a:srgbClr val="888888"/>
                </a:solidFill>
              </a:rPr>
              <a:t> </a:t>
            </a:r>
            <a:r>
              <a:rPr sz="1200" b="0" i="0" dirty="0" err="1">
                <a:solidFill>
                  <a:srgbClr val="888888"/>
                </a:solidFill>
              </a:rPr>
              <a:t>전원</a:t>
            </a:r>
            <a:r>
              <a:rPr sz="1200" b="0" i="0" dirty="0">
                <a:solidFill>
                  <a:srgbClr val="888888"/>
                </a:solidFill>
              </a:rPr>
              <a:t> / </a:t>
            </a:r>
            <a:r>
              <a:rPr sz="1200" b="0" i="0" dirty="0" err="1">
                <a:solidFill>
                  <a:srgbClr val="888888"/>
                </a:solidFill>
              </a:rPr>
              <a:t>IP30</a:t>
            </a:r>
            <a:r>
              <a:rPr sz="1200" b="0" i="0" dirty="0">
                <a:solidFill>
                  <a:srgbClr val="888888"/>
                </a:solidFill>
              </a:rPr>
              <a:t> </a:t>
            </a:r>
            <a:r>
              <a:rPr sz="1200" b="0" i="0" dirty="0" err="1">
                <a:solidFill>
                  <a:srgbClr val="888888"/>
                </a:solidFill>
              </a:rPr>
              <a:t>케이스</a:t>
            </a:r>
            <a:endParaRPr sz="1200" b="0" i="0" dirty="0">
              <a:solidFill>
                <a:srgbClr val="88888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08192" y="3154679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0000"/>
                </a:solidFill>
              </a:rPr>
              <a:t>  ▪ 폼 </a:t>
            </a:r>
            <a:r>
              <a:rPr sz="1250" b="0" i="0" dirty="0" err="1">
                <a:solidFill>
                  <a:srgbClr val="FF0000"/>
                </a:solidFill>
              </a:rPr>
              <a:t>팩터</a:t>
            </a:r>
            <a:r>
              <a:rPr sz="1250" b="0" i="0" dirty="0">
                <a:solidFill>
                  <a:srgbClr val="FF0000"/>
                </a:solidFill>
              </a:rPr>
              <a:t> </a:t>
            </a:r>
            <a:r>
              <a:rPr sz="1250" b="0" i="0" dirty="0" err="1">
                <a:solidFill>
                  <a:srgbClr val="FF0000"/>
                </a:solidFill>
              </a:rPr>
              <a:t>옵션</a:t>
            </a:r>
            <a:r>
              <a:rPr sz="1250" b="0" i="0" dirty="0">
                <a:solidFill>
                  <a:srgbClr val="FF0000"/>
                </a:solidFill>
              </a:rPr>
              <a:t> C: PCB </a:t>
            </a:r>
            <a:r>
              <a:rPr sz="1250" b="0" i="0" dirty="0" err="1">
                <a:solidFill>
                  <a:srgbClr val="FF0000"/>
                </a:solidFill>
              </a:rPr>
              <a:t>인라인</a:t>
            </a:r>
            <a:r>
              <a:rPr sz="1250" b="0" i="0" dirty="0">
                <a:solidFill>
                  <a:srgbClr val="FF0000"/>
                </a:solidFill>
              </a:rPr>
              <a:t> </a:t>
            </a:r>
            <a:r>
              <a:rPr sz="1250" b="0" i="0" dirty="0" err="1">
                <a:solidFill>
                  <a:srgbClr val="FF0000"/>
                </a:solidFill>
              </a:rPr>
              <a:t>어댑터</a:t>
            </a:r>
            <a:endParaRPr sz="1250" b="0" i="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08192" y="3483863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70C0"/>
                </a:solidFill>
              </a:rPr>
              <a:t>    – </a:t>
            </a:r>
            <a:r>
              <a:rPr sz="1200" b="0" i="0" dirty="0" err="1">
                <a:solidFill>
                  <a:srgbClr val="0070C0"/>
                </a:solidFill>
              </a:rPr>
              <a:t>디바이스</a:t>
            </a:r>
            <a:r>
              <a:rPr sz="1200" b="0" i="0" dirty="0">
                <a:solidFill>
                  <a:srgbClr val="0070C0"/>
                </a:solidFill>
              </a:rPr>
              <a:t> </a:t>
            </a:r>
            <a:r>
              <a:rPr sz="1200" b="0" i="0" dirty="0" err="1">
                <a:solidFill>
                  <a:srgbClr val="0070C0"/>
                </a:solidFill>
              </a:rPr>
              <a:t>PCB에</a:t>
            </a:r>
            <a:r>
              <a:rPr sz="1200" b="0" i="0" dirty="0">
                <a:solidFill>
                  <a:srgbClr val="0070C0"/>
                </a:solidFill>
              </a:rPr>
              <a:t> </a:t>
            </a:r>
            <a:r>
              <a:rPr sz="1200" b="0" i="0" dirty="0" err="1">
                <a:solidFill>
                  <a:srgbClr val="0070C0"/>
                </a:solidFill>
              </a:rPr>
              <a:t>직접</a:t>
            </a:r>
            <a:r>
              <a:rPr sz="1200" b="0" i="0" dirty="0">
                <a:solidFill>
                  <a:srgbClr val="0070C0"/>
                </a:solidFill>
              </a:rPr>
              <a:t> </a:t>
            </a:r>
            <a:r>
              <a:rPr sz="1200" b="0" i="0" dirty="0" err="1">
                <a:solidFill>
                  <a:srgbClr val="0070C0"/>
                </a:solidFill>
              </a:rPr>
              <a:t>장착</a:t>
            </a:r>
            <a:endParaRPr sz="1200" b="0" i="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전원: PoE (옵션 A/B) 또는 5V DC (옵션 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FBF"/>
                </a:solidFill>
              </a:rPr>
              <a:t>✅  디바이스 펌웨어·소프트웨어 일체 무수정 – 물리적 케이블/포트만 교체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PQC 핸드셰이크 프로토콜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ML-KEM 기반 세션 키 교환 절차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① TCP 연결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6479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Host GW가 PC의 TCP SYN 패킷 감지 → Device GW와 별도 제어 채널 수립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② KEM 공개키 전송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6479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Device GW: ML-KEM-768 키 쌍 생성 → 공개키를 Host GW로 전송 (서명 포함)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6243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③ Encapsulation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9923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Host GW: xQlave Encap(공개키) → Ciphertext + SharedSecret(256-bit)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26243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④ Ciphertext 전송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9923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Host GW → Device GW: Ciphertext 전달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⑤ Decapsulation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23367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Device GW: xQlave Decap(개인키, Ciphertext) → 동일 SharedSecret 복원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79476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⑥ 세션 키 유도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23367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양측: HKDF-SHA3-256(SharedSecret) → AES-256-GCM 세션 키 + IV 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2920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5093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⑦ 데이터 암호화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46811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이후 모든 TCP 페이로드: AES-256-GCM 암호화 (각 패킷 고유 nonce)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02920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5093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⑧ 세션 갱신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546811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일정 시간/패킷 수 초과 시 자동 재핸드셰이크 (Perfect Forward Secrecy)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355080"/>
            <a:ext cx="11612880" cy="384048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373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6FBF"/>
                </a:solidFill>
              </a:rPr>
              <a:t>전체 핸드셰이크: &lt; 2 ms (FPGA 가속)  |  데이터 레이턴시: &lt; 100 μs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1:N 세션 관리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888888"/>
                </a:solidFill>
              </a:rPr>
              <a:t>Host </a:t>
            </a:r>
            <a:r>
              <a:rPr lang="en-US" sz="1200" b="0" i="1" dirty="0" err="1">
                <a:solidFill>
                  <a:srgbClr val="888888"/>
                </a:solidFill>
              </a:rPr>
              <a:t>PQC</a:t>
            </a:r>
            <a:r>
              <a:rPr lang="ko-KR" altLang="en-US" sz="1200" b="0" i="1" dirty="0">
                <a:solidFill>
                  <a:srgbClr val="888888"/>
                </a:solidFill>
              </a:rPr>
              <a:t>모듈</a:t>
            </a:r>
            <a:r>
              <a:rPr sz="1200" b="0" i="1" dirty="0">
                <a:solidFill>
                  <a:srgbClr val="888888"/>
                </a:solidFill>
              </a:rPr>
              <a:t> </a:t>
            </a:r>
            <a:r>
              <a:rPr sz="1200" b="0" i="1" dirty="0" err="1">
                <a:solidFill>
                  <a:srgbClr val="888888"/>
                </a:solidFill>
              </a:rPr>
              <a:t>100개</a:t>
            </a:r>
            <a:r>
              <a:rPr sz="1200" b="0" i="1" dirty="0">
                <a:solidFill>
                  <a:srgbClr val="888888"/>
                </a:solidFill>
              </a:rPr>
              <a:t> </a:t>
            </a:r>
            <a:r>
              <a:rPr sz="1200" b="0" i="1" dirty="0" err="1">
                <a:solidFill>
                  <a:srgbClr val="888888"/>
                </a:solidFill>
              </a:rPr>
              <a:t>세션</a:t>
            </a:r>
            <a:r>
              <a:rPr sz="1200" b="0" i="1" dirty="0">
                <a:solidFill>
                  <a:srgbClr val="888888"/>
                </a:solidFill>
              </a:rPr>
              <a:t> </a:t>
            </a:r>
            <a:r>
              <a:rPr sz="1200" b="0" i="1" dirty="0" err="1">
                <a:solidFill>
                  <a:srgbClr val="888888"/>
                </a:solidFill>
              </a:rPr>
              <a:t>동시</a:t>
            </a:r>
            <a:r>
              <a:rPr sz="1200" b="0" i="1" dirty="0">
                <a:solidFill>
                  <a:srgbClr val="888888"/>
                </a:solidFill>
              </a:rPr>
              <a:t> </a:t>
            </a:r>
            <a:r>
              <a:rPr sz="1200" b="0" i="1" dirty="0" err="1">
                <a:solidFill>
                  <a:srgbClr val="888888"/>
                </a:solidFill>
              </a:rPr>
              <a:t>운용</a:t>
            </a:r>
            <a:endParaRPr sz="1200" b="0" i="1" dirty="0">
              <a:solidFill>
                <a:srgbClr val="88888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7548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세션 테이블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</a:t>
            </a:r>
            <a:r>
              <a:rPr sz="1250" b="0" i="0" dirty="0" err="1">
                <a:solidFill>
                  <a:srgbClr val="1A1A1A"/>
                </a:solidFill>
              </a:rPr>
              <a:t>세션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테이블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구조</a:t>
            </a:r>
            <a:r>
              <a:rPr sz="1250" b="0" i="0" dirty="0">
                <a:solidFill>
                  <a:srgbClr val="1A1A1A"/>
                </a:solidFill>
              </a:rPr>
              <a:t> (BRAM </a:t>
            </a:r>
            <a:r>
              <a:rPr sz="1250" b="0" i="0" dirty="0" err="1">
                <a:solidFill>
                  <a:srgbClr val="1A1A1A"/>
                </a:solidFill>
              </a:rPr>
              <a:t>저장</a:t>
            </a:r>
            <a:r>
              <a:rPr sz="1250" b="0" i="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Session_ID (16-bit) | Device_IP:Port | AES 세션 키 | 순서 번호 | TTL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100개 세션 × 128 bytes = 12.8 KB (BRAM 여유 충분)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신규 세션 수립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TCP SYN 감지 → 세션 ID 할당 → KEM 핸드셰이크 비동기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핸드셰이크 완료 전: 패킷 버퍼링 (최대 4 KB/세션)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세션 만료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TCP FIN/RST 감지 → 세션 테이블 즉시 삭제 + 키 제로화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유휴 타임아웃: 설정 가능 (기본 5분)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325880"/>
            <a:ext cx="5852160" cy="47548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성능 확장성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KEM 병렬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4× xQlave KEM 슬라이스 → 동시 핸드셰이크 4건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나머지 세션: 큐 대기 (평균 대기 &lt; 10 ms @ 100 세션)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AES-GCM 처리량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단일 AES-GCM 엔진: 10 Gbps @ 100 MHz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100개 세션 × 1 Gbps = 100 Gbps 이론 최대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실제 운용 기준: 세션당 최대 1 Gbps 보장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부하 분산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세션 ID 기반 라운드로빈 AES 엔진 할당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800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QoS 큐: 제어/데이터 패킷 우선순위 분리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소프트웨어 무수정 투명성 보장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기존 시스템 완전 호환성 유지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749039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방법 A  물리 인라인 삽입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2024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▪  </a:t>
            </a:r>
            <a:r>
              <a:rPr sz="1200" b="0" i="0" dirty="0" err="1">
                <a:solidFill>
                  <a:srgbClr val="1A1A1A"/>
                </a:solidFill>
              </a:rPr>
              <a:t>네트워크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케이블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중간에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lang="en-US" sz="1200" b="0" i="0" dirty="0" err="1">
                <a:solidFill>
                  <a:srgbClr val="1A1A1A"/>
                </a:solidFill>
              </a:rPr>
              <a:t>PQC</a:t>
            </a:r>
            <a:r>
              <a:rPr lang="ko-KR" altLang="en-US" sz="1200" b="0" i="0" dirty="0">
                <a:solidFill>
                  <a:srgbClr val="1A1A1A"/>
                </a:solidFill>
              </a:rPr>
              <a:t>모듈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하드웨어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삽입</a:t>
            </a:r>
            <a:endParaRPr sz="1200" b="0" i="0" dirty="0">
              <a:solidFill>
                <a:srgbClr val="1A1A1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" y="26060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기존 IP/Port 라우팅 그대로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2918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MAC/IP 주소 투명 프록시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977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권장: 가장 투명하고 범용적인 방법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25880"/>
            <a:ext cx="3749039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325880"/>
            <a:ext cx="3749039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방법 B  PCIe NIC 가상화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92024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▪  Host </a:t>
            </a:r>
            <a:r>
              <a:rPr lang="en-US" sz="1200" b="0" i="0" dirty="0" err="1">
                <a:solidFill>
                  <a:srgbClr val="1A1A1A"/>
                </a:solidFill>
              </a:rPr>
              <a:t>PQC</a:t>
            </a:r>
            <a:r>
              <a:rPr lang="ko-KR" altLang="en-US" sz="1200" b="0" i="0" dirty="0">
                <a:solidFill>
                  <a:srgbClr val="1A1A1A"/>
                </a:solidFill>
              </a:rPr>
              <a:t>모듈을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PC의</a:t>
            </a:r>
            <a:r>
              <a:rPr sz="1200" b="0" i="0" dirty="0">
                <a:solidFill>
                  <a:srgbClr val="1A1A1A"/>
                </a:solidFill>
              </a:rPr>
              <a:t> PCIe </a:t>
            </a:r>
            <a:r>
              <a:rPr sz="1200" b="0" i="0" dirty="0" err="1">
                <a:solidFill>
                  <a:srgbClr val="1A1A1A"/>
                </a:solidFill>
              </a:rPr>
              <a:t>NIC으로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인식</a:t>
            </a:r>
            <a:endParaRPr sz="1200" b="0" i="0" dirty="0">
              <a:solidFill>
                <a:srgbClr val="1A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1688" y="26060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OS에는 일반 이더넷으로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2918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드라이버 표준 NDIS/virtio 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977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PC 내장 → 케이스 불필요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25880"/>
            <a:ext cx="3749039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749039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방법 C  USB-이더넷 어댑터형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192024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▪  Host </a:t>
            </a:r>
            <a:r>
              <a:rPr lang="en-US" sz="1200" b="0" i="0" dirty="0" err="1">
                <a:solidFill>
                  <a:srgbClr val="1A1A1A"/>
                </a:solidFill>
              </a:rPr>
              <a:t>PQC</a:t>
            </a:r>
            <a:r>
              <a:rPr lang="ko-KR" altLang="en-US" sz="1200" b="0" i="0" dirty="0">
                <a:solidFill>
                  <a:srgbClr val="1A1A1A"/>
                </a:solidFill>
              </a:rPr>
              <a:t>모듈</a:t>
            </a:r>
            <a:r>
              <a:rPr sz="1200" b="0" i="0" dirty="0">
                <a:solidFill>
                  <a:srgbClr val="1A1A1A"/>
                </a:solidFill>
              </a:rPr>
              <a:t> = USB 3.0 </a:t>
            </a:r>
            <a:r>
              <a:rPr sz="1200" b="0" i="0" dirty="0" err="1">
                <a:solidFill>
                  <a:srgbClr val="1A1A1A"/>
                </a:solidFill>
              </a:rPr>
              <a:t>이더넷</a:t>
            </a:r>
            <a:r>
              <a:rPr sz="1200" b="0" i="0" dirty="0">
                <a:solidFill>
                  <a:srgbClr val="1A1A1A"/>
                </a:solidFill>
              </a:rPr>
              <a:t> </a:t>
            </a:r>
            <a:r>
              <a:rPr sz="1200" b="0" i="0" dirty="0" err="1">
                <a:solidFill>
                  <a:srgbClr val="1A1A1A"/>
                </a:solidFill>
              </a:rPr>
              <a:t>어댑터</a:t>
            </a:r>
            <a:endParaRPr sz="1200" b="0" i="0" dirty="0">
              <a:solidFill>
                <a:srgbClr val="1A1A1A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9327" y="26060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OS 드라이버: CDC-ECM 표준 (자동 인식)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2918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SW 설치 불필요 – Plug &amp; 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977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저비용, 단 처리량 USB3 대역 제한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52160"/>
            <a:ext cx="11612880" cy="658368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E6FBF"/>
                </a:solidFill>
              </a:rPr>
              <a:t>공통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원칙</a:t>
            </a:r>
            <a:r>
              <a:rPr sz="1200" b="1" i="0" dirty="0">
                <a:solidFill>
                  <a:srgbClr val="1E6FBF"/>
                </a:solidFill>
              </a:rPr>
              <a:t>: Host </a:t>
            </a:r>
            <a:r>
              <a:rPr lang="en-US" sz="1200" b="1" i="0" dirty="0" err="1">
                <a:solidFill>
                  <a:srgbClr val="1E6FBF"/>
                </a:solidFill>
              </a:rPr>
              <a:t>PQC</a:t>
            </a:r>
            <a:r>
              <a:rPr lang="ko-KR" altLang="en-US" sz="1200" b="1" i="0" dirty="0">
                <a:solidFill>
                  <a:srgbClr val="1E6FBF"/>
                </a:solidFill>
              </a:rPr>
              <a:t>모듈은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기존</a:t>
            </a:r>
            <a:r>
              <a:rPr sz="1200" b="1" i="0" dirty="0">
                <a:solidFill>
                  <a:srgbClr val="1E6FBF"/>
                </a:solidFill>
              </a:rPr>
              <a:t> TCP </a:t>
            </a:r>
            <a:r>
              <a:rPr sz="1200" b="1" i="0" dirty="0" err="1">
                <a:solidFill>
                  <a:srgbClr val="1E6FBF"/>
                </a:solidFill>
              </a:rPr>
              <a:t>포트를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그대로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Listen하여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패킷을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중계</a:t>
            </a:r>
            <a:r>
              <a:rPr sz="1200" b="1" i="0" dirty="0">
                <a:solidFill>
                  <a:srgbClr val="1E6FBF"/>
                </a:solidFill>
              </a:rPr>
              <a:t> — PC </a:t>
            </a:r>
            <a:r>
              <a:rPr sz="1200" b="1" i="0" dirty="0" err="1">
                <a:solidFill>
                  <a:srgbClr val="1E6FBF"/>
                </a:solidFill>
              </a:rPr>
              <a:t>응용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프로그램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코드·설정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변경</a:t>
            </a:r>
            <a:r>
              <a:rPr sz="1200" b="1" i="0" dirty="0">
                <a:solidFill>
                  <a:srgbClr val="1E6FBF"/>
                </a:solidFill>
              </a:rPr>
              <a:t> </a:t>
            </a:r>
            <a:r>
              <a:rPr sz="1200" b="1" i="0" dirty="0" err="1">
                <a:solidFill>
                  <a:srgbClr val="1E6FBF"/>
                </a:solidFill>
              </a:rPr>
              <a:t>없음</a:t>
            </a:r>
            <a:endParaRPr sz="1200" b="1" i="0" dirty="0">
              <a:solidFill>
                <a:srgbClr val="1E6FB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보안 고려사항 및 위협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Security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846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위협 및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통신 구간 도청 (Man-in-the-Middle)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ML-KEM 키 교환: 양자 컴퓨터로도 해독 불가 (NIST 표준)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AES-256-GCM: 무결성 + 기밀성 동시 보장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재전송 공격 (Replay Attack)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각 패킷에 단조 증가 시퀀스 번호 + GCM 인증 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1A"/>
                </a:solidFill>
              </a:rPr>
              <a:t>  ▪ </a:t>
            </a:r>
            <a:r>
              <a:rPr lang="en-US" sz="1250" b="0" i="0" dirty="0" err="1">
                <a:solidFill>
                  <a:srgbClr val="1A1A1A"/>
                </a:solidFill>
              </a:rPr>
              <a:t>PQC</a:t>
            </a:r>
            <a:r>
              <a:rPr lang="ko-KR" altLang="en-US" sz="1250" b="0" i="0" dirty="0">
                <a:solidFill>
                  <a:srgbClr val="1A1A1A"/>
                </a:solidFill>
              </a:rPr>
              <a:t>모듈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물리적</a:t>
            </a:r>
            <a:r>
              <a:rPr sz="1250" b="0" i="0" dirty="0">
                <a:solidFill>
                  <a:srgbClr val="1A1A1A"/>
                </a:solidFill>
              </a:rPr>
              <a:t> </a:t>
            </a:r>
            <a:r>
              <a:rPr sz="1250" b="0" i="0" dirty="0" err="1">
                <a:solidFill>
                  <a:srgbClr val="1A1A1A"/>
                </a:solidFill>
              </a:rPr>
              <a:t>탈취</a:t>
            </a:r>
            <a:endParaRPr sz="1250" b="0" i="0" dirty="0">
              <a:solidFill>
                <a:srgbClr val="1A1A1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FPGA Bitstream 암호화 (AES-256 device key)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세션 키: BRAM 비휘발성 저장 금지, 전원 차단 시 자동 소거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키 관리 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PFS: 세션마다 신규 KEM 수행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129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정기 재핸드셰이크 (1시간 또는 1GB 데이터마다)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5852160" cy="4846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보안 표준 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NIST FIPS 203 (ML-KEM) 준수 구현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 IP: CAVP 테스트 벡터 통과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부채널 공격(SCA) 방어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xQlave: 타이밍 불변(constant-time)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전력 분석 대응 마스킹 옵션 제공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펌웨어 보안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FPGA 비트스트림 서명 검증 (안전한 부팅)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원격 업데이트: TLS 1.3 + ML-DSA 서명 필수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물리 보안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4800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Anti-tamper 감지 핀 → 트리거 시 키 자동 소거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51297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케이스 개봉 감지 스위치 옵션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1741</Words>
  <Application>Microsoft Office PowerPoint</Application>
  <PresentationFormat>사용자 지정</PresentationFormat>
  <Paragraphs>205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Charlie Choi</cp:lastModifiedBy>
  <cp:revision>7</cp:revision>
  <dcterms:created xsi:type="dcterms:W3CDTF">2013-01-27T09:14:16Z</dcterms:created>
  <dcterms:modified xsi:type="dcterms:W3CDTF">2026-07-02T01:22:38Z</dcterms:modified>
  <cp:category/>
</cp:coreProperties>
</file>