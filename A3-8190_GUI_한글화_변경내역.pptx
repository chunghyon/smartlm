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</a:rPr>
              <a:t>A3-8190 HTTPServer GUI 한글화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CCCC"/>
                </a:solidFill>
                <a:latin typeface="맑은 고딕"/>
              </a:rPr>
              <a:t>영문 GUI 텍스트 → 한글 전환  |  C# WinForms  |  SmartLM / BOWE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99FF"/>
                </a:solidFill>
                <a:latin typeface="맑은 고딕"/>
              </a:rPr>
              <a:t>2026. 05. 20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변경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30000" cy="1463040"/>
          </a:xfrm>
          <a:prstGeom prst="rect">
            <a:avLst/>
          </a:prstGeom>
          <a:solidFill>
            <a:srgbClr val="2A2A3E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맑은 고딕"/>
              </a:rPr>
              <a:t>A3-8190 User Manual(PDF)에 나타난 GUI가 영어로 표시되어 있어, C# WinForms 소스코드의 모든 영문 UI 텍스트를 한글로 통일하였습니다.
대상 파일: frmMain.Designer.cs / frmPersonnel.Designer.cs / frmRecords.Designer.cs / frmRecords.cs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51760"/>
            <a:ext cx="1828800" cy="5029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71576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651760"/>
            <a:ext cx="4846320" cy="5029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271576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변경 전 (영어)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2651760"/>
            <a:ext cx="4572000" cy="5029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715768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변경 후 (한글)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54680"/>
            <a:ext cx="1828800" cy="7772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20040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그룹박스 제목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3154680"/>
            <a:ext cx="4846320" cy="7772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320040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Server Settings / Connected Devices
Remote Control / Server Log
Personnel List / Add Person
Push to Device / Attendance Records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3154680"/>
            <a:ext cx="4572000" cy="7772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3200400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서버 설정 / 연결된 디바이스
원격 제어 / 서버 로그
인원 목록 / 인원 추가
디바이스로 전송 / 출입 기록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57600"/>
            <a:ext cx="1828800" cy="502920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703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컬럼 헤더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3657600"/>
            <a:ext cx="4846320" cy="502920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40280" y="3703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UserID / RecordID / SN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3657600"/>
            <a:ext cx="4572000" cy="502920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37033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사용자 ID / 기록 ID / 장치 SN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160520"/>
            <a:ext cx="1828800" cy="5029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2062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입력 레이블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4160520"/>
            <a:ext cx="4846320" cy="5029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0280" y="42062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UserID *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4160520"/>
            <a:ext cx="4572000" cy="5029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420624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사용자 ID *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663440"/>
            <a:ext cx="1828800" cy="502920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7091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CSV 헤더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4663440"/>
            <a:ext cx="4846320" cy="502920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40280" y="47091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RecordID, SN, UserID, 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4663440"/>
            <a:ext cx="4572000" cy="502920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6600" y="470916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기록ID, 장치SN, 사용자ID, 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frmMain.Designer.cs  —  메인 폼 변경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2286000" cy="5669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속성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960120"/>
            <a:ext cx="4572000" cy="5669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1051560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변경 전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960120"/>
            <a:ext cx="4389120" cy="5669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1051560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변경 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27048"/>
            <a:ext cx="228600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18488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grpServer.Text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527048"/>
            <a:ext cx="457200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1618488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3545"/>
                </a:solidFill>
                <a:latin typeface="맑은 고딕"/>
              </a:rPr>
              <a:t>"서버 설정  (Server Settings)"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527048"/>
            <a:ext cx="438912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618488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A745"/>
                </a:solidFill>
                <a:latin typeface="맑은 고딕"/>
              </a:rPr>
              <a:t>"서버 설정"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093976"/>
            <a:ext cx="2286000" cy="566928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185416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grpDevices.Text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2093976"/>
            <a:ext cx="4572000" cy="566928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2185416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3545"/>
                </a:solidFill>
                <a:latin typeface="맑은 고딕"/>
              </a:rPr>
              <a:t>"연결된 디바이스  (Connected Devices)"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2093976"/>
            <a:ext cx="4389120" cy="566928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2185416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A745"/>
                </a:solidFill>
                <a:latin typeface="맑은 고딕"/>
              </a:rPr>
              <a:t>"연결된 디바이스"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660904"/>
            <a:ext cx="228600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752344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grpRemote.Text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660904"/>
            <a:ext cx="457200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7480" y="2752344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3545"/>
                </a:solidFill>
                <a:latin typeface="맑은 고딕"/>
              </a:rPr>
              <a:t>"원격 제어  (Remote Control)"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2660904"/>
            <a:ext cx="438912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2752344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A745"/>
                </a:solidFill>
                <a:latin typeface="맑은 고딕"/>
              </a:rPr>
              <a:t>"원격 제어"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227832"/>
            <a:ext cx="2286000" cy="566928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31927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grpLog.Text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227832"/>
            <a:ext cx="4572000" cy="566928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3319272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3545"/>
                </a:solidFill>
                <a:latin typeface="맑은 고딕"/>
              </a:rPr>
              <a:t>"서버 로그  (Server Log)"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3227832"/>
            <a:ext cx="4389120" cy="566928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80" y="3319272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A745"/>
                </a:solidFill>
                <a:latin typeface="맑은 고딕"/>
              </a:rPr>
              <a:t>"서버 로그"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120640"/>
            <a:ext cx="11430000" cy="822960"/>
          </a:xfrm>
          <a:prstGeom prst="rect">
            <a:avLst/>
          </a:prstGeom>
          <a:solidFill>
            <a:srgbClr val="223322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166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A745"/>
                </a:solidFill>
                <a:latin typeface="맑은 고딕"/>
              </a:rPr>
              <a:t>✔  영문 괄호 표기 (예: Server Settings) 전체 제거  →  한글만 표시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frmPersonnel.Designer.cs  —  인원 관리 폼 변경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2286000" cy="5669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속성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960120"/>
            <a:ext cx="4572000" cy="5669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1051560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변경 전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960120"/>
            <a:ext cx="4389120" cy="5669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1051560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변경 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27048"/>
            <a:ext cx="228600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18488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grpList.Text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527048"/>
            <a:ext cx="457200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1618488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3545"/>
                </a:solidFill>
                <a:latin typeface="맑은 고딕"/>
              </a:rPr>
              <a:t>"인원 목록  (Personnel List)"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527048"/>
            <a:ext cx="438912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618488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A745"/>
                </a:solidFill>
                <a:latin typeface="맑은 고딕"/>
              </a:rPr>
              <a:t>"인원 목록"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093976"/>
            <a:ext cx="2286000" cy="566928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185416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grpAdd.Text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2093976"/>
            <a:ext cx="4572000" cy="566928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2185416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3545"/>
                </a:solidFill>
                <a:latin typeface="맑은 고딕"/>
              </a:rPr>
              <a:t>"인원 추가  (Add Person)"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2093976"/>
            <a:ext cx="4389120" cy="566928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2185416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A745"/>
                </a:solidFill>
                <a:latin typeface="맑은 고딕"/>
              </a:rPr>
              <a:t>"인원 추가"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660904"/>
            <a:ext cx="228600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752344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grpPush.Text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660904"/>
            <a:ext cx="457200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7480" y="2752344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3545"/>
                </a:solidFill>
                <a:latin typeface="맑은 고딕"/>
              </a:rPr>
              <a:t>"디바이스로 전송  (Push to Device)"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2660904"/>
            <a:ext cx="438912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2752344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A745"/>
                </a:solidFill>
                <a:latin typeface="맑은 고딕"/>
              </a:rPr>
              <a:t>"디바이스로 전송"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227832"/>
            <a:ext cx="2286000" cy="566928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31927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colUID.Text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227832"/>
            <a:ext cx="4572000" cy="566928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3319272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3545"/>
                </a:solidFill>
                <a:latin typeface="맑은 고딕"/>
              </a:rPr>
              <a:t>"UserID"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3227832"/>
            <a:ext cx="4389120" cy="566928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80" y="3319272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A745"/>
                </a:solidFill>
                <a:latin typeface="맑은 고딕"/>
              </a:rPr>
              <a:t>"사용자 ID"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794760"/>
            <a:ext cx="228600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88620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lblUID.Text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794760"/>
            <a:ext cx="457200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97480" y="3886200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3545"/>
                </a:solidFill>
                <a:latin typeface="맑은 고딕"/>
              </a:rPr>
              <a:t>"UserID *"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3794760"/>
            <a:ext cx="438912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80" y="3886200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A745"/>
                </a:solidFill>
                <a:latin typeface="맑은 고딕"/>
              </a:rPr>
              <a:t>"사용자 ID *"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frmRecords.Designer.cs / frmRecords.cs  —  출입 기록 폼 변경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2560320" cy="5669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속성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960120"/>
            <a:ext cx="4297680" cy="5669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051560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변경 전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960120"/>
            <a:ext cx="4389120" cy="5669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1051560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변경 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27048"/>
            <a:ext cx="256032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18488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grpRecords.Text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1527048"/>
            <a:ext cx="429768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1618488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3545"/>
                </a:solidFill>
                <a:latin typeface="맑은 고딕"/>
              </a:rPr>
              <a:t>"출입 기록  (Attendance Records)  — …"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527048"/>
            <a:ext cx="438912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618488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A745"/>
                </a:solidFill>
                <a:latin typeface="맑은 고딕"/>
              </a:rPr>
              <a:t>"출입 기록   —   최신 기록이 상단에 표시됩니다"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093976"/>
            <a:ext cx="2560320" cy="566928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185416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colRecID.Text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093976"/>
            <a:ext cx="4297680" cy="566928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2185416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3545"/>
                </a:solidFill>
                <a:latin typeface="맑은 고딕"/>
              </a:rPr>
              <a:t>"RecordID"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2093976"/>
            <a:ext cx="4389120" cy="566928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2185416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A745"/>
                </a:solidFill>
                <a:latin typeface="맑은 고딕"/>
              </a:rPr>
              <a:t>"기록 ID"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660904"/>
            <a:ext cx="256032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752344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colRSN.Text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2660904"/>
            <a:ext cx="429768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2752344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3545"/>
                </a:solidFill>
                <a:latin typeface="맑은 고딕"/>
              </a:rPr>
              <a:t>"SN"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2660904"/>
            <a:ext cx="438912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2752344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A745"/>
                </a:solidFill>
                <a:latin typeface="맑은 고딕"/>
              </a:rPr>
              <a:t>"장치 SN"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227832"/>
            <a:ext cx="2560320" cy="566928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319272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colRUID.Text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3227832"/>
            <a:ext cx="4297680" cy="566928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71800" y="3319272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3545"/>
                </a:solidFill>
                <a:latin typeface="맑은 고딕"/>
              </a:rPr>
              <a:t>"UserID"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3227832"/>
            <a:ext cx="4389120" cy="566928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80" y="3319272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A745"/>
                </a:solidFill>
                <a:latin typeface="맑은 고딕"/>
              </a:rPr>
              <a:t>"사용자 ID"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794760"/>
            <a:ext cx="256032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886200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CSV 헤더 (frmRecords.cs)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3794760"/>
            <a:ext cx="429768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71800" y="3886200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3545"/>
                </a:solidFill>
                <a:latin typeface="맑은 고딕"/>
              </a:rPr>
              <a:t>"RecordID, SN, UserID, …"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3794760"/>
            <a:ext cx="4389120" cy="56692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80" y="3886200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A745"/>
                </a:solidFill>
                <a:latin typeface="맑은 고딕"/>
              </a:rPr>
              <a:t>"기록ID, 장치SN, 사용자ID, …"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변경 완료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868680"/>
          </a:xfrm>
          <a:prstGeom prst="rect">
            <a:avLst/>
          </a:prstGeom>
          <a:solidFill>
            <a:srgbClr val="2A2A3E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9FF"/>
                </a:solidFill>
                <a:latin typeface="맑은 고딕"/>
              </a:rPr>
              <a:t>📁 frmMain.Designer.cs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맑은 고딕"/>
              </a:rPr>
              <a:t>그룹박스 제목 4건  |  영문 괄호 표기 제거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11430000" cy="868680"/>
          </a:xfrm>
          <a:prstGeom prst="rect">
            <a:avLst/>
          </a:prstGeom>
          <a:solidFill>
            <a:srgbClr val="2A2A3E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9FF"/>
                </a:solidFill>
                <a:latin typeface="맑은 고딕"/>
              </a:rPr>
              <a:t>📁 frmPersonnel.Designer.cs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맑은 고딕"/>
              </a:rPr>
              <a:t>그룹박스 제목 3건 + 컬럼/레이블 2건  |  UserID → 사용자 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08960"/>
            <a:ext cx="11430000" cy="868680"/>
          </a:xfrm>
          <a:prstGeom prst="rect">
            <a:avLst/>
          </a:prstGeom>
          <a:solidFill>
            <a:srgbClr val="2A2A3E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54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9FF"/>
                </a:solidFill>
                <a:latin typeface="맑은 고딕"/>
              </a:rPr>
              <a:t>📁 frmRecords.Designer.cs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맑은 고딕"/>
              </a:rPr>
              <a:t>그룹박스 제목 1건 + 컬럼 헤더 3건  |  RecordID/SN/UserID 한글화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14800"/>
            <a:ext cx="11430000" cy="868680"/>
          </a:xfrm>
          <a:prstGeom prst="rect">
            <a:avLst/>
          </a:prstGeom>
          <a:solidFill>
            <a:srgbClr val="2A2A3E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9FF"/>
                </a:solidFill>
                <a:latin typeface="맑은 고딕"/>
              </a:rPr>
              <a:t>📁 frmRecords.cs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맑은 고딕"/>
              </a:rPr>
              <a:t>CSV 내보내기 헤더 한글화  |  RecordID→기록ID, SN→장치SN, UserID→사용자ID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212080"/>
            <a:ext cx="11430000" cy="685800"/>
          </a:xfrm>
          <a:prstGeom prst="rect">
            <a:avLst/>
          </a:prstGeom>
          <a:solidFill>
            <a:srgbClr val="1A2E1A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257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A745"/>
                </a:solidFill>
                <a:latin typeface="맑은 고딕"/>
              </a:rPr>
              <a:t>✔  수정 파일 4개  |  영문 GUI 텍스트 총 13건 한글 전환 완료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