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1E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SmartLM SDK 분석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88CC"/>
                </a:solidFill>
              </a:rPr>
              <a:t>BOWE A3-8190 · Communication Protocols · 개발 가이드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918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75"/>
                </a:solidFill>
              </a:rPr>
              <a:t>SDK 20250611  ·  WebSocketSDK 20250611  ·  BOWE_PC  ·  Communication Protocols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43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6575"/>
                </a:solidFill>
              </a:rPr>
              <a:t>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097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35"/>
                </a:solidFill>
              </a:rPr>
              <a:t>📂 NEW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16916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📁  BOWE_PC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51460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📡  Communication Protocols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33756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🖥️  A3-8190 VS 예제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16052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📊  HTTP 프로토콜 통신 흐름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목차  (Table of Contents)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88CC"/>
                </a:solidFill>
              </a:rPr>
              <a:t>SmartLM SDK 분석 보고서 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502920" cy="640080"/>
          </a:xfrm>
          <a:prstGeom prst="rect">
            <a:avLst/>
          </a:prstGeom>
          <a:solidFill>
            <a:srgbClr val="00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1161288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233A"/>
                </a:solidFill>
              </a:rPr>
              <a:t>Repository 개요 (업데이트)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147218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5"/>
                </a:solidFill>
              </a:rPr>
              <a:t>전체 구조 + BOWE_PC + Protocols 반영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502920" cy="640080"/>
          </a:xfrm>
          <a:prstGeom prst="rect">
            <a:avLst/>
          </a:prstGeom>
          <a:solidFill>
            <a:srgbClr val="00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01168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029968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233A"/>
                </a:solidFill>
              </a:rPr>
              <a:t>BOWE_PC 폴더 분석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34086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5"/>
                </a:solidFill>
              </a:rPr>
              <a:t>A3-8190 얼굴인식 단말기 · PC 클라이언트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880360"/>
            <a:ext cx="502920" cy="640080"/>
          </a:xfrm>
          <a:prstGeom prst="rect">
            <a:avLst/>
          </a:prstGeom>
          <a:solidFill>
            <a:srgbClr val="00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88036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2898648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233A"/>
                </a:solidFill>
              </a:rPr>
              <a:t>Communication Protocols 분석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20954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5"/>
                </a:solidFill>
              </a:rPr>
              <a:t>HTTP · MQTT · Java SDK · .NET 샘플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749039"/>
            <a:ext cx="502920" cy="640080"/>
          </a:xfrm>
          <a:prstGeom prst="rect">
            <a:avLst/>
          </a:prstGeom>
          <a:solidFill>
            <a:srgbClr val="00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749039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3767327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233A"/>
                </a:solidFill>
              </a:rPr>
              <a:t>SDK 20250611 구조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07822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5"/>
                </a:solidFill>
              </a:rPr>
              <a:t>SBXPC / SBXPCDLL 기반 Windows SDK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617720"/>
            <a:ext cx="502920" cy="640080"/>
          </a:xfrm>
          <a:prstGeom prst="rect">
            <a:avLst/>
          </a:prstGeom>
          <a:solidFill>
            <a:srgbClr val="00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61772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" y="4636007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233A"/>
                </a:solidFill>
              </a:rPr>
              <a:t>WebSocket SDK 구조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494690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5"/>
                </a:solidFill>
              </a:rPr>
              <a:t>C# / PHP / Python 플랫폼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486400"/>
            <a:ext cx="502920" cy="640080"/>
          </a:xfrm>
          <a:prstGeom prst="rect">
            <a:avLst/>
          </a:prstGeom>
          <a:solidFill>
            <a:srgbClr val="00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48640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" y="5504688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233A"/>
                </a:solidFill>
              </a:rPr>
              <a:t>지원 디바이스 모델 (업데이트)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" y="581558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5"/>
                </a:solidFill>
              </a:rPr>
              <a:t>SmackBio + BOWE A3-8190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1143000"/>
            <a:ext cx="502920" cy="640080"/>
          </a:xfrm>
          <a:prstGeom prst="rect">
            <a:avLst/>
          </a:prstGeom>
          <a:solidFill>
            <a:srgbClr val="00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114300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76288" y="1161288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233A"/>
                </a:solidFill>
              </a:rPr>
              <a:t>S/W 개발 전체 흐름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76288" y="147218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5"/>
                </a:solidFill>
              </a:rPr>
              <a:t>3종 SDK 아키텍처 비교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2011680"/>
            <a:ext cx="502920" cy="640080"/>
          </a:xfrm>
          <a:prstGeom prst="rect">
            <a:avLst/>
          </a:prstGeom>
          <a:solidFill>
            <a:srgbClr val="00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201168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76288" y="2029968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233A"/>
                </a:solidFill>
              </a:rPr>
              <a:t>A3-8190 HTTP 통신 구조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76288" y="234086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5"/>
                </a:solidFill>
              </a:rPr>
              <a:t>Keepalive · 인원관리 · 출입기록 흐름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2880360"/>
            <a:ext cx="502920" cy="640080"/>
          </a:xfrm>
          <a:prstGeom prst="rect">
            <a:avLst/>
          </a:prstGeom>
          <a:solidFill>
            <a:srgbClr val="00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288036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76288" y="2898648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233A"/>
                </a:solidFill>
              </a:rPr>
              <a:t>A3-8190 Visual Studio 예제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76288" y="320954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5"/>
                </a:solidFill>
              </a:rPr>
              <a:t>프로젝트 구조 · 빌드 · 실행 방법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3749039"/>
            <a:ext cx="502920" cy="640080"/>
          </a:xfrm>
          <a:prstGeom prst="rect">
            <a:avLst/>
          </a:prstGeom>
          <a:solidFill>
            <a:srgbClr val="00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60" y="3749039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76288" y="3767327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233A"/>
                </a:solidFill>
              </a:rPr>
              <a:t>새 프로젝트 생성 절차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76288" y="407822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5"/>
                </a:solidFill>
              </a:rPr>
              <a:t>Traditional / WebSocket / HTTP 단계별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09360" y="4617720"/>
            <a:ext cx="502920" cy="640080"/>
          </a:xfrm>
          <a:prstGeom prst="rect">
            <a:avLst/>
          </a:prstGeom>
          <a:solidFill>
            <a:srgbClr val="00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9360" y="461772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76288" y="4636007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233A"/>
                </a:solidFill>
              </a:rPr>
              <a:t>플랫폼별 빠른 시작 체크리스트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76288" y="494690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5"/>
                </a:solidFill>
              </a:rPr>
              <a:t>언어·프레임워크별 필수 항목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09360" y="5486400"/>
            <a:ext cx="502920" cy="640080"/>
          </a:xfrm>
          <a:prstGeom prst="rect">
            <a:avLst/>
          </a:prstGeom>
          <a:solidFill>
            <a:srgbClr val="00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60" y="548640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76288" y="5504688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233A"/>
                </a:solidFill>
              </a:rPr>
              <a:t>결론 및 권장 사항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76288" y="581558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5"/>
                </a:solidFill>
              </a:rPr>
              <a:t>SDK 선택 가이드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4320" y="65562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6575"/>
                </a:solidFill>
              </a:rPr>
              <a:t>SmartLM SDK Repository  |  Chunghyon/SmartLM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01  Repository 개요 (업데이트)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88CC"/>
                </a:solidFill>
              </a:rPr>
              <a:t>SmartLM | SmackBio + BOWE 생체인식 디바이스 통합 SDK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5303520" cy="5029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8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8CC"/>
                </a:solidFill>
              </a:rPr>
              <a:t>📁  Repository 구조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72768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A233A"/>
                </a:solidFill>
              </a:rPr>
              <a:t>SmartLM/</a:t>
            </a:r>
          </a:p>
          <a:p>
            <a:pPr algn="l"/>
            <a:r>
              <a:rPr sz="950" b="0">
                <a:solidFill>
                  <a:srgbClr val="1A233A"/>
                </a:solidFill>
              </a:rPr>
              <a:t>  ├─ SDK 20250611/</a:t>
            </a:r>
          </a:p>
          <a:p>
            <a:pPr algn="l"/>
            <a:r>
              <a:rPr sz="950" b="0">
                <a:solidFill>
                  <a:srgbClr val="556575"/>
                </a:solidFill>
              </a:rPr>
              <a:t>  │    ├─ bin/          DLL/OCX 바이너리</a:t>
            </a:r>
          </a:p>
          <a:p>
            <a:pPr algn="l"/>
            <a:r>
              <a:rPr sz="950" b="0">
                <a:solidFill>
                  <a:srgbClr val="556575"/>
                </a:solidFill>
              </a:rPr>
              <a:t>  │    ├─ doc/          레퍼런스 매뉴얼</a:t>
            </a:r>
          </a:p>
          <a:p>
            <a:pPr algn="l"/>
            <a:r>
              <a:rPr sz="950" b="0">
                <a:solidFill>
                  <a:srgbClr val="556575"/>
                </a:solidFill>
              </a:rPr>
              <a:t>  │    └─ samples/      A30·A50·M50·S300 샘플</a:t>
            </a:r>
          </a:p>
          <a:p>
            <a:pPr algn="l"/>
            <a:r>
              <a:rPr sz="950" b="0">
                <a:solidFill>
                  <a:srgbClr val="1A233A"/>
                </a:solidFill>
              </a:rPr>
              <a:t>  ├─ WebSocketSDK 20250611/</a:t>
            </a:r>
          </a:p>
          <a:p>
            <a:pPr algn="l"/>
            <a:r>
              <a:rPr sz="950" b="0">
                <a:solidFill>
                  <a:srgbClr val="556575"/>
                </a:solidFill>
              </a:rPr>
              <a:t>  │    ├─ WebSocketSDK/  C#/.NET</a:t>
            </a:r>
          </a:p>
          <a:p>
            <a:pPr algn="l"/>
            <a:r>
              <a:rPr sz="950" b="0">
                <a:solidFill>
                  <a:srgbClr val="556575"/>
                </a:solidFill>
              </a:rPr>
              <a:t>  │    ├─ WebSocketSDK_PHP/</a:t>
            </a:r>
          </a:p>
          <a:p>
            <a:pPr algn="l"/>
            <a:r>
              <a:rPr sz="950" b="0">
                <a:solidFill>
                  <a:srgbClr val="556575"/>
                </a:solidFill>
              </a:rPr>
              <a:t>  │    └─ WebSocketSDK_Python/</a:t>
            </a:r>
          </a:p>
          <a:p>
            <a:pPr algn="l"/>
            <a:r>
              <a:rPr sz="950" b="1">
                <a:solidFill>
                  <a:srgbClr val="FF6B35"/>
                </a:solidFill>
              </a:rPr>
              <a:t>  ├─ BOWE_PC/  ★ NEW</a:t>
            </a:r>
          </a:p>
          <a:p>
            <a:pPr algn="l"/>
            <a:r>
              <a:rPr sz="950" b="0">
                <a:solidFill>
                  <a:srgbClr val="556575"/>
                </a:solidFill>
              </a:rPr>
              <a:t>  │    ├─ A3-8190 User Manual.pdf</a:t>
            </a:r>
          </a:p>
          <a:p>
            <a:pPr algn="l"/>
            <a:r>
              <a:rPr sz="950" b="0">
                <a:solidFill>
                  <a:srgbClr val="556575"/>
                </a:solidFill>
              </a:rPr>
              <a:t>  │    └─ PC Client software Operation Instruction.pdf</a:t>
            </a:r>
          </a:p>
          <a:p>
            <a:pPr algn="l"/>
            <a:r>
              <a:rPr sz="950" b="1">
                <a:solidFill>
                  <a:srgbClr val="FF6B35"/>
                </a:solidFill>
              </a:rPr>
              <a:t>  ├─ Communication Protocols/  ★ NEW</a:t>
            </a:r>
          </a:p>
          <a:p>
            <a:pPr algn="l"/>
            <a:r>
              <a:rPr sz="950" b="0">
                <a:solidFill>
                  <a:srgbClr val="556575"/>
                </a:solidFill>
              </a:rPr>
              <a:t>  │    ├─ .NET/sample/  (.NET 샘플 .rar)</a:t>
            </a:r>
          </a:p>
          <a:p>
            <a:pPr algn="l"/>
            <a:r>
              <a:rPr sz="950" b="0">
                <a:solidFill>
                  <a:srgbClr val="556575"/>
                </a:solidFill>
              </a:rPr>
              <a:t>  │    ├─ 2.JAVA/  (Java SDK + javadoc + 샘플)</a:t>
            </a:r>
          </a:p>
          <a:p>
            <a:pPr algn="l"/>
            <a:r>
              <a:rPr sz="950" b="0">
                <a:solidFill>
                  <a:srgbClr val="556575"/>
                </a:solidFill>
              </a:rPr>
              <a:t>  │    ├─ HTTP protocol …md</a:t>
            </a:r>
          </a:p>
          <a:p>
            <a:pPr algn="l"/>
            <a:r>
              <a:rPr sz="950" b="0">
                <a:solidFill>
                  <a:srgbClr val="556575"/>
                </a:solidFill>
              </a:rPr>
              <a:t>  │    ├─ MQTT protocol …pdf</a:t>
            </a:r>
          </a:p>
          <a:p>
            <a:pPr algn="l"/>
            <a:r>
              <a:rPr sz="950" b="0">
                <a:solidFill>
                  <a:srgbClr val="556575"/>
                </a:solidFill>
              </a:rPr>
              <a:t>  │    └─ HTTPv2 API Sequence Diagrams.html</a:t>
            </a:r>
          </a:p>
          <a:p>
            <a:pPr algn="l"/>
            <a:r>
              <a:rPr sz="950" b="0">
                <a:solidFill>
                  <a:srgbClr val="556575"/>
                </a:solidFill>
              </a:rPr>
              <a:t>  ├─ BOWE products brochure#20250801.pdf</a:t>
            </a:r>
          </a:p>
          <a:p>
            <a:pPr algn="l"/>
            <a:r>
              <a:rPr sz="950" b="0">
                <a:solidFill>
                  <a:srgbClr val="556575"/>
                </a:solidFill>
              </a:rPr>
              <a:t>  └─ SmartLM_SDK_분석보고서.pptx / 2.pptx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097280"/>
            <a:ext cx="594360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008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80760" y="11430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8CC"/>
                </a:solidFill>
              </a:rPr>
              <a:t>🔑  핵심 특징 (업데이트)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1572768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33A"/>
                </a:solidFill>
              </a:rPr>
              <a:t>SDK 유형 (3가지)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82880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5"/>
                </a:solidFill>
              </a:rPr>
              <a:t>① Traditional (Serial/TCP-IP/P2P) — SBXPCDLL
② WebSocket (클라우드/원격) — PHP/Python/C#
③ HTTP Push 프로토콜 — BOWE A3-8190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2258568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33A"/>
                </a:solidFill>
              </a:rPr>
              <a:t>새 디바이스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251460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5"/>
                </a:solidFill>
              </a:rPr>
              <a:t>BOWE A3-8190 얼굴인식+지문 출입 단말기
HTTP(S) 기반, 디바이스가 서버에 접속하는 Push 구조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944368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33A"/>
                </a:solidFill>
              </a:rPr>
              <a:t>지원 언어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320040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5"/>
                </a:solidFill>
              </a:rPr>
              <a:t>C#, VB.NET, Java, Delphi, VB6, PHP, Python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3566160"/>
            <a:ext cx="594360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36118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48"/>
                </a:solidFill>
              </a:rPr>
              <a:t>🆕  새로 추가된 항목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40416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35"/>
                </a:solidFill>
              </a:rPr>
              <a:t>  📌 BOWE_PC/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404164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5"/>
                </a:solidFill>
              </a:rPr>
              <a:t>A3-8190 사용자 매뉴얼, PC 클라이언트 소프트웨어 가이드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45445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35"/>
                </a:solidFill>
              </a:rPr>
              <a:t>  📌 Communication Protocols/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454456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5"/>
                </a:solidFill>
              </a:rPr>
              <a:t>HTTP v6.0, MQTT, Java SDK (javadoc+샘플), .NET 샘플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50474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35"/>
                </a:solidFill>
              </a:rPr>
              <a:t>  📌 Sample_A3-8190/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504748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5"/>
                </a:solidFill>
              </a:rPr>
              <a:t>Visual Studio C# WinForms HTTP Server 예제 (신규)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60" y="55504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35"/>
                </a:solidFill>
              </a:rPr>
              <a:t>  📌 SmartLM_SDK_분석보고서2.pptx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555040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5"/>
                </a:solidFill>
              </a:rPr>
              <a:t>이 문서 — 업데이트된 분석 보고서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65562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6575"/>
                </a:solidFill>
              </a:rPr>
              <a:t>SmartLM SDK Repository  |  Chunghyon/SmartLM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02  BOWE_PC 폴더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88CC"/>
                </a:solidFill>
              </a:rPr>
              <a:t>BOWE A3-8190 얼굴인식 출입 단말기 · PC 클라이언트 소프트웨어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1430000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📁 BOWE_PC/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5394960" cy="4389120"/>
          </a:xfrm>
          <a:prstGeom prst="rect">
            <a:avLst/>
          </a:prstGeom>
          <a:solidFill>
            <a:srgbClr val="F0F4F8"/>
          </a:solidFill>
          <a:ln w="6350">
            <a:solidFill>
              <a:srgbClr val="008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691640"/>
            <a:ext cx="5394960" cy="347472"/>
          </a:xfrm>
          <a:prstGeom prst="rect">
            <a:avLst/>
          </a:prstGeom>
          <a:solidFill>
            <a:srgbClr val="00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728216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A3-8190 User Manual.pdf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075688"/>
            <a:ext cx="5212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233A"/>
                </a:solidFill>
              </a:rPr>
              <a:t>• BOWE A3-8190 얼굴인식+지문 출입 단말기</a:t>
            </a:r>
          </a:p>
          <a:p>
            <a:pPr algn="l"/>
            <a:r>
              <a:rPr sz="1050" b="0">
                <a:solidFill>
                  <a:srgbClr val="1A233A"/>
                </a:solidFill>
              </a:rPr>
              <a:t>• 얼굴/지문/카드/비밀번호 복합 인증 지원</a:t>
            </a:r>
          </a:p>
          <a:p>
            <a:pPr algn="l"/>
            <a:r>
              <a:rPr sz="1050" b="0">
                <a:solidFill>
                  <a:srgbClr val="1A233A"/>
                </a:solidFill>
              </a:rPr>
              <a:t>• HTTP(S) 프로토콜 기반 클라우드 연동</a:t>
            </a:r>
          </a:p>
          <a:p>
            <a:pPr algn="l"/>
            <a:r>
              <a:rPr sz="1050" b="0">
                <a:solidFill>
                  <a:srgbClr val="1A233A"/>
                </a:solidFill>
              </a:rPr>
              <a:t>• MQTT 프로토콜 지원</a:t>
            </a:r>
          </a:p>
          <a:p>
            <a:pPr algn="l"/>
            <a:r>
              <a:rPr sz="1050" b="0">
                <a:solidFill>
                  <a:srgbClr val="1A233A"/>
                </a:solidFill>
              </a:rPr>
              <a:t>• 최대 5,000명 등록 (얼굴/카드/지문 각각)</a:t>
            </a:r>
          </a:p>
          <a:p>
            <a:pPr algn="l"/>
            <a:r>
              <a:rPr sz="1050" b="0">
                <a:solidFill>
                  <a:srgbClr val="1A233A"/>
                </a:solidFill>
              </a:rPr>
              <a:t>• 출입 기록 최대 10만 건 저장</a:t>
            </a:r>
          </a:p>
          <a:p>
            <a:pPr algn="l"/>
            <a:r>
              <a:rPr sz="1050" b="0">
                <a:solidFill>
                  <a:srgbClr val="1A233A"/>
                </a:solidFill>
              </a:rPr>
              <a:t>• 체온 측정 옵션 (-10 ~ +10°C 보정)</a:t>
            </a:r>
          </a:p>
          <a:p>
            <a:pPr algn="l"/>
            <a:r>
              <a:rPr sz="1050" b="0">
                <a:solidFill>
                  <a:srgbClr val="1A233A"/>
                </a:solidFill>
              </a:rPr>
              <a:t>• QR코드 인식 지원</a:t>
            </a:r>
          </a:p>
          <a:p>
            <a:pPr algn="l"/>
            <a:r>
              <a:rPr sz="1050" b="0">
                <a:solidFill>
                  <a:srgbClr val="1A233A"/>
                </a:solidFill>
              </a:rPr>
              <a:t>• 엘리베이터 층별 권한 제어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691640"/>
            <a:ext cx="5394960" cy="4389120"/>
          </a:xfrm>
          <a:prstGeom prst="rect">
            <a:avLst/>
          </a:prstGeom>
          <a:solidFill>
            <a:srgbClr val="F0F4F8"/>
          </a:solidFill>
          <a:ln w="6350">
            <a:solidFill>
              <a:srgbClr val="008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691640"/>
            <a:ext cx="5394960" cy="347472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6208" y="1728216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PC Client software Operation Instruction.pdf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6208" y="2075688"/>
            <a:ext cx="5212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233A"/>
                </a:solidFill>
              </a:rPr>
              <a:t>• PC 클라이언트 소프트웨어 운영 가이드</a:t>
            </a:r>
          </a:p>
          <a:p>
            <a:pPr algn="l"/>
            <a:r>
              <a:rPr sz="1050" b="0">
                <a:solidFill>
                  <a:srgbClr val="1A233A"/>
                </a:solidFill>
              </a:rPr>
              <a:t>• 디바이스 관리 UI 설명</a:t>
            </a:r>
          </a:p>
          <a:p>
            <a:pPr algn="l"/>
            <a:r>
              <a:rPr sz="1050" b="0">
                <a:solidFill>
                  <a:srgbClr val="1A233A"/>
                </a:solidFill>
              </a:rPr>
              <a:t>• 인원 등록 및 관리 절차</a:t>
            </a:r>
          </a:p>
          <a:p>
            <a:pPr algn="l"/>
            <a:r>
              <a:rPr sz="1050" b="0">
                <a:solidFill>
                  <a:srgbClr val="1A233A"/>
                </a:solidFill>
              </a:rPr>
              <a:t>• 출입 기록 조회 및 내보내기</a:t>
            </a:r>
          </a:p>
          <a:p>
            <a:pPr algn="l"/>
            <a:r>
              <a:rPr sz="1050" b="0">
                <a:solidFill>
                  <a:srgbClr val="1A233A"/>
                </a:solidFill>
              </a:rPr>
              <a:t>• 시스템 설정 및 파라미터 구성</a:t>
            </a:r>
          </a:p>
          <a:p>
            <a:pPr algn="l"/>
            <a:r>
              <a:rPr sz="1050" b="0">
                <a:solidFill>
                  <a:srgbClr val="1A233A"/>
                </a:solidFill>
              </a:rPr>
              <a:t>• 접근 시간대 (TimeGroup) 설정</a:t>
            </a:r>
          </a:p>
          <a:p>
            <a:pPr algn="l"/>
            <a:r>
              <a:rPr sz="1050" b="0">
                <a:solidFill>
                  <a:srgbClr val="1A233A"/>
                </a:solidFill>
              </a:rPr>
              <a:t>• 리포트 및 통계 기능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6172200"/>
            <a:ext cx="11430000" cy="50292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208776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D700"/>
                </a:solidFill>
              </a:rPr>
              <a:t>💡  A3-8190 통신 방식: HTTP(S) Push 구조 — 디바이스가 서버에 능동 접속  |  Keepalive 주기 15초  |  JSON 데이터 포맷  |  GZIP 압축 지원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5562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6575"/>
                </a:solidFill>
              </a:rPr>
              <a:t>SmartLM SDK Repository  |  Chunghyon/SmartLM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03  Communication Protocols 폴더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88CC"/>
                </a:solidFill>
              </a:rPr>
              <a:t>HTTP · MQTT · Java SDK · .NET 샘플 문서 모음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1430000" cy="411480"/>
          </a:xfrm>
          <a:prstGeom prst="rect">
            <a:avLst/>
          </a:prstGeom>
          <a:solidFill>
            <a:srgbClr val="00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52144"/>
            <a:ext cx="6400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📁 Communication Protocols/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00200"/>
            <a:ext cx="3657600" cy="4114800"/>
          </a:xfrm>
          <a:prstGeom prst="rect">
            <a:avLst/>
          </a:prstGeom>
          <a:solidFill>
            <a:srgbClr val="F0F4F8"/>
          </a:solidFill>
          <a:ln w="6350">
            <a:solidFill>
              <a:srgbClr val="008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600200"/>
            <a:ext cx="3657600" cy="347472"/>
          </a:xfrm>
          <a:prstGeom prst="rect">
            <a:avLst/>
          </a:prstGeom>
          <a:solidFill>
            <a:srgbClr val="00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63677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HTTP Protocol (v6.0)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984248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233A"/>
                </a:solidFill>
              </a:rPr>
              <a:t>• HTTP protocol of Sony facial recognition terminal.md</a:t>
            </a:r>
          </a:p>
          <a:p>
            <a:pPr algn="l"/>
            <a:r>
              <a:rPr sz="950" b="0">
                <a:solidFill>
                  <a:srgbClr val="1A233A"/>
                </a:solidFill>
              </a:rPr>
              <a:t>• FC8200H 시리즈 HTTP 도킹 프로토콜 v6.0</a:t>
            </a:r>
          </a:p>
          <a:p>
            <a:pPr algn="l"/>
            <a:r>
              <a:rPr sz="950" b="0">
                <a:solidFill>
                  <a:srgbClr val="1A233A"/>
                </a:solidFill>
              </a:rPr>
              <a:t>• HTTP 1.1 / GZIP / TLS 1.2+1.3 지원</a:t>
            </a:r>
          </a:p>
          <a:p>
            <a:pPr algn="l"/>
            <a:r>
              <a:rPr sz="950" b="0">
                <a:solidFill>
                  <a:srgbClr val="1A233A"/>
                </a:solidFill>
              </a:rPr>
              <a:t>• API: Keepalive, 인원관리, 원격제어, 기록업로드</a:t>
            </a:r>
          </a:p>
          <a:p>
            <a:pPr algn="l"/>
            <a:r>
              <a:rPr sz="950" b="0">
                <a:solidFill>
                  <a:srgbClr val="1A233A"/>
                </a:solidFill>
              </a:rPr>
              <a:t>• JSON 기반 요청/응답 포맷</a:t>
            </a:r>
          </a:p>
          <a:p>
            <a:pPr algn="l"/>
            <a:r>
              <a:rPr sz="950" b="0">
                <a:solidFill>
                  <a:srgbClr val="1A233A"/>
                </a:solidFill>
              </a:rPr>
              <a:t>• 디바이스 → 서버 Push 아키텍처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1600200"/>
            <a:ext cx="3657600" cy="4114800"/>
          </a:xfrm>
          <a:prstGeom prst="rect">
            <a:avLst/>
          </a:prstGeom>
          <a:solidFill>
            <a:srgbClr val="F0F4F8"/>
          </a:solidFill>
          <a:ln w="6350">
            <a:solidFill>
              <a:srgbClr val="008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0" y="1600200"/>
            <a:ext cx="3657600" cy="347472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24528" y="163677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HTTPv2 &amp; Sequence Diagrams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24528" y="1984248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233A"/>
                </a:solidFill>
              </a:rPr>
              <a:t>• HTTPv2_API_Sequence_Diagrams_EN.html</a:t>
            </a:r>
          </a:p>
          <a:p>
            <a:pPr algn="l"/>
            <a:r>
              <a:rPr sz="950" b="0">
                <a:solidFill>
                  <a:srgbClr val="1A233A"/>
                </a:solidFill>
              </a:rPr>
              <a:t>• HTTP V2 Docking protocol …pdf</a:t>
            </a:r>
          </a:p>
          <a:p>
            <a:pPr algn="l"/>
            <a:r>
              <a:rPr sz="950" b="0">
                <a:solidFill>
                  <a:srgbClr val="1A233A"/>
                </a:solidFill>
              </a:rPr>
              <a:t>• UI interface document of facial recognition browser.md</a:t>
            </a:r>
          </a:p>
          <a:p>
            <a:pPr algn="l"/>
            <a:r>
              <a:rPr sz="950" b="0">
                <a:solidFill>
                  <a:srgbClr val="1A233A"/>
                </a:solidFill>
              </a:rPr>
              <a:t>• HTTP V2 개선 API 및 시퀀스 다이어그램</a:t>
            </a:r>
          </a:p>
          <a:p>
            <a:pPr algn="l"/>
            <a:r>
              <a:rPr sz="950" b="0">
                <a:solidFill>
                  <a:srgbClr val="1A233A"/>
                </a:solidFill>
              </a:rPr>
              <a:t>• 브라우저 기반 UI 인터페이스 문서</a:t>
            </a:r>
          </a:p>
          <a:p>
            <a:pPr algn="l"/>
            <a:r>
              <a:rPr sz="950" b="0">
                <a:solidFill>
                  <a:srgbClr val="1A233A"/>
                </a:solidFill>
              </a:rPr>
              <a:t>• Push People Schematic Diagram.png 포함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1600200"/>
            <a:ext cx="4114800" cy="1920240"/>
          </a:xfrm>
          <a:prstGeom prst="rect">
            <a:avLst/>
          </a:prstGeom>
          <a:solidFill>
            <a:srgbClr val="F0F4F8"/>
          </a:solidFill>
          <a:ln w="6350">
            <a:solidFill>
              <a:srgbClr val="008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63840" y="1600200"/>
            <a:ext cx="4114800" cy="34747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73567" y="1636776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MQTT Protocol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7" y="1984248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233A"/>
                </a:solidFill>
              </a:rPr>
              <a:t>• MQTT protocol interface document …pdf</a:t>
            </a:r>
          </a:p>
          <a:p>
            <a:pPr algn="l"/>
            <a:r>
              <a:rPr sz="950" b="0">
                <a:solidFill>
                  <a:srgbClr val="1A233A"/>
                </a:solidFill>
              </a:rPr>
              <a:t>• Face Communication Protocol 2022.11.28.doc</a:t>
            </a:r>
          </a:p>
          <a:p>
            <a:pPr algn="l"/>
            <a:r>
              <a:rPr sz="950" b="0">
                <a:solidFill>
                  <a:srgbClr val="1A233A"/>
                </a:solidFill>
              </a:rPr>
              <a:t>• MQTT 기반 얼굴인식 단말기 프로토콜</a:t>
            </a:r>
          </a:p>
          <a:p>
            <a:pPr algn="l"/>
            <a:r>
              <a:rPr sz="950" b="0">
                <a:solidFill>
                  <a:srgbClr val="1A233A"/>
                </a:solidFill>
              </a:rPr>
              <a:t>• HTTP 대안으로 MQTT 브로커 연동 가능</a:t>
            </a:r>
          </a:p>
          <a:p>
            <a:pPr algn="l"/>
            <a:r>
              <a:rPr sz="950" b="0">
                <a:solidFill>
                  <a:srgbClr val="1A233A"/>
                </a:solidFill>
              </a:rPr>
              <a:t>• QoS 레벨, 토픽 구조, 페이로드 포맷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0" y="3611880"/>
            <a:ext cx="4114800" cy="2103120"/>
          </a:xfrm>
          <a:prstGeom prst="rect">
            <a:avLst/>
          </a:prstGeom>
          <a:solidFill>
            <a:srgbClr val="F0F4F8"/>
          </a:solidFill>
          <a:ln w="6350">
            <a:solidFill>
              <a:srgbClr val="008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63840" y="3611880"/>
            <a:ext cx="4114800" cy="347472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73567" y="3648456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.NET Sample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73567" y="3995928"/>
            <a:ext cx="393192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233A"/>
                </a:solidFill>
              </a:rPr>
              <a:t>• .NET/sample/DoNetDrive.Protocol.Fingerprint and Face.rar</a:t>
            </a:r>
          </a:p>
          <a:p>
            <a:pPr algn="l"/>
            <a:r>
              <a:rPr sz="950" b="0">
                <a:solidFill>
                  <a:srgbClr val="1A233A"/>
                </a:solidFill>
              </a:rPr>
              <a:t>• .NET 기반 지문+얼굴 인식 프로토콜 샘플</a:t>
            </a:r>
          </a:p>
          <a:p>
            <a:pPr algn="l"/>
            <a:r>
              <a:rPr sz="950" b="0">
                <a:solidFill>
                  <a:srgbClr val="1A233A"/>
                </a:solidFill>
              </a:rPr>
              <a:t>• C# / VB.NET 에서 직접 활용 가능</a:t>
            </a:r>
          </a:p>
          <a:p>
            <a:pPr algn="l"/>
            <a:r>
              <a:rPr sz="950" b="0">
                <a:solidFill>
                  <a:srgbClr val="1A233A"/>
                </a:solidFill>
              </a:rPr>
              <a:t>• 압축 해제 후 Visual Studio에서 오픈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779008"/>
            <a:ext cx="11430000" cy="777240"/>
          </a:xfrm>
          <a:prstGeom prst="rect">
            <a:avLst/>
          </a:prstGeom>
          <a:solidFill>
            <a:srgbClr val="F0F4F8"/>
          </a:solidFill>
          <a:ln w="6350">
            <a:solidFill>
              <a:srgbClr val="008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5779008"/>
            <a:ext cx="11430000" cy="347472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" y="5815584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Java SDK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" y="6163056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233A"/>
                </a:solidFill>
              </a:rPr>
              <a:t>• 2.JAVA/ — Quick Start + javadoc + 샘플코드</a:t>
            </a:r>
          </a:p>
          <a:p>
            <a:pPr algn="l"/>
            <a:r>
              <a:rPr sz="900" b="0">
                <a:solidFill>
                  <a:srgbClr val="1A233A"/>
                </a:solidFill>
              </a:rPr>
              <a:t>• Quick Start.md — 빠른 시작 가이드</a:t>
            </a:r>
          </a:p>
          <a:p>
            <a:pPr algn="l"/>
            <a:r>
              <a:rPr sz="900" b="0">
                <a:solidFill>
                  <a:srgbClr val="1A233A"/>
                </a:solidFill>
              </a:rPr>
              <a:t>• javadoc/ — 전체 API 레퍼런스 HTML</a:t>
            </a:r>
          </a:p>
          <a:p>
            <a:pPr algn="l"/>
            <a:r>
              <a:rPr sz="900" b="0">
                <a:solidFill>
                  <a:srgbClr val="1A233A"/>
                </a:solidFill>
              </a:rPr>
              <a:t>• ConnectorAllocator 기반 통신 구조</a:t>
            </a:r>
          </a:p>
          <a:p>
            <a:pPr algn="l"/>
            <a:r>
              <a:rPr sz="900" b="0">
                <a:solidFill>
                  <a:srgbClr val="1A233A"/>
                </a:solidFill>
              </a:rPr>
              <a:t>• SpringBoot.Example — 클라우드 서버 샘플</a:t>
            </a:r>
          </a:p>
          <a:p>
            <a:pPr algn="l"/>
            <a:r>
              <a:rPr sz="900" b="0">
                <a:solidFill>
                  <a:srgbClr val="1A233A"/>
                </a:solidFill>
              </a:rPr>
              <a:t>• UDPServer.TCPServer.Example — 로컬 샘플</a:t>
            </a:r>
          </a:p>
          <a:p>
            <a:pPr algn="l"/>
            <a:r>
              <a:rPr sz="900" b="0">
                <a:solidFill>
                  <a:srgbClr val="1A233A"/>
                </a:solidFill>
              </a:rPr>
              <a:t>• UDP/TCP Client 예제 별도 제공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65562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6575"/>
                </a:solidFill>
              </a:rPr>
              <a:t>SmartLM SDK Repository  |  Chunghyon/SmartLM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04  SDK 20250611 구조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88CC"/>
                </a:solidFill>
              </a:rPr>
              <a:t>전통적인 Windows DLL/ActiveX 기반 SDK — SmackBio 디바이스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3749039" cy="4572000"/>
          </a:xfrm>
          <a:prstGeom prst="rect">
            <a:avLst/>
          </a:prstGeom>
          <a:solidFill>
            <a:srgbClr val="F0F4F8"/>
          </a:solidFill>
          <a:ln w="6350">
            <a:solidFill>
              <a:srgbClr val="008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3749039" cy="347472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33856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SBXPC  (ActiveX OCX)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481328"/>
            <a:ext cx="356615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233A"/>
                </a:solidFill>
              </a:rPr>
              <a:t>• COM/ActiveX 컴포넌트 — VB6, Delphi 레거시 지원</a:t>
            </a:r>
          </a:p>
          <a:p>
            <a:pPr algn="l"/>
            <a:r>
              <a:rPr sz="1050" b="0">
                <a:solidFill>
                  <a:srgbClr val="1A233A"/>
                </a:solidFill>
              </a:rPr>
              <a:t>• OnReceiveEventXML 이벤트로 디바이스 이벤트 수신</a:t>
            </a:r>
          </a:p>
          <a:p>
            <a:pPr algn="l"/>
            <a:r>
              <a:rPr sz="1050" b="0">
                <a:solidFill>
                  <a:srgbClr val="1A233A"/>
                </a:solidFill>
              </a:rPr>
              <a:t>• regsvr32 SBXPC.ocx 등록 후 사용</a:t>
            </a:r>
          </a:p>
          <a:p>
            <a:pPr algn="l"/>
            <a:r>
              <a:rPr sz="1050" b="0">
                <a:solidFill>
                  <a:srgbClr val="1A233A"/>
                </a:solidFill>
              </a:rPr>
              <a:t>• XML 기반 메시지 프로토콜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097280"/>
            <a:ext cx="3749039" cy="4572000"/>
          </a:xfrm>
          <a:prstGeom prst="rect">
            <a:avLst/>
          </a:prstGeom>
          <a:solidFill>
            <a:srgbClr val="F0F4F8"/>
          </a:solidFill>
          <a:ln w="6350">
            <a:solidFill>
              <a:srgbClr val="008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097280"/>
            <a:ext cx="3749039" cy="347472"/>
          </a:xfrm>
          <a:prstGeom prst="rect">
            <a:avLst/>
          </a:prstGeom>
          <a:solidFill>
            <a:srgbClr val="00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07408" y="1133856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SBXPCDLL  (Native DLL)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8" y="1481328"/>
            <a:ext cx="356615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233A"/>
                </a:solidFill>
              </a:rPr>
              <a:t>• C/C++ 네이티브 DLL — C#, Java, Delphi 직접 호출</a:t>
            </a:r>
          </a:p>
          <a:p>
            <a:pPr algn="l"/>
            <a:r>
              <a:rPr sz="1050" b="0">
                <a:solidFill>
                  <a:srgbClr val="1A233A"/>
                </a:solidFill>
              </a:rPr>
              <a:t>• 32비트: SBXPCDLL.dll / 64비트: SBXPCDLL64.dll</a:t>
            </a:r>
          </a:p>
          <a:p>
            <a:pPr algn="l"/>
            <a:r>
              <a:rPr sz="1050" b="0">
                <a:solidFill>
                  <a:srgbClr val="1A233A"/>
                </a:solidFill>
              </a:rPr>
              <a:t>• 콜백(Callback) 기반 이벤트 수신</a:t>
            </a:r>
          </a:p>
          <a:p>
            <a:pPr algn="l"/>
            <a:r>
              <a:rPr sz="1050" b="0">
                <a:solidFill>
                  <a:srgbClr val="1A233A"/>
                </a:solidFill>
              </a:rPr>
              <a:t>• DllImport (P/Invoke) 로 C# 에서 호출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097280"/>
            <a:ext cx="3749039" cy="4572000"/>
          </a:xfrm>
          <a:prstGeom prst="rect">
            <a:avLst/>
          </a:prstGeom>
          <a:solidFill>
            <a:srgbClr val="F0F4F8"/>
          </a:solidFill>
          <a:ln w="6350">
            <a:solidFill>
              <a:srgbClr val="008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097280"/>
            <a:ext cx="3749039" cy="347472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7" y="1133856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샘플 프로젝트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7" y="1481328"/>
            <a:ext cx="356615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233A"/>
                </a:solidFill>
              </a:rPr>
              <a:t>• C# WinForms — 가장 풍부한 예제</a:t>
            </a:r>
          </a:p>
          <a:p>
            <a:pPr algn="l"/>
            <a:r>
              <a:rPr sz="1050" b="0">
                <a:solidFill>
                  <a:srgbClr val="1A233A"/>
                </a:solidFill>
              </a:rPr>
              <a:t>• VB.NET / VB6 / Delphi 샘플 제공</a:t>
            </a:r>
          </a:p>
          <a:p>
            <a:pPr algn="l"/>
            <a:r>
              <a:rPr sz="1050" b="0">
                <a:solidFill>
                  <a:srgbClr val="1A233A"/>
                </a:solidFill>
              </a:rPr>
              <a:t>• Java 샘플 제공</a:t>
            </a:r>
          </a:p>
          <a:p>
            <a:pPr algn="l"/>
            <a:r>
              <a:rPr sz="1050" b="0">
                <a:solidFill>
                  <a:srgbClr val="1A233A"/>
                </a:solidFill>
              </a:rPr>
              <a:t>• BigUser ID 변형 샘플 별도</a:t>
            </a:r>
          </a:p>
          <a:p>
            <a:pPr algn="l"/>
            <a:r>
              <a:rPr sz="1050" b="0">
                <a:solidFill>
                  <a:srgbClr val="1A233A"/>
                </a:solidFill>
              </a:rPr>
              <a:t>• Sample_A30/A50/M30/M50/S100/S300/Multi</a:t>
            </a:r>
          </a:p>
          <a:p>
            <a:pPr algn="l"/>
            <a:r>
              <a:rPr sz="1050" b="0">
                <a:solidFill>
                  <a:srgbClr val="1A233A"/>
                </a:solidFill>
              </a:rPr>
              <a:t>• Sample_A3-8190  ★ NEW (HTTP Server)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760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A"/>
                </a:solidFill>
              </a:rPr>
              <a:t>📦  bin/ 디렉토리 구조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0533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5"/>
                </a:solidFill>
              </a:rPr>
              <a:t>x86/: SBXPCDLL.dll  SBXPC.ocx  SBPCCOMM.dll  GEN_FONT.dll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3093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5"/>
                </a:solidFill>
              </a:rPr>
              <a:t>x64/: SBXPCDLL64.dll  SBPCCOMM64.dll  GEN_FONT64.dll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5562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6575"/>
                </a:solidFill>
              </a:rPr>
              <a:t>SmartLM SDK Repository  |  Chunghyon/SmartLM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05  WebSocket SDK 구조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88CC"/>
                </a:solidFill>
              </a:rPr>
              <a:t>클라우드·웹 환경에서 디바이스를 연결하는 현대적 SDK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3749039" cy="4572000"/>
          </a:xfrm>
          <a:prstGeom prst="rect">
            <a:avLst/>
          </a:prstGeom>
          <a:solidFill>
            <a:srgbClr val="F0F4F8"/>
          </a:solidFill>
          <a:ln w="6350">
            <a:solidFill>
              <a:srgbClr val="008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3749039" cy="347472"/>
          </a:xfrm>
          <a:prstGeom prst="rect">
            <a:avLst/>
          </a:prstGeom>
          <a:solidFill>
            <a:srgbClr val="00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33856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C# / ASP.NET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481328"/>
            <a:ext cx="356615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233A"/>
                </a:solidFill>
              </a:rPr>
              <a:t>• Microsoft.Web.WebSockets 기반</a:t>
            </a:r>
          </a:p>
          <a:p>
            <a:pPr algn="l"/>
            <a:r>
              <a:rPr sz="1050" b="0">
                <a:solidFill>
                  <a:srgbClr val="1A233A"/>
                </a:solidFill>
              </a:rPr>
              <a:t>• SmackBio.WebSocketSDK 라이브러리</a:t>
            </a:r>
          </a:p>
          <a:p>
            <a:pPr algn="l"/>
            <a:r>
              <a:rPr sz="1050" b="0">
                <a:solidFill>
                  <a:srgbClr val="1A233A"/>
                </a:solidFill>
              </a:rPr>
              <a:t>• IDeviceLoginManager 인터페이스 구현</a:t>
            </a:r>
          </a:p>
          <a:p>
            <a:pPr algn="l"/>
            <a:r>
              <a:rPr sz="1050" b="0">
                <a:solidFill>
                  <a:srgbClr val="1A233A"/>
                </a:solidFill>
              </a:rPr>
              <a:t>• SessionRegistry 세션 관리</a:t>
            </a:r>
          </a:p>
          <a:p>
            <a:pPr algn="l"/>
            <a:r>
              <a:rPr sz="1050" b="0">
                <a:solidFill>
                  <a:srgbClr val="1A233A"/>
                </a:solidFill>
              </a:rPr>
              <a:t>• SBWebSocketHandler 핵심 핸들러</a:t>
            </a:r>
          </a:p>
          <a:p>
            <a:pPr algn="l"/>
            <a:r>
              <a:rPr sz="1050" b="0">
                <a:solidFill>
                  <a:srgbClr val="1A233A"/>
                </a:solidFill>
              </a:rPr>
              <a:t>• 온라인 디바이스 / 로그 조회 UI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097280"/>
            <a:ext cx="3749039" cy="4572000"/>
          </a:xfrm>
          <a:prstGeom prst="rect">
            <a:avLst/>
          </a:prstGeom>
          <a:solidFill>
            <a:srgbClr val="F0F4F8"/>
          </a:solidFill>
          <a:ln w="6350">
            <a:solidFill>
              <a:srgbClr val="008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097280"/>
            <a:ext cx="3749039" cy="347472"/>
          </a:xfrm>
          <a:prstGeom prst="rect">
            <a:avLst/>
          </a:prstGeom>
          <a:solidFill>
            <a:srgbClr val="777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07408" y="1133856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PHP  (Workerman)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8" y="1481328"/>
            <a:ext cx="356615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233A"/>
                </a:solidFill>
              </a:rPr>
              <a:t>• Workerman WebSocket 서버</a:t>
            </a:r>
          </a:p>
          <a:p>
            <a:pPr algn="l"/>
            <a:r>
              <a:rPr sz="1050" b="0">
                <a:solidFill>
                  <a:srgbClr val="1A233A"/>
                </a:solidFill>
              </a:rPr>
              <a:t>• ws_server.php — 서버 구동</a:t>
            </a:r>
          </a:p>
          <a:p>
            <a:pPr algn="l"/>
            <a:r>
              <a:rPr sz="1050" b="0">
                <a:solidFill>
                  <a:srgbClr val="1A233A"/>
                </a:solidFill>
              </a:rPr>
              <a:t>• ws_connection.php — 연결 관리</a:t>
            </a:r>
          </a:p>
          <a:p>
            <a:pPr algn="l"/>
            <a:r>
              <a:rPr sz="1050" b="0">
                <a:solidFill>
                  <a:srgbClr val="1A233A"/>
                </a:solidFill>
              </a:rPr>
              <a:t>• ws_dev_event.php — 이벤트 처리</a:t>
            </a:r>
          </a:p>
          <a:p>
            <a:pPr algn="l"/>
            <a:r>
              <a:rPr sz="1050" b="0">
                <a:solidFill>
                  <a:srgbClr val="1A233A"/>
                </a:solidFill>
              </a:rPr>
              <a:t>• 0.download_workerman.bat 실행</a:t>
            </a:r>
          </a:p>
          <a:p>
            <a:pPr algn="l"/>
            <a:r>
              <a:rPr sz="1050" b="0">
                <a:solidFill>
                  <a:srgbClr val="1A233A"/>
                </a:solidFill>
              </a:rPr>
              <a:t>• PHP 웹 프론트엔드 포함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097280"/>
            <a:ext cx="3749039" cy="4572000"/>
          </a:xfrm>
          <a:prstGeom prst="rect">
            <a:avLst/>
          </a:prstGeom>
          <a:solidFill>
            <a:srgbClr val="F0F4F8"/>
          </a:solidFill>
          <a:ln w="6350">
            <a:solidFill>
              <a:srgbClr val="008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097280"/>
            <a:ext cx="3749039" cy="347472"/>
          </a:xfrm>
          <a:prstGeom prst="rect">
            <a:avLst/>
          </a:prstGeom>
          <a:solidFill>
            <a:srgbClr val="306F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7" y="1133856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Python / Django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7" y="1481328"/>
            <a:ext cx="356615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233A"/>
                </a:solidFill>
              </a:rPr>
              <a:t>• Django 웹 프레임워크 기반</a:t>
            </a:r>
          </a:p>
          <a:p>
            <a:pPr algn="l"/>
            <a:r>
              <a:rPr sz="1050" b="0">
                <a:solidFill>
                  <a:srgbClr val="1A233A"/>
                </a:solidFill>
              </a:rPr>
              <a:t>• sdkdemoapp 앱 구조</a:t>
            </a:r>
          </a:p>
          <a:p>
            <a:pPr algn="l"/>
            <a:r>
              <a:rPr sz="1050" b="0">
                <a:solidFill>
                  <a:srgbClr val="1A233A"/>
                </a:solidFill>
              </a:rPr>
              <a:t>• biz/ 비즈니스 로직 분리</a:t>
            </a:r>
          </a:p>
          <a:p>
            <a:pPr algn="l"/>
            <a:r>
              <a:rPr sz="1050" b="0">
                <a:solidFill>
                  <a:srgbClr val="1A233A"/>
                </a:solidFill>
              </a:rPr>
              <a:t>• REST API + WebSocket 혼용</a:t>
            </a:r>
          </a:p>
          <a:p>
            <a:pPr algn="l"/>
            <a:r>
              <a:rPr sz="1050" b="0">
                <a:solidFill>
                  <a:srgbClr val="1A233A"/>
                </a:solidFill>
              </a:rPr>
              <a:t>• 2.run_web_app.bat 실행 스크립트</a:t>
            </a:r>
          </a:p>
          <a:p>
            <a:pPr algn="l"/>
            <a:r>
              <a:rPr sz="1050" b="0">
                <a:solidFill>
                  <a:srgbClr val="1A233A"/>
                </a:solidFill>
              </a:rPr>
              <a:t>• Getting Started 문서 제공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5562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6575"/>
                </a:solidFill>
              </a:rPr>
              <a:t>SmartLM SDK Repository  |  Chunghyon/SmartLM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06  지원 디바이스 모델 (업데이트)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88CC"/>
                </a:solidFill>
              </a:rPr>
              <a:t>SmackBio 디바이스 라인업 + BOWE A3-8190 추가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3749039" cy="2286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8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3749039" cy="365760"/>
          </a:xfrm>
          <a:prstGeom prst="rect">
            <a:avLst/>
          </a:prstGeom>
          <a:solidFill>
            <a:srgbClr val="00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33856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99616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33A"/>
                </a:solidFill>
              </a:rPr>
              <a:t>소형 지문인식기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7393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5"/>
                </a:solidFill>
              </a:rPr>
              <a:t>• 지문 1:N 인증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1284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5"/>
                </a:solidFill>
              </a:rPr>
              <a:t>• 직렬/TCP-IP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5176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5"/>
                </a:solidFill>
              </a:rPr>
              <a:t>• 경량 임베디드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097280"/>
            <a:ext cx="3749039" cy="2286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8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097280"/>
            <a:ext cx="3749039" cy="365760"/>
          </a:xfrm>
          <a:prstGeom prst="rect">
            <a:avLst/>
          </a:prstGeom>
          <a:solidFill>
            <a:srgbClr val="00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133856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499616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33A"/>
                </a:solidFill>
              </a:rPr>
              <a:t>고급 지문인식기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177393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5"/>
                </a:solidFill>
              </a:rPr>
              <a:t>• A30 + 향상 속도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21284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5"/>
                </a:solidFill>
              </a:rPr>
              <a:t>• 더 큰 등록용량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097280"/>
            <a:ext cx="3749039" cy="2286000"/>
          </a:xfrm>
          <a:prstGeom prst="rect">
            <a:avLst/>
          </a:prstGeom>
          <a:solidFill>
            <a:srgbClr val="FFFFFF"/>
          </a:solidFill>
          <a:ln w="1016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097280"/>
            <a:ext cx="3749039" cy="36576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133856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M30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1499616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33A"/>
                </a:solidFill>
              </a:rPr>
              <a:t>멀티모달 인증기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177393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5"/>
                </a:solidFill>
              </a:rPr>
              <a:t>• 지문+PIN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21284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5"/>
                </a:solidFill>
              </a:rPr>
              <a:t>• 도어 제어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65176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5"/>
                </a:solidFill>
              </a:rPr>
              <a:t>• Bell 타이머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657600"/>
            <a:ext cx="3749039" cy="2286000"/>
          </a:xfrm>
          <a:prstGeom prst="rect">
            <a:avLst/>
          </a:prstGeom>
          <a:solidFill>
            <a:srgbClr val="FFFFFF"/>
          </a:solidFill>
          <a:ln w="1016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3657600"/>
            <a:ext cx="3749039" cy="36576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694176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M50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059936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33A"/>
                </a:solidFill>
              </a:rPr>
              <a:t>멀티모달 고급형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33425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5"/>
                </a:solidFill>
              </a:rPr>
              <a:t>• M30+BigUser 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77316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5"/>
                </a:solidFill>
              </a:rPr>
              <a:t>• GPS 로그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97680" y="3657600"/>
            <a:ext cx="3749039" cy="2286000"/>
          </a:xfrm>
          <a:prstGeom prst="rect">
            <a:avLst/>
          </a:prstGeom>
          <a:solidFill>
            <a:srgbClr val="FFFFFF"/>
          </a:solidFill>
          <a:ln w="10160">
            <a:solidFill>
              <a:srgbClr val="556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97680" y="3657600"/>
            <a:ext cx="3749039" cy="365760"/>
          </a:xfrm>
          <a:prstGeom prst="rect">
            <a:avLst/>
          </a:prstGeom>
          <a:solidFill>
            <a:srgbClr val="556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0" y="3694176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S100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4059936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33A"/>
                </a:solidFill>
              </a:rPr>
              <a:t>스마트 출입 단말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433425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5"/>
                </a:solidFill>
              </a:rPr>
              <a:t>• 스마트카드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0" y="477316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5"/>
                </a:solidFill>
              </a:rPr>
              <a:t>• 얼굴 옵션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52120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5"/>
                </a:solidFill>
              </a:rPr>
              <a:t>• 고용량 DB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0" y="3657600"/>
            <a:ext cx="3749039" cy="2286000"/>
          </a:xfrm>
          <a:prstGeom prst="rect">
            <a:avLst/>
          </a:prstGeom>
          <a:solidFill>
            <a:srgbClr val="FFFFFF"/>
          </a:solidFill>
          <a:ln w="10160">
            <a:solidFill>
              <a:srgbClr val="1A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29600" y="3657600"/>
            <a:ext cx="3749039" cy="36576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21040" y="3694176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S300/SB3600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4059936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33A"/>
                </a:solidFill>
              </a:rPr>
              <a:t>엔터프라이즈 단말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433425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5"/>
                </a:solidFill>
              </a:rPr>
              <a:t>• 최대 사용자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477316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5"/>
                </a:solidFill>
              </a:rPr>
              <a:t>• 36자 ID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52120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5"/>
                </a:solidFill>
              </a:rPr>
              <a:t>• 12자리 ID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6144768"/>
            <a:ext cx="11430000" cy="5669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6199632"/>
            <a:ext cx="11155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★  BOWE A3-8190  (NEW)  —  얼굴인식+지문+카드+비밀번호+QR코드  |  HTTP Push 프로토콜  |  최대 5,000명  |  체온 측정  |  엘리베이터 권한 제어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5562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6575"/>
                </a:solidFill>
              </a:rPr>
              <a:t>SmartLM SDK Repository  |  Chunghyon/SmartLM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07  S/W 개발 전체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88CC"/>
                </a:solidFill>
              </a:rPr>
              <a:t>3가지 SDK 유형 아키텍처 — 용도별 선택 가이드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3749039" cy="384048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133856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① Traditional SDK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536192"/>
            <a:ext cx="3749039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" y="1581912"/>
            <a:ext cx="36118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233A"/>
                </a:solidFill>
              </a:rPr>
              <a:t>응용 프로그램
(C# / VB.NET / Java / Delphi)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221284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233A"/>
                </a:solidFill>
              </a:rPr>
              <a:t>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487168"/>
            <a:ext cx="3749039" cy="5943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" y="2532888"/>
            <a:ext cx="3611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233A"/>
                </a:solidFill>
              </a:rPr>
              <a:t>SBXPCDLL.dll / SBXPC.ocx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311810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233A"/>
                </a:solidFill>
              </a:rPr>
              <a:t>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401568"/>
            <a:ext cx="3749039" cy="6400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" y="3447288"/>
            <a:ext cx="36118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233A"/>
                </a:solidFill>
              </a:rPr>
              <a:t>통신 계층
(Serial / TCP-IP / P2P)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407822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233A"/>
                </a:solidFill>
              </a:rPr>
              <a:t>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352544"/>
            <a:ext cx="3749039" cy="658368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" y="4398264"/>
            <a:ext cx="361187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SmackBio 디바이스
(A30/A50/M30/M50/S300)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5120640"/>
            <a:ext cx="3749039" cy="658368"/>
          </a:xfrm>
          <a:prstGeom prst="rect">
            <a:avLst/>
          </a:prstGeom>
          <a:solidFill>
            <a:srgbClr val="EE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14807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6575"/>
                </a:solidFill>
              </a:rPr>
              <a:t>적합한 용도: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79" y="534924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33A"/>
                </a:solidFill>
              </a:rPr>
              <a:t>엔터프라이즈·온프레미스
오프라인 환경 완벽 지원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59" y="1097280"/>
            <a:ext cx="3749039" cy="384048"/>
          </a:xfrm>
          <a:prstGeom prst="rect">
            <a:avLst/>
          </a:prstGeom>
          <a:solidFill>
            <a:srgbClr val="00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43399" y="1133856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② WebSocket SDK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59" y="1536192"/>
            <a:ext cx="3749039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25112" y="1581912"/>
            <a:ext cx="36118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233A"/>
                </a:solidFill>
              </a:rPr>
              <a:t>웹 브라우저 / 클라이언트
(ASP.NET / PHP / Python)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7879" y="221284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88CC"/>
                </a:solidFill>
              </a:rPr>
              <a:t>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51959" y="2487168"/>
            <a:ext cx="3749039" cy="5943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25112" y="2532888"/>
            <a:ext cx="3611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233A"/>
                </a:solidFill>
              </a:rPr>
              <a:t>SBWebSocketHandler
IDeviceLoginManager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97879" y="311810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88CC"/>
                </a:solidFill>
              </a:rPr>
              <a:t>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51959" y="3401568"/>
            <a:ext cx="3749039" cy="6400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25112" y="3447288"/>
            <a:ext cx="36118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233A"/>
                </a:solidFill>
              </a:rPr>
              <a:t>WebSocket Server
(클라우드/원격)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97879" y="407822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88CC"/>
                </a:solidFill>
              </a:rPr>
              <a:t>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51959" y="4352544"/>
            <a:ext cx="3749039" cy="658368"/>
          </a:xfrm>
          <a:prstGeom prst="rect">
            <a:avLst/>
          </a:prstGeom>
          <a:solidFill>
            <a:srgbClr val="00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25112" y="4398264"/>
            <a:ext cx="361187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SmackBio 디바이스
(WebSocket 클라이언트)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51959" y="5120640"/>
            <a:ext cx="3749039" cy="658368"/>
          </a:xfrm>
          <a:prstGeom prst="rect">
            <a:avLst/>
          </a:prstGeom>
          <a:solidFill>
            <a:srgbClr val="EE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43399" y="514807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6575"/>
                </a:solidFill>
              </a:rPr>
              <a:t>적합한 용도: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399" y="534924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33A"/>
                </a:solidFill>
              </a:rPr>
              <a:t>클라우드·원격 모니터링
실시간 웹 UI 지원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83879" y="1097280"/>
            <a:ext cx="3749039" cy="3840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75319" y="1133856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③ HTTP Push (A3-8190)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83879" y="1536192"/>
            <a:ext cx="3749039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57031" y="1581912"/>
            <a:ext cx="36118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233A"/>
                </a:solidFill>
              </a:rPr>
              <a:t>PC HTTP 서버
(C# HttpListener / ASP.NET)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29800" y="221284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6B35"/>
                </a:solidFill>
              </a:rPr>
              <a:t>▼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83879" y="2487168"/>
            <a:ext cx="3749039" cy="5943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57031" y="2532888"/>
            <a:ext cx="3611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233A"/>
                </a:solidFill>
              </a:rPr>
              <a:t>A3HttpListener
JSON REST API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29800" y="311810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6B35"/>
                </a:solidFill>
              </a:rPr>
              <a:t>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83879" y="3401568"/>
            <a:ext cx="3749039" cy="6400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57031" y="3447288"/>
            <a:ext cx="36118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233A"/>
                </a:solidFill>
              </a:rPr>
              <a:t>HTTP(S) 프로토콜
(디바이스 → 서버 Push)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29800" y="407822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6B35"/>
                </a:solidFill>
              </a:rPr>
              <a:t>▼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83879" y="4352544"/>
            <a:ext cx="3749039" cy="65836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57031" y="4398264"/>
            <a:ext cx="361187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BOWE A3-8190
(얼굴/지문/카드/QR)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83879" y="5120640"/>
            <a:ext cx="3749039" cy="658368"/>
          </a:xfrm>
          <a:prstGeom prst="rect">
            <a:avLst/>
          </a:prstGeom>
          <a:solidFill>
            <a:srgbClr val="EE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75319" y="514807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6575"/>
                </a:solidFill>
              </a:rPr>
              <a:t>적합한 용도: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75319" y="534924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33A"/>
                </a:solidFill>
              </a:rPr>
              <a:t>HTTP 기반 얼굴인식 단말
Keepalive + 인원관리 + 기록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4320" y="65562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6575"/>
                </a:solidFill>
              </a:rPr>
              <a:t>SmartLM SDK Repository  |  Chunghyon/SmartLM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08  A3-8190 HTTP 통신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88CC"/>
                </a:solidFill>
              </a:rPr>
              <a:t>Keepalive · 인원관리 · 출입기록 통신 흐름 (HTTP v6.0)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50292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6B35"/>
                </a:solidFill>
              </a:rPr>
              <a:t>🖥️  PC HTTP 서버 (이 예제)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051560"/>
            <a:ext cx="50292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008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09728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88CC"/>
                </a:solidFill>
              </a:rPr>
              <a:t>📷  A3-8190 디바이스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463040"/>
            <a:ext cx="27432" cy="4754880"/>
          </a:xfrm>
          <a:prstGeom prst="rect">
            <a:avLst/>
          </a:prstGeom>
          <a:solidFill>
            <a:srgbClr val="556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15400" y="1463040"/>
            <a:ext cx="27432" cy="4754880"/>
          </a:xfrm>
          <a:prstGeom prst="rect">
            <a:avLst/>
          </a:prstGeom>
          <a:solidFill>
            <a:srgbClr val="556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28800" y="1691640"/>
            <a:ext cx="7955279" cy="73152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692640" y="1627632"/>
            <a:ext cx="0" cy="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46920" y="1609344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A"/>
                </a:solidFill>
              </a:rPr>
              <a:t>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46304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233A"/>
                </a:solidFill>
              </a:rPr>
              <a:t>POST /Device/Keepalive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1737360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6575"/>
                </a:solidFill>
              </a:rPr>
              <a:t>{SN, RelayStatus, DoorStatus}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2148839"/>
            <a:ext cx="7955279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63040" y="2066543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6B35"/>
                </a:solidFill>
              </a:rPr>
              <a:t>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1920239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6B35"/>
                </a:solidFill>
              </a:rPr>
              <a:t>응답: {Success, AddPeople, Remote}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2194560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6575"/>
                </a:solidFill>
              </a:rPr>
              <a:t>AddPeople&gt;0 시 인원 다운로드 요청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2578608"/>
            <a:ext cx="7955279" cy="73152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692640" y="2514600"/>
            <a:ext cx="0" cy="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46920" y="2496312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A"/>
                </a:solidFill>
              </a:rPr>
              <a:t>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235000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233A"/>
                </a:solidFill>
              </a:rPr>
              <a:t>POST /People/DownloadPeopleList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2624328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6575"/>
                </a:solidFill>
              </a:rPr>
              <a:t>{SN, Limit:100}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0" y="3035808"/>
            <a:ext cx="7955279" cy="73152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63040" y="2953512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8648"/>
                </a:solidFill>
              </a:rPr>
              <a:t>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280720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E8648"/>
                </a:solidFill>
              </a:rPr>
              <a:t>응답: {PeopleList[…]}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3081528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6575"/>
                </a:solidFill>
              </a:rPr>
              <a:t>인원 목록 전체 반환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0" y="3493008"/>
            <a:ext cx="7955279" cy="73152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92640" y="3429000"/>
            <a:ext cx="0" cy="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46920" y="3410712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A"/>
                </a:solidFill>
              </a:rPr>
              <a:t>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326440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233A"/>
                </a:solidFill>
              </a:rPr>
              <a:t>POST /Device/RemoteCommand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3538728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6575"/>
                </a:solidFill>
              </a:rPr>
              <a:t>Remote=1 플래그 수신 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0" y="3904488"/>
            <a:ext cx="7955279" cy="73152"/>
          </a:xfrm>
          <a:prstGeom prst="rect">
            <a:avLst/>
          </a:prstGeom>
          <a:solidFill>
            <a:srgbClr val="00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463040" y="3822192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88CC"/>
                </a:solidFill>
              </a:rPr>
              <a:t>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0" y="367588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88CC"/>
                </a:solidFill>
              </a:rPr>
              <a:t>응답: {Opendoor:1}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0" y="3950208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6575"/>
                </a:solidFill>
              </a:rPr>
              <a:t>문 열기 명령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28800" y="4315968"/>
            <a:ext cx="7955279" cy="73152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692640" y="4251960"/>
            <a:ext cx="0" cy="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46920" y="4233672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A"/>
                </a:solidFill>
              </a:rPr>
              <a:t>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54880" y="408736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233A"/>
                </a:solidFill>
              </a:rPr>
              <a:t>POST /Record/UploadIdentifyRecord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80" y="4361688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6575"/>
                </a:solidFill>
              </a:rPr>
              <a:t>multipart/form-data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28800" y="4727448"/>
            <a:ext cx="7955279" cy="73152"/>
          </a:xfrm>
          <a:prstGeom prst="rect">
            <a:avLst/>
          </a:prstGeom>
          <a:solidFill>
            <a:srgbClr val="556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463040" y="4645152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6575"/>
                </a:solidFill>
              </a:rPr>
              <a:t>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54880" y="449884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556575"/>
                </a:solidFill>
              </a:rPr>
              <a:t>응답: {Success:0}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54880" y="4773168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6575"/>
                </a:solidFill>
              </a:rPr>
              <a:t>출입 기록 수신 완료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28800" y="5184648"/>
            <a:ext cx="7955279" cy="73152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692640" y="5120640"/>
            <a:ext cx="0" cy="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46920" y="5102352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A"/>
                </a:solidFill>
              </a:rPr>
              <a:t>►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54880" y="495604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233A"/>
                </a:solidFill>
              </a:rPr>
              <a:t>POST /DevicePass/SelectDeleteInfo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54880" y="5230368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6575"/>
                </a:solidFill>
              </a:rPr>
              <a:t>DeletePeople&gt;0 시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828800" y="5641848"/>
            <a:ext cx="7955279" cy="73152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463040" y="5559552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3333"/>
                </a:solidFill>
              </a:rPr>
              <a:t>◄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54880" y="541324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C3333"/>
                </a:solidFill>
              </a:rPr>
              <a:t>응답: {DeleteList:[UserID,…]}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54880" y="5687568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6575"/>
                </a:solidFill>
              </a:rPr>
              <a:t>삭제할 UserID 목록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89320" y="1051560"/>
            <a:ext cx="6035040" cy="5212080"/>
          </a:xfrm>
          <a:prstGeom prst="rect">
            <a:avLst/>
          </a:prstGeom>
          <a:solidFill>
            <a:srgbClr val="FFFFFF"/>
          </a:solidFill>
          <a:ln w="3810">
            <a:solidFill>
              <a:srgbClr val="1A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26480" y="1097280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A"/>
                </a:solidFill>
              </a:rPr>
              <a:t>📋 HTTP API 엔드포인트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035040" y="1536192"/>
            <a:ext cx="5897880" cy="38404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26480" y="155448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88CC"/>
                </a:solidFill>
              </a:rPr>
              <a:t>POST /Device/Keepalive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26480" y="1737360"/>
            <a:ext cx="5669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6575"/>
                </a:solidFill>
              </a:rPr>
              <a:t>하트비트 · 대기 명령 플래그 응답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35040" y="1993391"/>
            <a:ext cx="58978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26480" y="2011679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88CC"/>
                </a:solidFill>
              </a:rPr>
              <a:t>POST /People/DownloadPeopleList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26480" y="2194560"/>
            <a:ext cx="5669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6575"/>
                </a:solidFill>
              </a:rPr>
              <a:t>인원 목록 다운로드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35040" y="2450591"/>
            <a:ext cx="5897880" cy="38404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26480" y="2468879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88CC"/>
                </a:solidFill>
              </a:rPr>
              <a:t>POST /DevicePass/SelectDeleteInfo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26480" y="2651760"/>
            <a:ext cx="5669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6575"/>
                </a:solidFill>
              </a:rPr>
              <a:t>삭제할 인원 목록 반환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035040" y="2907791"/>
            <a:ext cx="58978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126480" y="2926079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88CC"/>
                </a:solidFill>
              </a:rPr>
              <a:t>POST /Device/RemoteCommand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26480" y="3108960"/>
            <a:ext cx="5669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6575"/>
                </a:solidFill>
              </a:rPr>
              <a:t>원격 제어 명령 (문열기·재시작)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035040" y="3364991"/>
            <a:ext cx="5897880" cy="38404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126480" y="3383279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88CC"/>
                </a:solidFill>
              </a:rPr>
              <a:t>POST /Record/UploadIdentifyRecord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126480" y="3566160"/>
            <a:ext cx="5669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6575"/>
                </a:solidFill>
              </a:rPr>
              <a:t>출입 기록 수신 (multipart)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035040" y="3822191"/>
            <a:ext cx="58978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126480" y="3840479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88CC"/>
                </a:solidFill>
              </a:rPr>
              <a:t>POST /Record/UploadSystemRecord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126480" y="4023359"/>
            <a:ext cx="5669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6575"/>
                </a:solidFill>
              </a:rPr>
              <a:t>시스템 기록 수신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035040" y="4279392"/>
            <a:ext cx="5897880" cy="38404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126480" y="4297679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88CC"/>
                </a:solidFill>
              </a:rPr>
              <a:t>POST /People/PushPeople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126480" y="4480559"/>
            <a:ext cx="5669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6575"/>
                </a:solidFill>
              </a:rPr>
              <a:t>디바이스→서버 인원 정보 업로드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035040" y="4736592"/>
            <a:ext cx="58978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126480" y="4754879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88CC"/>
                </a:solidFill>
              </a:rPr>
              <a:t>POST /People/DownloadPeopleListResult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126480" y="4937759"/>
            <a:ext cx="5669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6575"/>
                </a:solidFill>
              </a:rPr>
              <a:t>인원 저장 결과 피드백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035040" y="5193792"/>
            <a:ext cx="5897880" cy="38404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126480" y="5212079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88CC"/>
                </a:solidFill>
              </a:rPr>
              <a:t>POST /Device/UploadWorkParameter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126480" y="5394959"/>
            <a:ext cx="5669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6575"/>
                </a:solidFill>
              </a:rPr>
              <a:t>디바이스 파라미터 업로드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035040" y="5650992"/>
            <a:ext cx="58978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126480" y="5669279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88CC"/>
                </a:solidFill>
              </a:rPr>
              <a:t>POST /Device/DownloadWorkSetting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126480" y="5852159"/>
            <a:ext cx="5669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6575"/>
                </a:solidFill>
              </a:rPr>
              <a:t>파라미터 다운로드</a:t>
            </a:r>
          </a:p>
        </p:txBody>
      </p:sp>
      <p:sp>
        <p:nvSpPr>
          <p:cNvPr id="88" name="Rectangle 8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74320" y="65562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6575"/>
                </a:solidFill>
              </a:rPr>
              <a:t>SmartLM SDK Repository  |  Chunghyon/SmartLM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09  A3-8190 Visual Studio 예제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88CC"/>
                </a:solidFill>
              </a:rPr>
              <a:t>C# WinForms · HttpListener · .NET Framework 4.8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5029200" cy="5166360"/>
          </a:xfrm>
          <a:prstGeom prst="rect">
            <a:avLst/>
          </a:prstGeom>
          <a:solidFill>
            <a:srgbClr val="FFFFFF"/>
          </a:solidFill>
          <a:ln w="6350">
            <a:solidFill>
              <a:srgbClr val="1A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A"/>
                </a:solidFill>
              </a:rPr>
              <a:t>📁 프로젝트 구조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6B35"/>
                </a:solidFill>
              </a:rPr>
              <a:t>Sample_A3-8190/</a:t>
            </a:r>
          </a:p>
          <a:p>
            <a:pPr algn="l"/>
            <a:r>
              <a:rPr sz="950" b="1">
                <a:solidFill>
                  <a:srgbClr val="1A233A"/>
                </a:solidFill>
              </a:rPr>
              <a:t>  └─ C#_A3-8190_HTTPServer/</a:t>
            </a:r>
          </a:p>
          <a:p>
            <a:pPr algn="l"/>
            <a:r>
              <a:rPr sz="950" b="0">
                <a:solidFill>
                  <a:srgbClr val="556575"/>
                </a:solidFill>
              </a:rPr>
              <a:t>       ├─ A3-8190_HTTPServer.sln</a:t>
            </a:r>
          </a:p>
          <a:p>
            <a:pPr algn="l"/>
            <a:r>
              <a:rPr sz="950" b="0">
                <a:solidFill>
                  <a:srgbClr val="1A233A"/>
                </a:solidFill>
              </a:rPr>
              <a:t>       └─ A3-8190_HTTPServer/</a:t>
            </a:r>
          </a:p>
          <a:p>
            <a:pPr algn="l"/>
            <a:r>
              <a:rPr sz="950" b="0">
                <a:solidFill>
                  <a:srgbClr val="CC3333"/>
                </a:solidFill>
              </a:rPr>
              <a:t>            ├─ app.manifest  ← 관리자권한</a:t>
            </a:r>
          </a:p>
          <a:p>
            <a:pPr algn="l"/>
            <a:r>
              <a:rPr sz="950" b="0">
                <a:solidFill>
                  <a:srgbClr val="556575"/>
                </a:solidFill>
              </a:rPr>
              <a:t>            ├─ Program.cs</a:t>
            </a:r>
          </a:p>
          <a:p>
            <a:pPr algn="l"/>
            <a:r>
              <a:rPr sz="950" b="0">
                <a:solidFill>
                  <a:srgbClr val="0088CC"/>
                </a:solidFill>
              </a:rPr>
              <a:t>            ├─ frmMain.cs/.Designer   메인폼</a:t>
            </a:r>
          </a:p>
          <a:p>
            <a:pPr algn="l"/>
            <a:r>
              <a:rPr sz="950" b="0">
                <a:solidFill>
                  <a:srgbClr val="2E8648"/>
                </a:solidFill>
              </a:rPr>
              <a:t>            ├─ frmPersonnel.cs        인원관리</a:t>
            </a:r>
          </a:p>
          <a:p>
            <a:pPr algn="l"/>
            <a:r>
              <a:rPr sz="950" b="0">
                <a:solidFill>
                  <a:srgbClr val="2E8648"/>
                </a:solidFill>
              </a:rPr>
              <a:t>            ├─ frmRecords.cs          출입기록</a:t>
            </a:r>
          </a:p>
          <a:p>
            <a:pPr algn="l"/>
            <a:r>
              <a:rPr sz="950" b="0">
                <a:solidFill>
                  <a:srgbClr val="556575"/>
                </a:solidFill>
              </a:rPr>
              <a:t>            ├─ Models/Models.cs       데이터모델</a:t>
            </a:r>
          </a:p>
          <a:p>
            <a:pPr algn="l"/>
            <a:r>
              <a:rPr sz="950" b="0">
                <a:solidFill>
                  <a:srgbClr val="1A233A"/>
                </a:solidFill>
              </a:rPr>
              <a:t>            └─ HttpServer/</a:t>
            </a:r>
          </a:p>
          <a:p>
            <a:pPr algn="l"/>
            <a:r>
              <a:rPr sz="950" b="0">
                <a:solidFill>
                  <a:srgbClr val="FF6B35"/>
                </a:solidFill>
              </a:rPr>
              <a:t>                 └─ A3HttpListener.cs  핵심로직</a:t>
            </a:r>
          </a:p>
        </p:txBody>
      </p:sp>
      <p:sp>
        <p:nvSpPr>
          <p:cNvPr id="8" name="Rectangle 7"/>
          <p:cNvSpPr/>
          <p:nvPr/>
        </p:nvSpPr>
        <p:spPr>
          <a:xfrm>
            <a:off x="5577840" y="1097280"/>
            <a:ext cx="630936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008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15000" y="1143000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8CC"/>
                </a:solidFill>
              </a:rPr>
              <a:t>🔧 핵심 클래스: A3HttpListener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155448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33A"/>
                </a:solidFill>
              </a:rPr>
              <a:t>• HttpListener 기반 자체 HTTP 서버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184708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33A"/>
                </a:solidFill>
              </a:rPr>
              <a:t>• 멀티스레드: ThreadPool.QueueUserWorkItem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2139696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33A"/>
                </a:solidFill>
              </a:rPr>
              <a:t>• Keepalive 응답에 AddPeople/Remote 플래그 설정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2432304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33A"/>
                </a:solidFill>
              </a:rPr>
              <a:t>• JavaScriptSerializer (System.Web.Extensions)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2724912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33A"/>
                </a:solidFill>
              </a:rPr>
              <a:t>• PersonnelList / DeleteList / Records 공유 상태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301752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33A"/>
                </a:solidFill>
              </a:rPr>
              <a:t>• 이벤트: OnLog / OnKeepalive / OnRecord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331012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33A"/>
                </a:solidFill>
              </a:rPr>
              <a:t>• QueueAddPeople() / QueueRemoteCommand() 메서드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0" y="3602736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33A"/>
                </a:solidFill>
              </a:rPr>
              <a:t>• multipart/form-data 파서 내장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77840" y="3547872"/>
            <a:ext cx="63093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15000" y="3593592"/>
            <a:ext cx="5943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648"/>
                </a:solidFill>
              </a:rPr>
              <a:t>🖥️ frmMain — 메인 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0" y="3959352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5"/>
                </a:solidFill>
              </a:rPr>
              <a:t>• 포트 설정 + 서버 시작/중지 버튼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0" y="4233672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5"/>
                </a:solidFill>
              </a:rPr>
              <a:t>• 연결된 디바이스 ListView (SN, 릴레이, 도어, 알람)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0" y="4507992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5"/>
                </a:solidFill>
              </a:rPr>
              <a:t>• 원격 제어: 문열기/상시개방/문닫기/재시작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0" y="4782312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5"/>
                </a:solidFill>
              </a:rPr>
              <a:t>• 인원관리(frmPersonnel) / 출입기록(frmRecords) 창 열기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77840" y="4828032"/>
            <a:ext cx="30175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15000" y="4873752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</a:rPr>
              <a:t>👤 frmPersonnel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5000" y="526694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5"/>
                </a:solidFill>
              </a:rPr>
              <a:t>• 인원 추가 / 삭제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5000" y="554126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5"/>
                </a:solidFill>
              </a:rPr>
              <a:t>• 디바이스로 전송 예약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15000" y="5815583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5"/>
                </a:solidFill>
              </a:rPr>
              <a:t>• UserID/이름/부서/카드 입력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32520" y="4828032"/>
            <a:ext cx="31546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C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69680" y="4873752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3333"/>
                </a:solidFill>
              </a:rPr>
              <a:t>📋 frmRecords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5266944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5"/>
                </a:solidFill>
              </a:rPr>
              <a:t>• 실시간 출입 기록 표시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5541264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5"/>
                </a:solidFill>
              </a:rPr>
              <a:t>• 입실/퇴실 색상 구분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5815583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5"/>
                </a:solidFill>
              </a:rPr>
              <a:t>• CSV 내보내기 (UTF-8 BOM)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6336792"/>
            <a:ext cx="11430000" cy="384048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36422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D700"/>
                </a:solidFill>
              </a:rPr>
              <a:t>🚀 빌드: VS에서 .sln 열기 → Ctrl+Shift+B  |  실행: 관리자 권한 필요 (app.manifest requestedExecutionLevel=requireAdministrator)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65562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6575"/>
                </a:solidFill>
              </a:rPr>
              <a:t>SmartLM SDK Repository  |  Chunghyon/SmartLM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10-A  새 프로젝트 생성 절차  ①  Traditional SDK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88CC"/>
                </a:solidFill>
              </a:rPr>
              <a:t>SBXPCDLL / SBXPC.ocx 를 사용하는 Windows 네이티브 애플리케이션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56692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1A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914400" cy="242316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88720"/>
            <a:ext cx="841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A"/>
                </a:solidFill>
              </a:rPr>
              <a:t>개발 환경 준비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002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5"/>
                </a:solidFill>
              </a:rPr>
              <a:t>• Visual Studio (C# / VB.NET) 또는 선호 IDE 설치
• SDK bin/ 디렉토리에서 필요한 파일 복사
  x86: SBXPCDLL.dll, SBXPC.ocx, SBPCCOMM.dll, GEN_FONT.dll
  x64: SBXPCDLL64.dll, SBPCCOMM64.dll, GEN_FONT64.dll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097280"/>
            <a:ext cx="56692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1A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097280"/>
            <a:ext cx="914400" cy="242316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188720"/>
            <a:ext cx="841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A"/>
                </a:solidFill>
              </a:rPr>
              <a:t>프로젝트 생성 및 DLL 참조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16002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5"/>
                </a:solidFill>
              </a:rPr>
              <a:t>• 새 Windows Forms / Console 프로젝트 생성
• [DLL 방식] DllImport로 SBXPCDLL(_64).dll 참조
• [OCX 방식] 도구상자 → COM 컴포넌트 → SBXPC.ocx 등록
  regsvr32 SBXPC.ocx 명령으로 시스템 등록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749039"/>
            <a:ext cx="56692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1A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749039"/>
            <a:ext cx="914400" cy="242316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3840479"/>
            <a:ext cx="841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4047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A"/>
                </a:solidFill>
              </a:rPr>
              <a:t>디바이스 타입 설정 및 연결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59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5"/>
                </a:solidFill>
              </a:rPr>
              <a:t>• _SetMachineType(num, "S300")  — 대상 모델 지정
• 직렬: _ConnectSerial(num, comPort, baudRate)
• TCP/IP: _ConnectTcpip(num, ipAddr, port, password)
• P2P: _ConnectP2p(num, cloudId, ...)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3749039"/>
            <a:ext cx="56692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1A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3749039"/>
            <a:ext cx="914400" cy="242316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3840479"/>
            <a:ext cx="841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384047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A"/>
                </a:solidFill>
              </a:rPr>
              <a:t>이벤트 캡처 및 비즈니스 로직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4251959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5"/>
                </a:solidFill>
              </a:rPr>
              <a:t>• _StartEventCapture(commType, p1, p2, callback, ctx)
• 콜백에서 XML 파싱 → _XML_ParseString() 활용
• 등록: _GetEnrollData() / _SetEnrollData()
• 로그: _ReadGeneralLogData() → _GetGeneralLogData()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65562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6575"/>
                </a:solidFill>
              </a:rPr>
              <a:t>SmartLM SDK Repository  |  Chunghyon/SmartLM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10-B  새 프로젝트 생성 절차  ②  WebSocket SDK (C#/.NET)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88CC"/>
                </a:solidFill>
              </a:rPr>
              <a:t>SmackBio.WebSocketSDK 라이브러리 기반 ASP.NET 웹 서버 구축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56692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008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914400" cy="2423160"/>
          </a:xfrm>
          <a:prstGeom prst="rect">
            <a:avLst/>
          </a:prstGeom>
          <a:solidFill>
            <a:srgbClr val="00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88720"/>
            <a:ext cx="841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A"/>
                </a:solidFill>
              </a:rPr>
              <a:t>솔루션 설정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002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5"/>
                </a:solidFill>
              </a:rPr>
              <a:t>• ASP.NET Web Application 프로젝트 생성
• SmackBio.WebSocketSDK.csproj 솔루션에 추가
• Microsoft.Web.WebSockets NuGet 패키지 설치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097280"/>
            <a:ext cx="56692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008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097280"/>
            <a:ext cx="914400" cy="2423160"/>
          </a:xfrm>
          <a:prstGeom prst="rect">
            <a:avLst/>
          </a:prstGeom>
          <a:solidFill>
            <a:srgbClr val="00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188720"/>
            <a:ext cx="841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A"/>
                </a:solidFill>
              </a:rPr>
              <a:t>IDeviceLoginManager 구현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16002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5"/>
                </a:solidFill>
              </a:rPr>
              <a:t>• GetRegisterInfo(terminalType, serialNo) → 토큰 반환
• Verify(serialNo, token) → bool 반환
• OnDeviceEvent(xml) → 출입·관리자 로그 처리
• Web.config에 deviceLoginManager 등록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749039"/>
            <a:ext cx="56692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008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749039"/>
            <a:ext cx="914400" cy="2423160"/>
          </a:xfrm>
          <a:prstGeom prst="rect">
            <a:avLst/>
          </a:prstGeom>
          <a:solidFill>
            <a:srgbClr val="00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3840479"/>
            <a:ext cx="841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4047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A"/>
                </a:solidFill>
              </a:rPr>
              <a:t>WebSocket 엔드포인트 등록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59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5"/>
                </a:solidFill>
              </a:rPr>
              <a:t>• GenericHandler.ashx 또는 Global.asax에서 경로 매핑
• SessionRegistry로 연결된 디바이스 목록 관리
• check_cloud_id / valid_cloud_id 설정
• Web.config — connectionStrings DB 연결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3749039"/>
            <a:ext cx="56692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008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3749039"/>
            <a:ext cx="914400" cy="2423160"/>
          </a:xfrm>
          <a:prstGeom prst="rect">
            <a:avLst/>
          </a:prstGeom>
          <a:solidFill>
            <a:srgbClr val="00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3840479"/>
            <a:ext cx="841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384047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A"/>
                </a:solidFill>
              </a:rPr>
              <a:t>UI 페이지 개발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4251959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5"/>
                </a:solidFill>
              </a:rPr>
              <a:t>• ViewOnlineDevices.aspx — 온라인 디바이스 목록
• ViewDeviceEvents.aspx — 실시간 이벤트 조회
• session.ExecuteCommand(page, xmlCmd, onResp)
• Cmd/ 폴더: CmdGetTime, CmdSetTime 등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65562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6575"/>
                </a:solidFill>
              </a:rPr>
              <a:t>SmartLM SDK Repository  |  Chunghyon/SmartLM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10-C  새 프로젝트 생성 절차  ③  A3-8190 HTTP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88CC"/>
                </a:solidFill>
              </a:rPr>
              <a:t>HttpListener 기반 C# WinForms HTTP 서버 — BOWE A3-8190 연동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56692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914400" cy="24231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88720"/>
            <a:ext cx="841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A"/>
                </a:solidFill>
              </a:rPr>
              <a:t>환경 준비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002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5"/>
                </a:solidFill>
              </a:rPr>
              <a:t>• Visual Studio 2019/2022 설치
• .NET Framework 4.8 타겟
• 관리자 권한 실행 (app.manifest 설정)
• 참조: System.Web.Extensions (GAC 내장)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097280"/>
            <a:ext cx="56692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097280"/>
            <a:ext cx="914400" cy="24231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188720"/>
            <a:ext cx="841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A"/>
                </a:solidFill>
              </a:rPr>
              <a:t>솔루션 열기 / 새 프로젝트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16002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5"/>
                </a:solidFill>
              </a:rPr>
              <a:t>• A3-8190_HTTPServer.sln 오픈 (예제 바로 사용)
  또는 새 WinForms 프로젝트 생성 후
• A3HttpListener.cs 와 Models.cs 복사
• app.manifest: requireAdministrator 설정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749039"/>
            <a:ext cx="56692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749039"/>
            <a:ext cx="914400" cy="24231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3840479"/>
            <a:ext cx="841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4047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A"/>
                </a:solidFill>
              </a:rPr>
              <a:t>HTTP 서버 구성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59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5"/>
                </a:solidFill>
              </a:rPr>
              <a:t>• A3HttpListener 인스턴스 생성
• OnLog / OnKeepalive / OnRecord 이벤트 연결
• server.Start(port) 로 서버 시작
• HttpListener Prefix: http://+:{port}/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3749039"/>
            <a:ext cx="56692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3749039"/>
            <a:ext cx="914400" cy="24231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3840479"/>
            <a:ext cx="841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384047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A"/>
                </a:solidFill>
              </a:rPr>
              <a:t>디바이스 연동 및 비즈니스 로직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4251959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5"/>
                </a:solidFill>
              </a:rPr>
              <a:t>• A3-8190 웹 설정에서 서버 IP:PORT 입력
• server.QueueAddPeople(sn, count) — 인원 전송
• server.QueueRemoteCommand(sn, cmd) — 원격 제어
• OnRecord 이벤트에서 출입 기록 처리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65562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6575"/>
                </a:solidFill>
              </a:rPr>
              <a:t>SmartLM SDK Repository  |  Chunghyon/SmartLM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11  플랫폼별 빠른 시작 체크리스트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88CC"/>
                </a:solidFill>
              </a:rPr>
              <a:t>언어·프레임워크별 필수 준비 항목 요약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2834640" cy="5212080"/>
          </a:xfrm>
          <a:prstGeom prst="rect">
            <a:avLst/>
          </a:prstGeom>
          <a:solidFill>
            <a:srgbClr val="FFFFFF"/>
          </a:solidFill>
          <a:ln w="7620">
            <a:solidFill>
              <a:srgbClr val="1A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2834640" cy="384048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C# Traditional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33A"/>
                </a:solidFill>
              </a:rPr>
              <a:t>☐  Visual Studio 2019/2022 설치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21408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33A"/>
                </a:solidFill>
              </a:rPr>
              <a:t>☐  SBXPCDLL.dll / SBXPCDLL64.dll 복사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88336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33A"/>
                </a:solidFill>
              </a:rPr>
              <a:t>☐  x86 또는 x64 플랫폼 선택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55263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33A"/>
                </a:solidFill>
              </a:rPr>
              <a:t>☐  DllImport 선언 추가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22191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33A"/>
                </a:solidFill>
              </a:rPr>
              <a:t>☐  _SetMachineType() 호출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389120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33A"/>
                </a:solidFill>
              </a:rPr>
              <a:t>☐  연결 방식 선택 (Serial/TCP-IP/P2P)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956048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33A"/>
                </a:solidFill>
              </a:rPr>
              <a:t>☐  이벤트 콜백 함수 구현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522976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33A"/>
                </a:solidFill>
              </a:rPr>
              <a:t>☐  샘플: Sample_S300/C#_SBXPCDLL_Sample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10128" y="1097280"/>
            <a:ext cx="2834640" cy="5212080"/>
          </a:xfrm>
          <a:prstGeom prst="rect">
            <a:avLst/>
          </a:prstGeom>
          <a:solidFill>
            <a:srgbClr val="FFFFFF"/>
          </a:solidFill>
          <a:ln w="7620">
            <a:solidFill>
              <a:srgbClr val="008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10128" y="1097280"/>
            <a:ext cx="2834640" cy="384048"/>
          </a:xfrm>
          <a:prstGeom prst="rect">
            <a:avLst/>
          </a:prstGeom>
          <a:solidFill>
            <a:srgbClr val="00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01568" y="1143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C# WebSocket SDK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1568" y="1554480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33A"/>
                </a:solidFill>
              </a:rPr>
              <a:t>☐  ASP.NET Web Application 생성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1568" y="2121408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33A"/>
                </a:solidFill>
              </a:rPr>
              <a:t>☐  SmackBio.WebSocketSDK 프로젝트 참조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01568" y="2688336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33A"/>
                </a:solidFill>
              </a:rPr>
              <a:t>☐  Microsoft.Web.WebSockets 설치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01568" y="3255263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33A"/>
                </a:solidFill>
              </a:rPr>
              <a:t>☐  IDeviceLoginManager 구현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01568" y="3822191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33A"/>
                </a:solidFill>
              </a:rPr>
              <a:t>☐  Web.config deviceLoginManager 등록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01568" y="4389120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33A"/>
                </a:solidFill>
              </a:rPr>
              <a:t>☐  WebSocket 핸들러 경로 설정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01568" y="4956048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33A"/>
                </a:solidFill>
              </a:rPr>
              <a:t>☐  DB 연결 문자열 설정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01568" y="5522976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33A"/>
                </a:solidFill>
              </a:rPr>
              <a:t>☐  샘플: WebSocketSDK/WebSocketSDK/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54496" y="1097280"/>
            <a:ext cx="2834640" cy="5212080"/>
          </a:xfrm>
          <a:prstGeom prst="rect">
            <a:avLst/>
          </a:prstGeom>
          <a:solidFill>
            <a:srgbClr val="FFFFFF"/>
          </a:solidFill>
          <a:ln w="762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54496" y="1097280"/>
            <a:ext cx="2834640" cy="3840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45936" y="1143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A3-8190 HTTP  ★NEW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45936" y="1554480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33A"/>
                </a:solidFill>
              </a:rPr>
              <a:t>☐  Visual Studio 2019/2022 설치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5936" y="2121408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33A"/>
                </a:solidFill>
              </a:rPr>
              <a:t>☐  A3-8190_HTTPServer.sln 열기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45936" y="2688336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33A"/>
                </a:solidFill>
              </a:rPr>
              <a:t>☐  빌드 (Ctrl+Shift+B, .NET 4.8)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45936" y="3255263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33A"/>
                </a:solidFill>
              </a:rPr>
              <a:t>☐  관리자 권한으로 실행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45936" y="3822191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33A"/>
                </a:solidFill>
              </a:rPr>
              <a:t>☐  포트 설정 후 서버 시작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45936" y="4389120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33A"/>
                </a:solidFill>
              </a:rPr>
              <a:t>☐  A3-8190에서 서버 IP:포트 설정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45936" y="4956048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33A"/>
                </a:solidFill>
              </a:rPr>
              <a:t>☐  인원 추가 후 디바이스 전송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45936" y="5522976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33A"/>
                </a:solidFill>
              </a:rPr>
              <a:t>☐  출입 기록 실시간 확인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98864" y="1097280"/>
            <a:ext cx="2834640" cy="5212080"/>
          </a:xfrm>
          <a:prstGeom prst="rect">
            <a:avLst/>
          </a:prstGeom>
          <a:solidFill>
            <a:srgbClr val="FFFFFF"/>
          </a:solidFill>
          <a:ln w="7620">
            <a:solidFill>
              <a:srgbClr val="777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98864" y="1097280"/>
            <a:ext cx="2834640" cy="384048"/>
          </a:xfrm>
          <a:prstGeom prst="rect">
            <a:avLst/>
          </a:prstGeom>
          <a:solidFill>
            <a:srgbClr val="777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90304" y="1143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PHP (Workerman)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90304" y="1554480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33A"/>
                </a:solidFill>
              </a:rPr>
              <a:t>☐  PHP 7+ 및 Composer 설치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90304" y="2121408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33A"/>
                </a:solidFill>
              </a:rPr>
              <a:t>☐  0.download_workerman.bat 실행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90304" y="2688336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33A"/>
                </a:solidFill>
              </a:rPr>
              <a:t>☐  config.inc.php 설정 편집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90304" y="3255263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33A"/>
                </a:solidFill>
              </a:rPr>
              <a:t>☐  ws_dev_event.php 이벤트 핸들러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90304" y="3822191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33A"/>
                </a:solidFill>
              </a:rPr>
              <a:t>☐  DB 스키마 생성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90304" y="4389120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33A"/>
                </a:solidFill>
              </a:rPr>
              <a:t>☐  1.run_ws_server.bat 서버 실행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90304" y="4956048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33A"/>
                </a:solidFill>
              </a:rPr>
              <a:t>☐  2.run_web_server.bat 웹 실행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90304" y="5522976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33A"/>
                </a:solidFill>
              </a:rPr>
              <a:t>☐  샘플: WebSocketSDK_PHP/wwwroot/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4320" y="65562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6575"/>
                </a:solidFill>
              </a:rPr>
              <a:t>SmartLM SDK Repository  |  Chunghyon/SmartLM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12  결론 및 권장 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88CC"/>
                </a:solidFill>
              </a:rPr>
              <a:t>SDK 선택 가이드 및 통합 요약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3749039" cy="3840480"/>
          </a:xfrm>
          <a:prstGeom prst="rect">
            <a:avLst/>
          </a:prstGeom>
          <a:solidFill>
            <a:srgbClr val="FFFFFF"/>
          </a:solidFill>
          <a:ln w="10160">
            <a:solidFill>
              <a:srgbClr val="1A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3749039" cy="4572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6128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🏢  엔터프라이즈 / 온프레미스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62763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A"/>
                </a:solidFill>
              </a:rPr>
              <a:t>Traditional SDK (SBXPCDLL) 권장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029968"/>
            <a:ext cx="3566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5"/>
                </a:solidFill>
              </a:rPr>
              <a:t>• 직접 시리얼·TCP-IP 연결로 저지연
• 기존 Windows 인프라와 통합 용이
• C# WinForms 샘플이 가장 풍부
• 오프라인 환경 완벽 지원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097280"/>
            <a:ext cx="3749039" cy="38404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8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097280"/>
            <a:ext cx="3749039" cy="457200"/>
          </a:xfrm>
          <a:prstGeom prst="rect">
            <a:avLst/>
          </a:prstGeom>
          <a:solidFill>
            <a:srgbClr val="00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07408" y="116128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🌐  클라우드 / 원격 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7408" y="162763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8CC"/>
                </a:solidFill>
              </a:rPr>
              <a:t>WebSocket SDK 권장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2029968"/>
            <a:ext cx="3566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5"/>
                </a:solidFill>
              </a:rPr>
              <a:t>• 디바이스가 서버에 자동 연결
• 브라우저 기반 실시간 모니터링
• C# ASP.NET이 가장 완성도 높음
• PHP/Python 옵션으로 유연한 배포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097280"/>
            <a:ext cx="3749039" cy="3840480"/>
          </a:xfrm>
          <a:prstGeom prst="rect">
            <a:avLst/>
          </a:prstGeom>
          <a:solidFill>
            <a:srgbClr val="FFFFFF"/>
          </a:solidFill>
          <a:ln w="1016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097280"/>
            <a:ext cx="3749039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7" y="116128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📷  얼굴인식 출입 단말 (BOWE)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7" y="162763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</a:rPr>
              <a:t>HTTP Push 프로토콜 사용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2029968"/>
            <a:ext cx="3566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5"/>
                </a:solidFill>
              </a:rPr>
              <a:t>• A3-8190 HTTP Server 예제 활용
• Communication Protocols/ 문서 참고
• .NET sample RAR 압축 해제 후 활용
• Java SDK (SpringBoot) 서버 구축 가능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074920"/>
            <a:ext cx="576072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1206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648"/>
                </a:solidFill>
              </a:rPr>
              <a:t>🔧  개발 시작 권장 순서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522976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33A"/>
                </a:solidFill>
              </a:rPr>
              <a:t>1. BOWE_PC/A3-8190 User Manual.pdf 확인 (디바이스 스펙)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751576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33A"/>
                </a:solidFill>
              </a:rPr>
              <a:t>2. Communication Protocols/ HTTP 프로토콜 문서 정독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980176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33A"/>
                </a:solidFill>
              </a:rPr>
              <a:t>3. SDK 타입 결정 (Traditional / WebSocket / HTTP Push)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208776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33A"/>
                </a:solidFill>
              </a:rPr>
              <a:t>4. 해당 Sample 프로젝트 실행 및 코드 분석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37376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33A"/>
                </a:solidFill>
              </a:rPr>
              <a:t>5. 비즈니스 로직 구현 (인원 관리, 기록 처리)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5074920"/>
            <a:ext cx="55778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51206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3333"/>
                </a:solidFill>
              </a:rPr>
              <a:t>⚠️  주의 사항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5522976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5"/>
                </a:solidFill>
              </a:rPr>
              <a:t>• 32/64비트 DLL 구분 필수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5751576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5"/>
                </a:solidFill>
              </a:rPr>
              <a:t>• ActiveX(OCX)는 Windows 전용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5980176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5"/>
                </a:solidFill>
              </a:rPr>
              <a:t>• A3-8190 HTTP 서버는 관리자 권한 필요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6208776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5"/>
                </a:solidFill>
              </a:rPr>
              <a:t>• Keepalive 주기(15초) 내 명령 처리 필요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6437376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5"/>
                </a:solidFill>
              </a:rPr>
              <a:t>• BigUser ID 모델은 별도 샘플 사용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65562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6575"/>
                </a:solidFill>
              </a:rPr>
              <a:t>SmartLM SDK Repository  |  Chunghyon/SmartLM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1E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감사합니다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4612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88CC"/>
                </a:solidFill>
              </a:rPr>
              <a:t>SmartLM SDK Repository 분석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5"/>
                </a:solidFill>
              </a:rPr>
              <a:t>SDK 20250611  ·  WebSocketSDK 20250611  ·  BOWE_PC  ·  Communication Protocols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2648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5"/>
                </a:solidFill>
              </a:rPr>
              <a:t>© SmackBio  |  BOWE  |  Chunghyon/SmartLM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46304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6B35"/>
                </a:solidFill>
              </a:rPr>
              <a:t>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960" y="150876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Repository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0" y="17647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88CC"/>
                </a:solidFill>
              </a:rPr>
              <a:t>5개 주요 폴더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2860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6B35"/>
                </a:solidFill>
              </a:rPr>
              <a:t>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960" y="233172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SDK 유형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25877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88CC"/>
                </a:solidFill>
              </a:rPr>
              <a:t>Traditional · WebSocket · HTTP Push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10896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6B35"/>
                </a:solidFill>
              </a:rPr>
              <a:t>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315468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BOWE A3-8190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34107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88CC"/>
                </a:solidFill>
              </a:rPr>
              <a:t>얼굴인식 단말 + HTTP Server 예제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93192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6B35"/>
                </a:solidFill>
              </a:rPr>
              <a:t>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3977639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통신 프로토콜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42336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88CC"/>
                </a:solidFill>
              </a:rPr>
              <a:t>HTTP · MQTT · TCP/UDP · WebSocket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75488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6B35"/>
                </a:solidFill>
              </a:rPr>
              <a:t>🖥️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48006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VS 예제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3960" y="50566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88CC"/>
                </a:solidFill>
              </a:rPr>
              <a:t>C# WinForms HttpListener 완성 예제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